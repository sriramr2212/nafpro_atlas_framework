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59" r:id="rId3"/>
    <p:sldId id="258" r:id="rId4"/>
    <p:sldId id="267" r:id="rId5"/>
    <p:sldId id="268" r:id="rId6"/>
    <p:sldId id="260" r:id="rId7"/>
    <p:sldId id="329" r:id="rId8"/>
    <p:sldId id="263" r:id="rId9"/>
    <p:sldId id="265" r:id="rId10"/>
    <p:sldId id="264" r:id="rId11"/>
    <p:sldId id="269" r:id="rId12"/>
    <p:sldId id="330" r:id="rId13"/>
    <p:sldId id="266" r:id="rId14"/>
    <p:sldId id="32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32588-032A-4110-911A-A980976C00B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24025-F8BE-4DA9-8186-10026BF1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28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69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62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336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500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364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300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851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48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42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973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092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903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993499-1FA7-4A69-A76B-BC404EA6A85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54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9C973-F9CF-4058-955C-8525691CAD8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2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558AF-D8C0-4745-98FD-420CE7F18B9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85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59C0C8-805A-40CA-BD9F-46A50774805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242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7563F7-F1A2-4960-A32D-CAE4F7185B9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63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0DBD7-47BB-4F45-A94D-6C2EFF3747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19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D500D-8B4F-45F6-9729-3DC8B7ECDD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51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878DF-20F4-4D6F-BECD-E214E5B2E1B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95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757D6-DA3A-4477-B961-636FE42F3EA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85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8B34D7-35D0-4FDA-81DC-913E4406F6D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49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8724C-CE1C-4E9B-9495-43223977082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772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41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719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391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3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53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032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06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42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45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4319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501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356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sldNum="0" hdr="0" ftr="0" dt="0"/>
  <p:extLst mod="1"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7B09B-F8E4-49E9-B9BE-1CC0CFB4D68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12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98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418308" y="3189137"/>
            <a:ext cx="7915133" cy="14725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 defTabSz="1828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400" b="0" kern="120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>
              <a:defRPr/>
            </a:pPr>
            <a:r>
              <a:rPr lang="en-IN" sz="2000" b="1" dirty="0"/>
              <a:t>STATIM – Transforming Insurance Through AI and Composable </a:t>
            </a:r>
            <a:r>
              <a:rPr lang="en-IN" sz="2000" b="1" dirty="0" smtClean="0"/>
              <a:t>Solutions</a:t>
            </a:r>
            <a:endParaRPr kumimoji="0" lang="en-US" sz="2000" b="1" i="0" u="none" strike="noStrike" kern="1200" cap="none" spc="10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1341" y="276312"/>
            <a:ext cx="2524200" cy="658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86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76506" y="293483"/>
            <a:ext cx="7720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Insurance Industry</a:t>
            </a:r>
            <a:r>
              <a:rPr kumimoji="0" lang="en-ZA" sz="32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transforming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5" name="Google Shape;210;p17"/>
          <p:cNvGrpSpPr/>
          <p:nvPr/>
        </p:nvGrpSpPr>
        <p:grpSpPr>
          <a:xfrm>
            <a:off x="6352" y="743102"/>
            <a:ext cx="3491760" cy="286843"/>
            <a:chOff x="9692458" y="3792820"/>
            <a:chExt cx="3788463" cy="304800"/>
          </a:xfrm>
        </p:grpSpPr>
        <p:sp>
          <p:nvSpPr>
            <p:cNvPr id="56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043019" y="1124561"/>
            <a:ext cx="498672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Digital Customers</a:t>
            </a:r>
          </a:p>
          <a:p>
            <a:r>
              <a:rPr lang="en-IN" dirty="0"/>
              <a:t>Seamless digital experiences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AI is Becoming Mainstream</a:t>
            </a:r>
          </a:p>
          <a:p>
            <a:r>
              <a:rPr lang="en-IN" dirty="0"/>
              <a:t>Intelligent decision support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  <a:p>
            <a:r>
              <a:rPr lang="en-US" b="1" dirty="0"/>
              <a:t>Embedded Insurance</a:t>
            </a:r>
          </a:p>
          <a:p>
            <a:r>
              <a:rPr lang="en-US" dirty="0" smtClean="0"/>
              <a:t>Insurance is becoming part of everyday digital journeys.</a:t>
            </a:r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Regulatory Evaluations</a:t>
            </a:r>
            <a:endParaRPr lang="en-US" b="1" dirty="0"/>
          </a:p>
          <a:p>
            <a:r>
              <a:rPr lang="en-IN" dirty="0"/>
              <a:t>Continuous compliance readiness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  <a:p>
            <a:r>
              <a:rPr lang="en-US" b="1" dirty="0"/>
              <a:t>Competition</a:t>
            </a:r>
          </a:p>
          <a:p>
            <a:r>
              <a:rPr lang="en-US" dirty="0"/>
              <a:t>InsurTechs are changing customer expectations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Connected Ecosystems</a:t>
            </a:r>
          </a:p>
          <a:p>
            <a:r>
              <a:rPr lang="en-IN" dirty="0"/>
              <a:t>Partner-driven insurance services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39506" y="1124561"/>
            <a:ext cx="433736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Hyper-personalization</a:t>
            </a:r>
          </a:p>
          <a:p>
            <a:r>
              <a:rPr lang="en-US" dirty="0"/>
              <a:t>Tailored products, pricing, and customer experiences.</a:t>
            </a:r>
          </a:p>
          <a:p>
            <a:endParaRPr lang="en-US" dirty="0" smtClean="0"/>
          </a:p>
          <a:p>
            <a:r>
              <a:rPr lang="en-US" b="1" dirty="0" smtClean="0"/>
              <a:t>Open APIs</a:t>
            </a:r>
          </a:p>
          <a:p>
            <a:r>
              <a:rPr lang="en-US" dirty="0"/>
              <a:t>Enable seamless partner and ecosystem integration.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Cloud </a:t>
            </a:r>
            <a:r>
              <a:rPr lang="en-US" b="1" dirty="0"/>
              <a:t>adoption</a:t>
            </a:r>
          </a:p>
          <a:p>
            <a:r>
              <a:rPr lang="en-IN" dirty="0"/>
              <a:t>Rapid product innovation</a:t>
            </a:r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Faster </a:t>
            </a:r>
            <a:r>
              <a:rPr lang="en-US" b="1" dirty="0"/>
              <a:t>product </a:t>
            </a:r>
            <a:r>
              <a:rPr lang="en-US" b="1" dirty="0" smtClean="0"/>
              <a:t>launches</a:t>
            </a:r>
          </a:p>
          <a:p>
            <a:r>
              <a:rPr lang="en-IN" dirty="0"/>
              <a:t>Rapid product innovation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7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76506" y="293483"/>
            <a:ext cx="55013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3200" dirty="0" smtClean="0"/>
              <a:t>The Future Insurance Platforms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5" name="Google Shape;210;p17"/>
          <p:cNvGrpSpPr/>
          <p:nvPr/>
        </p:nvGrpSpPr>
        <p:grpSpPr>
          <a:xfrm>
            <a:off x="6352" y="743102"/>
            <a:ext cx="3491760" cy="286843"/>
            <a:chOff x="9692458" y="3792820"/>
            <a:chExt cx="3788463" cy="304800"/>
          </a:xfrm>
        </p:grpSpPr>
        <p:sp>
          <p:nvSpPr>
            <p:cNvPr id="56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358886" y="1029945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Customer Centric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AI </a:t>
            </a:r>
            <a:r>
              <a:rPr lang="en-US" dirty="0"/>
              <a:t>Native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API First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Composable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Cloud Ready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Configuration First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Data Driven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Connected Eco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3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76506" y="373770"/>
            <a:ext cx="60033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3200" dirty="0"/>
              <a:t>AI </a:t>
            </a:r>
            <a:r>
              <a:rPr lang="en-US" sz="3200" dirty="0" smtClean="0"/>
              <a:t>across the Insurance value chain</a:t>
            </a:r>
            <a:endParaRPr lang="en-I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Google Shape;210;p17"/>
          <p:cNvGrpSpPr/>
          <p:nvPr/>
        </p:nvGrpSpPr>
        <p:grpSpPr>
          <a:xfrm>
            <a:off x="-1" y="815123"/>
            <a:ext cx="3797559" cy="286843"/>
            <a:chOff x="9692458" y="3792820"/>
            <a:chExt cx="3788463" cy="304800"/>
          </a:xfrm>
        </p:grpSpPr>
        <p:sp>
          <p:nvSpPr>
            <p:cNvPr id="56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2890883" y="950128"/>
            <a:ext cx="8784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AI as an Intelligent Assistant Across the Insurance Lifecycle</a:t>
            </a:r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26003"/>
              </p:ext>
            </p:extLst>
          </p:nvPr>
        </p:nvGraphicFramePr>
        <p:xfrm>
          <a:off x="795285" y="1421601"/>
          <a:ext cx="10163228" cy="5034131"/>
        </p:xfrm>
        <a:graphic>
          <a:graphicData uri="http://schemas.openxmlformats.org/drawingml/2006/table">
            <a:tbl>
              <a:tblPr/>
              <a:tblGrid>
                <a:gridCol w="2185177">
                  <a:extLst>
                    <a:ext uri="{9D8B030D-6E8A-4147-A177-3AD203B41FA5}">
                      <a16:colId xmlns:a16="http://schemas.microsoft.com/office/drawing/2014/main" val="1431092482"/>
                    </a:ext>
                  </a:extLst>
                </a:gridCol>
                <a:gridCol w="7978051">
                  <a:extLst>
                    <a:ext uri="{9D8B030D-6E8A-4147-A177-3AD203B41FA5}">
                      <a16:colId xmlns:a16="http://schemas.microsoft.com/office/drawing/2014/main" val="3455680941"/>
                    </a:ext>
                  </a:extLst>
                </a:gridCol>
              </a:tblGrid>
              <a:tr h="1368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Insurance Function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Use Cases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073828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Acquisition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Personalized product recommendations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816547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AI-powered customer segmentation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539860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Lead scoring and next-best-offer recommendations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34136"/>
                  </a:ext>
                </a:extLst>
              </a:tr>
              <a:tr h="410627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Underwriting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 Intelligence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Extracting data from proposal forms, inspection reports, and third-party documents using OCR/NLP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159856"/>
                  </a:ext>
                </a:extLst>
              </a:tr>
              <a:tr h="3819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Automated Risk Scoring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ML models analysing historical claims, demographics, and external data for accurate pricing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38555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Telematics-based Underwriting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Usage-Based Insurance (UBI) using driving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behaviour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03897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Wearable / IoT-based Underwriting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Health and lifestyle data for dynamic risk assessment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550541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Policy Administration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Proposal validation and data extraction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02050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AI-assisted policy issuance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03752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Automated workflow and document generation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31548"/>
                  </a:ext>
                </a:extLst>
              </a:tr>
              <a:tr h="273751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Claims Management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Chatbots for FNOL (First Notice of Loss)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24×7 conversational claim registration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09928"/>
                  </a:ext>
                </a:extLst>
              </a:tr>
              <a:tr h="41062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Damage Assessment using Computer Vision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Vehicle/property damage estimation from photos or drone images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946521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Fraud Detection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AI models identifying suspicious claims patterns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425972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Straight-Through Processing (STP)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Fully automated settlement for low-complexity claims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841335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Service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AI Chatbots and Voice Assistants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281744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Policy summary and intelligent knowledge search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385219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Email and response generation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730073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Renewals &amp; Retention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Renewal propensity prediction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544172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Customer churn prediction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798373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Cross-sell and upsell recommendations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34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86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13228" y="293483"/>
            <a:ext cx="29466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Industry Opportunities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oogle Shape;210;p17"/>
          <p:cNvGrpSpPr/>
          <p:nvPr/>
        </p:nvGrpSpPr>
        <p:grpSpPr>
          <a:xfrm>
            <a:off x="-1" y="629592"/>
            <a:ext cx="3825551" cy="286843"/>
            <a:chOff x="9692458" y="3792820"/>
            <a:chExt cx="3788463" cy="304800"/>
          </a:xfrm>
        </p:grpSpPr>
        <p:sp>
          <p:nvSpPr>
            <p:cNvPr id="17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" name="Rectangle 18"/>
          <p:cNvSpPr/>
          <p:nvPr/>
        </p:nvSpPr>
        <p:spPr>
          <a:xfrm>
            <a:off x="1586548" y="5333783"/>
            <a:ext cx="906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These trends represent the next wave of opportunities for insurance platforms.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954156" y="1144483"/>
            <a:ext cx="35118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New Business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Embedded Insurance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Usage-Based Insurance (UBI)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Parametric Insurance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On-Demand Insurance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34187" y="1090326"/>
            <a:ext cx="32303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AI &amp;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</a:t>
            </a:r>
            <a:r>
              <a:rPr lang="en-IN" dirty="0" err="1"/>
              <a:t>Copilots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Autonomous Claims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Intelligent Underwriting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Hyper Automation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05475" y="1039627"/>
            <a:ext cx="28713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Connected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Open Insurance 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Partner Marketplaces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Embedded Finance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Ecosystems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56" y="3184976"/>
            <a:ext cx="28713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Customer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Hyper-Personalization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360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Omnichannel Engagement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Self-Service Platforms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4187" y="3216638"/>
            <a:ext cx="42640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Emerging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IoT &amp; Wearables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Telematics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Computer Vision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372647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13228" y="293483"/>
            <a:ext cx="40656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Why Composable Architecture?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oogle Shape;210;p17"/>
          <p:cNvGrpSpPr/>
          <p:nvPr/>
        </p:nvGrpSpPr>
        <p:grpSpPr>
          <a:xfrm>
            <a:off x="-1" y="629592"/>
            <a:ext cx="3825551" cy="286843"/>
            <a:chOff x="9692458" y="3792820"/>
            <a:chExt cx="3788463" cy="304800"/>
          </a:xfrm>
        </p:grpSpPr>
        <p:sp>
          <p:nvSpPr>
            <p:cNvPr id="17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" name="Rectangle 5"/>
          <p:cNvSpPr/>
          <p:nvPr/>
        </p:nvSpPr>
        <p:spPr>
          <a:xfrm>
            <a:off x="795129" y="1316738"/>
            <a:ext cx="36576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Traditional </a:t>
            </a:r>
            <a:r>
              <a:rPr lang="en-US" b="1" dirty="0" smtClean="0"/>
              <a:t>Platform</a:t>
            </a:r>
          </a:p>
          <a:p>
            <a:r>
              <a:rPr lang="en-IN" dirty="0" smtClean="0"/>
              <a:t>❌ </a:t>
            </a:r>
            <a:r>
              <a:rPr lang="en-IN" sz="1600" dirty="0" smtClean="0"/>
              <a:t>One </a:t>
            </a:r>
            <a:r>
              <a:rPr lang="en-IN" sz="1600" dirty="0"/>
              <a:t>large application</a:t>
            </a:r>
          </a:p>
          <a:p>
            <a:r>
              <a:rPr lang="en-IN" sz="1600" dirty="0"/>
              <a:t>❌ Tight coupling between modules</a:t>
            </a:r>
          </a:p>
          <a:p>
            <a:r>
              <a:rPr lang="en-IN" sz="1600" dirty="0"/>
              <a:t>❌ Long release cycles</a:t>
            </a:r>
          </a:p>
          <a:p>
            <a:r>
              <a:rPr lang="en-IN" sz="1600" dirty="0"/>
              <a:t>❌ High customization effort</a:t>
            </a:r>
          </a:p>
          <a:p>
            <a:r>
              <a:rPr lang="en-IN" sz="1600" dirty="0"/>
              <a:t>❌ Difficult upgrades</a:t>
            </a:r>
          </a:p>
          <a:p>
            <a:r>
              <a:rPr lang="en-IN" sz="1600" dirty="0"/>
              <a:t>❌ Limited scalability</a:t>
            </a:r>
          </a:p>
          <a:p>
            <a:r>
              <a:rPr lang="en-IN" sz="1600" dirty="0"/>
              <a:t>❌ Complex integrations</a:t>
            </a:r>
          </a:p>
          <a:p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5632174" y="1345277"/>
            <a:ext cx="417443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Future </a:t>
            </a:r>
            <a:r>
              <a:rPr lang="en-IN" b="1" dirty="0" smtClean="0"/>
              <a:t>Platform</a:t>
            </a:r>
          </a:p>
          <a:p>
            <a:r>
              <a:rPr lang="en-IN" dirty="0" smtClean="0"/>
              <a:t>✅ </a:t>
            </a:r>
            <a:r>
              <a:rPr lang="en-IN" sz="1600" dirty="0"/>
              <a:t>Independent business capabilities</a:t>
            </a:r>
          </a:p>
          <a:p>
            <a:r>
              <a:rPr lang="en-IN" sz="1600" dirty="0"/>
              <a:t>✅ API-first architecture</a:t>
            </a:r>
          </a:p>
          <a:p>
            <a:r>
              <a:rPr lang="en-IN" sz="1600" dirty="0"/>
              <a:t>✅ Microservices-based deployment</a:t>
            </a:r>
          </a:p>
          <a:p>
            <a:r>
              <a:rPr lang="en-IN" sz="1600" dirty="0"/>
              <a:t>✅ Faster product innovation</a:t>
            </a:r>
          </a:p>
          <a:p>
            <a:r>
              <a:rPr lang="en-IN" sz="1600" dirty="0"/>
              <a:t>✅ Independent scalability</a:t>
            </a:r>
          </a:p>
          <a:p>
            <a:r>
              <a:rPr lang="en-IN" sz="1600" dirty="0"/>
              <a:t>✅ Plug-and-play integrations</a:t>
            </a:r>
          </a:p>
          <a:p>
            <a:r>
              <a:rPr lang="en-IN" sz="1600" dirty="0"/>
              <a:t>✅ Continuous deployment &amp; upgrades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320" y="916435"/>
            <a:ext cx="6032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Building Agile, Scalable, and Future-Ready Insurance Platforms</a:t>
            </a:r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50465"/>
              </p:ext>
            </p:extLst>
          </p:nvPr>
        </p:nvGraphicFramePr>
        <p:xfrm>
          <a:off x="795129" y="3875825"/>
          <a:ext cx="10515600" cy="1920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328158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581132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b="1" dirty="0"/>
                        <a:t>Traditional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Composable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019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Months to introduce new capabilities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Weeks or days to introduce new capabilities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29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One change affects the whole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Independent deployment of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638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Heavy customization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Configuration-first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987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Difficult to integrate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API-first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278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Expensive upgrades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Continuous upgrades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97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Limited innovation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Rapid experimentation and innovation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965959"/>
                  </a:ext>
                </a:extLst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661532" y="3495833"/>
            <a:ext cx="19623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Benefits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17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2555" y="260263"/>
            <a:ext cx="2743200" cy="471811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STATIM Vision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2967136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56522" y="2589174"/>
            <a:ext cx="214685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Powered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/>
              <a:t>Intelligent decision support across the insurance </a:t>
            </a:r>
            <a:r>
              <a:rPr lang="en-US" sz="1100" dirty="0" smtClean="0"/>
              <a:t>lifecycle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911337" y="4113102"/>
            <a:ext cx="2476806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Ready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API-driven ecosystem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498438" y="2368383"/>
            <a:ext cx="2809461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Composable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business capabilities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547326" y="4076964"/>
            <a:ext cx="24768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 First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/>
              <a:t>Business agility without extensive development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16322" y="2558396"/>
            <a:ext cx="1844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Digital Ecosystem</a:t>
            </a:r>
            <a:endParaRPr lang="en-IN" b="1" dirty="0"/>
          </a:p>
        </p:txBody>
      </p:sp>
      <p:sp>
        <p:nvSpPr>
          <p:cNvPr id="18" name="Rectangle 17"/>
          <p:cNvSpPr/>
          <p:nvPr/>
        </p:nvSpPr>
        <p:spPr>
          <a:xfrm>
            <a:off x="8116322" y="4351629"/>
            <a:ext cx="2012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Cloud </a:t>
            </a:r>
            <a:r>
              <a:rPr lang="en-IN" b="1" dirty="0" smtClean="0"/>
              <a:t>Native</a:t>
            </a:r>
            <a:endParaRPr lang="en-IN" b="1" dirty="0"/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560664" y="1116768"/>
            <a:ext cx="956864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the Next Generation of Intelligent Insurance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empower insurers with an AI-powered, composable, cloud-native platform that accelerates innovation, simplifies operations, and enables seamless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participation in the global digital insurance ecosystem.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16322" y="2845767"/>
            <a:ext cx="30552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Connecting insurers with partners, customers, and digital marketplaces</a:t>
            </a:r>
            <a:endParaRPr lang="en-IN" sz="1200" dirty="0"/>
          </a:p>
        </p:txBody>
      </p:sp>
      <p:sp>
        <p:nvSpPr>
          <p:cNvPr id="21" name="Rectangle 20"/>
          <p:cNvSpPr/>
          <p:nvPr/>
        </p:nvSpPr>
        <p:spPr>
          <a:xfrm>
            <a:off x="8116322" y="4592382"/>
            <a:ext cx="32307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Scalable, resilient, and always-on digital platform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9824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2555" y="260263"/>
            <a:ext cx="5329132" cy="471811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STATIM  Platform Today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" name="Google Shape;210;p17"/>
          <p:cNvGrpSpPr/>
          <p:nvPr/>
        </p:nvGrpSpPr>
        <p:grpSpPr>
          <a:xfrm>
            <a:off x="0" y="629592"/>
            <a:ext cx="3200400" cy="286843"/>
            <a:chOff x="9692458" y="3792820"/>
            <a:chExt cx="3788463" cy="304800"/>
          </a:xfrm>
        </p:grpSpPr>
        <p:sp>
          <p:nvSpPr>
            <p:cNvPr id="7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" name="Rectangle 1"/>
          <p:cNvSpPr/>
          <p:nvPr/>
        </p:nvSpPr>
        <p:spPr>
          <a:xfrm>
            <a:off x="1457739" y="1226620"/>
            <a:ext cx="27166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Core</a:t>
            </a:r>
          </a:p>
          <a:p>
            <a:r>
              <a:rPr lang="en-US" dirty="0"/>
              <a:t>Policy</a:t>
            </a:r>
          </a:p>
          <a:p>
            <a:r>
              <a:rPr lang="en-US" dirty="0"/>
              <a:t>Claims</a:t>
            </a:r>
          </a:p>
          <a:p>
            <a:r>
              <a:rPr lang="en-US" dirty="0"/>
              <a:t>Billing</a:t>
            </a:r>
          </a:p>
          <a:p>
            <a:r>
              <a:rPr lang="en-US" dirty="0"/>
              <a:t>Commission</a:t>
            </a:r>
          </a:p>
          <a:p>
            <a:r>
              <a:rPr lang="en-US" dirty="0"/>
              <a:t>Reinsurance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45357" y="1226620"/>
            <a:ext cx="40848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Digital</a:t>
            </a:r>
          </a:p>
          <a:p>
            <a:r>
              <a:rPr lang="en-IN" dirty="0"/>
              <a:t>Partner Portal</a:t>
            </a:r>
          </a:p>
          <a:p>
            <a:r>
              <a:rPr lang="en-IN" dirty="0"/>
              <a:t>Customer Portal</a:t>
            </a:r>
          </a:p>
          <a:p>
            <a:r>
              <a:rPr lang="en-IN" dirty="0"/>
              <a:t>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57739" y="3576288"/>
            <a:ext cx="19613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Intelligence</a:t>
            </a:r>
          </a:p>
          <a:p>
            <a:r>
              <a:rPr lang="en-US" dirty="0"/>
              <a:t>Rules</a:t>
            </a:r>
          </a:p>
          <a:p>
            <a:r>
              <a:rPr lang="en-US" dirty="0"/>
              <a:t>Rating</a:t>
            </a:r>
          </a:p>
          <a:p>
            <a:r>
              <a:rPr lang="en-US" dirty="0"/>
              <a:t>Workflow</a:t>
            </a:r>
          </a:p>
          <a:p>
            <a:r>
              <a:rPr lang="en-US" dirty="0" smtClean="0"/>
              <a:t>Dunning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38122" y="357628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Technology</a:t>
            </a:r>
          </a:p>
          <a:p>
            <a:r>
              <a:rPr lang="en-US" dirty="0"/>
              <a:t>API</a:t>
            </a:r>
          </a:p>
          <a:p>
            <a:r>
              <a:rPr lang="en-US" dirty="0"/>
              <a:t>Microservices</a:t>
            </a:r>
          </a:p>
          <a:p>
            <a:r>
              <a:rPr lang="en-US" dirty="0"/>
              <a:t>Integration</a:t>
            </a:r>
          </a:p>
          <a:p>
            <a:r>
              <a:rPr lang="en-US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47240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4" y="260263"/>
            <a:ext cx="5064089" cy="512750"/>
          </a:xfrm>
        </p:spPr>
        <p:txBody>
          <a:bodyPr>
            <a:noAutofit/>
          </a:bodyPr>
          <a:lstStyle/>
          <a:p>
            <a:r>
              <a:rPr lang="en-IN" sz="2400" b="1" dirty="0"/>
              <a:t>STATIM Innovation Roadmap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2967136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" name="Rectangle 18"/>
          <p:cNvSpPr/>
          <p:nvPr/>
        </p:nvSpPr>
        <p:spPr>
          <a:xfrm>
            <a:off x="382554" y="841724"/>
            <a:ext cx="29817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TODAY</a:t>
            </a:r>
            <a:r>
              <a:rPr lang="en-IN" dirty="0" smtClean="0"/>
              <a:t>  </a:t>
            </a:r>
          </a:p>
          <a:p>
            <a:r>
              <a:rPr lang="en-IN" dirty="0" smtClean="0"/>
              <a:t>✓ Core Insurance Platform </a:t>
            </a:r>
          </a:p>
          <a:p>
            <a:r>
              <a:rPr lang="en-IN" dirty="0" smtClean="0"/>
              <a:t>✓ Digital Portals </a:t>
            </a:r>
          </a:p>
          <a:p>
            <a:r>
              <a:rPr lang="en-IN" dirty="0" smtClean="0"/>
              <a:t>✓ Product Configuration </a:t>
            </a:r>
          </a:p>
          <a:p>
            <a:r>
              <a:rPr lang="en-IN" dirty="0" smtClean="0"/>
              <a:t>✓ Workflow Automation </a:t>
            </a:r>
          </a:p>
          <a:p>
            <a:r>
              <a:rPr lang="en-IN" dirty="0" smtClean="0"/>
              <a:t>✓ API-first Architecture </a:t>
            </a:r>
          </a:p>
          <a:p>
            <a:r>
              <a:rPr lang="en-IN" dirty="0" smtClean="0"/>
              <a:t>✓ Microservices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3497644" y="2140162"/>
            <a:ext cx="31540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NEXT</a:t>
            </a:r>
            <a:r>
              <a:rPr lang="en-IN" dirty="0"/>
              <a:t> </a:t>
            </a:r>
            <a:endParaRPr lang="en-IN" dirty="0" smtClean="0"/>
          </a:p>
          <a:p>
            <a:r>
              <a:rPr lang="en-IN" dirty="0" smtClean="0"/>
              <a:t>🤖 </a:t>
            </a:r>
            <a:r>
              <a:rPr lang="en-IN" dirty="0"/>
              <a:t>AI </a:t>
            </a:r>
            <a:r>
              <a:rPr lang="en-IN" dirty="0" smtClean="0"/>
              <a:t>Underwriting </a:t>
            </a:r>
          </a:p>
          <a:p>
            <a:r>
              <a:rPr lang="en-IN" dirty="0" smtClean="0"/>
              <a:t>🤖 </a:t>
            </a:r>
            <a:r>
              <a:rPr lang="en-IN" dirty="0"/>
              <a:t>AI Claims Assistant </a:t>
            </a:r>
            <a:endParaRPr lang="en-IN" dirty="0" smtClean="0"/>
          </a:p>
          <a:p>
            <a:r>
              <a:rPr lang="en-IN" dirty="0" smtClean="0"/>
              <a:t>🤖 </a:t>
            </a:r>
            <a:r>
              <a:rPr lang="en-IN" dirty="0"/>
              <a:t>AI Product Builder </a:t>
            </a:r>
            <a:endParaRPr lang="en-IN" dirty="0" smtClean="0"/>
          </a:p>
          <a:p>
            <a:r>
              <a:rPr lang="en-IN" dirty="0" smtClean="0"/>
              <a:t>📊 </a:t>
            </a:r>
            <a:r>
              <a:rPr lang="en-IN" dirty="0"/>
              <a:t>Customer 360 </a:t>
            </a:r>
            <a:r>
              <a:rPr lang="en-IN" dirty="0" smtClean="0"/>
              <a:t>Intelligence</a:t>
            </a:r>
          </a:p>
          <a:p>
            <a:r>
              <a:rPr lang="en-IN" dirty="0" smtClean="0"/>
              <a:t> </a:t>
            </a:r>
            <a:r>
              <a:rPr lang="en-IN" dirty="0"/>
              <a:t>📈 Predictive Analytics </a:t>
            </a:r>
            <a:endParaRPr lang="en-IN" dirty="0" smtClean="0"/>
          </a:p>
          <a:p>
            <a:r>
              <a:rPr lang="en-IN" dirty="0" smtClean="0"/>
              <a:t>🔍 </a:t>
            </a:r>
            <a:r>
              <a:rPr lang="en-IN" dirty="0"/>
              <a:t>Intelligent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4822" y="4171559"/>
            <a:ext cx="424204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FUTURE</a:t>
            </a:r>
            <a:r>
              <a:rPr lang="en-IN" dirty="0"/>
              <a:t> </a:t>
            </a:r>
            <a:r>
              <a:rPr lang="en-IN" dirty="0" smtClean="0"/>
              <a:t> </a:t>
            </a:r>
          </a:p>
          <a:p>
            <a:r>
              <a:rPr lang="en-IN" dirty="0" smtClean="0"/>
              <a:t>🌐 </a:t>
            </a:r>
            <a:r>
              <a:rPr lang="en-IN" dirty="0"/>
              <a:t>Embedded Insurance </a:t>
            </a:r>
            <a:endParaRPr lang="en-IN" dirty="0" smtClean="0"/>
          </a:p>
          <a:p>
            <a:r>
              <a:rPr lang="en-IN" dirty="0" smtClean="0"/>
              <a:t>☁ </a:t>
            </a:r>
            <a:r>
              <a:rPr lang="en-IN" dirty="0"/>
              <a:t>SaaS </a:t>
            </a:r>
            <a:r>
              <a:rPr lang="en-IN" dirty="0" smtClean="0"/>
              <a:t>Platform</a:t>
            </a:r>
          </a:p>
          <a:p>
            <a:r>
              <a:rPr lang="en-IN" dirty="0" smtClean="0"/>
              <a:t>🔗 </a:t>
            </a:r>
            <a:r>
              <a:rPr lang="en-IN" dirty="0"/>
              <a:t>Open Insurance APIs </a:t>
            </a:r>
            <a:endParaRPr lang="en-IN" dirty="0" smtClean="0"/>
          </a:p>
          <a:p>
            <a:r>
              <a:rPr lang="en-IN" dirty="0" smtClean="0"/>
              <a:t>🤝 </a:t>
            </a:r>
            <a:r>
              <a:rPr lang="en-IN" dirty="0"/>
              <a:t>Partner Marketplace </a:t>
            </a:r>
            <a:endParaRPr lang="en-IN" dirty="0" smtClean="0"/>
          </a:p>
          <a:p>
            <a:r>
              <a:rPr lang="en-IN" dirty="0" smtClean="0"/>
              <a:t>🧠 </a:t>
            </a:r>
            <a:r>
              <a:rPr lang="en-IN" dirty="0"/>
              <a:t>Autonomous Decision Support </a:t>
            </a:r>
            <a:endParaRPr lang="en-IN" dirty="0" smtClean="0"/>
          </a:p>
          <a:p>
            <a:r>
              <a:rPr lang="en-IN" dirty="0" smtClean="0"/>
              <a:t>🌍 </a:t>
            </a:r>
            <a:r>
              <a:rPr lang="en-IN" dirty="0"/>
              <a:t>Global Insurance Ecosystem</a:t>
            </a:r>
          </a:p>
        </p:txBody>
      </p:sp>
    </p:spTree>
    <p:extLst>
      <p:ext uri="{BB962C8B-B14F-4D97-AF65-F5344CB8AC3E}">
        <p14:creationId xmlns:p14="http://schemas.microsoft.com/office/powerpoint/2010/main" val="238275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4" y="260263"/>
            <a:ext cx="9026489" cy="471811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STATIM in Action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4030824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7281867" y="720458"/>
            <a:ext cx="4592081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Highlights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YAS Takaful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international implementation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Phased rollout across Motor, Non-Motor, and Health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Designed to support UAE market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7406195" y="3406111"/>
            <a:ext cx="405693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Shriram General Insurance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Enterprise-wide modernization initiative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 from the existing NOVA platform to STATIM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Phased implementation across all major Lines of Business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8902" y="875495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		</a:t>
            </a:r>
            <a:r>
              <a:rPr lang="en-IN" sz="1600" dirty="0" smtClean="0"/>
              <a:t>YAS </a:t>
            </a:r>
            <a:r>
              <a:rPr lang="en-IN" sz="1600" dirty="0"/>
              <a:t>Takaful (UAE)</a:t>
            </a:r>
          </a:p>
          <a:p>
            <a:endParaRPr lang="en-IN" sz="1400" dirty="0"/>
          </a:p>
          <a:p>
            <a:r>
              <a:rPr lang="en-IN" sz="1400" dirty="0"/>
              <a:t>Motor</a:t>
            </a:r>
          </a:p>
          <a:p>
            <a:r>
              <a:rPr lang="en-IN" sz="1400" dirty="0"/>
              <a:t>Sep 2026</a:t>
            </a:r>
          </a:p>
          <a:p>
            <a:pPr lvl="3"/>
            <a:r>
              <a:rPr lang="en-IN" sz="1400" dirty="0"/>
              <a:t>      │</a:t>
            </a:r>
          </a:p>
          <a:p>
            <a:pPr lvl="3"/>
            <a:r>
              <a:rPr lang="en-IN" sz="1400" dirty="0"/>
              <a:t>      ▼</a:t>
            </a:r>
          </a:p>
          <a:p>
            <a:pPr lvl="3"/>
            <a:r>
              <a:rPr lang="en-IN" sz="1400" dirty="0"/>
              <a:t>Non-Motor</a:t>
            </a:r>
          </a:p>
          <a:p>
            <a:pPr lvl="3"/>
            <a:r>
              <a:rPr lang="en-IN" sz="1400" dirty="0"/>
              <a:t>Oct 2026</a:t>
            </a:r>
          </a:p>
          <a:p>
            <a:pPr lvl="6"/>
            <a:r>
              <a:rPr lang="en-IN" sz="1400" dirty="0"/>
              <a:t>      │</a:t>
            </a:r>
          </a:p>
          <a:p>
            <a:pPr lvl="6"/>
            <a:r>
              <a:rPr lang="en-IN" sz="1400" dirty="0"/>
              <a:t>      ▼</a:t>
            </a:r>
          </a:p>
          <a:p>
            <a:pPr lvl="6"/>
            <a:r>
              <a:rPr lang="en-IN" sz="1400" dirty="0"/>
              <a:t>Health</a:t>
            </a:r>
          </a:p>
          <a:p>
            <a:pPr lvl="6"/>
            <a:r>
              <a:rPr lang="en-IN" sz="1400" dirty="0"/>
              <a:t>Dec 2026</a:t>
            </a:r>
          </a:p>
          <a:p>
            <a:r>
              <a:rPr lang="en-IN" dirty="0" smtClean="0"/>
              <a:t>------------------------------------------------------------</a:t>
            </a:r>
            <a:endParaRPr lang="en-IN" dirty="0"/>
          </a:p>
          <a:p>
            <a:r>
              <a:rPr lang="en-IN" dirty="0" smtClean="0"/>
              <a:t>	</a:t>
            </a:r>
            <a:r>
              <a:rPr lang="en-IN" sz="1600" dirty="0"/>
              <a:t>Shriram </a:t>
            </a:r>
            <a:r>
              <a:rPr lang="en-IN" sz="1600" dirty="0"/>
              <a:t>General </a:t>
            </a:r>
            <a:r>
              <a:rPr lang="en-IN" sz="1600" dirty="0"/>
              <a:t>Insurance</a:t>
            </a:r>
            <a:endParaRPr lang="en-IN" sz="1600" dirty="0"/>
          </a:p>
          <a:p>
            <a:r>
              <a:rPr lang="en-IN" sz="1400" dirty="0"/>
              <a:t>Health</a:t>
            </a:r>
          </a:p>
          <a:p>
            <a:r>
              <a:rPr lang="en-IN" sz="1400" dirty="0"/>
              <a:t>Oct 2026</a:t>
            </a:r>
          </a:p>
          <a:p>
            <a:pPr lvl="3"/>
            <a:r>
              <a:rPr lang="en-IN" sz="1400" dirty="0"/>
              <a:t>      │</a:t>
            </a:r>
          </a:p>
          <a:p>
            <a:pPr lvl="3"/>
            <a:r>
              <a:rPr lang="en-IN" sz="1400" dirty="0"/>
              <a:t>      ▼</a:t>
            </a:r>
          </a:p>
          <a:p>
            <a:pPr lvl="3"/>
            <a:r>
              <a:rPr lang="en-IN" sz="1400" dirty="0"/>
              <a:t>Motor</a:t>
            </a:r>
          </a:p>
          <a:p>
            <a:pPr lvl="3"/>
            <a:r>
              <a:rPr lang="en-IN" sz="1400" dirty="0"/>
              <a:t>Mar 2027</a:t>
            </a:r>
          </a:p>
          <a:p>
            <a:pPr lvl="6"/>
            <a:r>
              <a:rPr lang="en-IN" sz="1400" dirty="0"/>
              <a:t>      │</a:t>
            </a:r>
          </a:p>
          <a:p>
            <a:pPr lvl="6"/>
            <a:r>
              <a:rPr lang="en-IN" sz="1400" dirty="0"/>
              <a:t>      ▼</a:t>
            </a:r>
          </a:p>
          <a:p>
            <a:pPr lvl="6"/>
            <a:r>
              <a:rPr lang="en-IN" sz="1400" dirty="0"/>
              <a:t>Non-Motor</a:t>
            </a:r>
          </a:p>
          <a:p>
            <a:pPr lvl="6"/>
            <a:r>
              <a:rPr lang="en-IN" sz="1400" dirty="0"/>
              <a:t>Sep 2027</a:t>
            </a:r>
          </a:p>
        </p:txBody>
      </p:sp>
    </p:spTree>
    <p:extLst>
      <p:ext uri="{BB962C8B-B14F-4D97-AF65-F5344CB8AC3E}">
        <p14:creationId xmlns:p14="http://schemas.microsoft.com/office/powerpoint/2010/main" val="394889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4" y="260263"/>
            <a:ext cx="9026489" cy="471811"/>
          </a:xfrm>
        </p:spPr>
        <p:txBody>
          <a:bodyPr>
            <a:noAutofit/>
          </a:bodyPr>
          <a:lstStyle/>
          <a:p>
            <a:r>
              <a:rPr lang="en-US" sz="2400" b="1" dirty="0"/>
              <a:t>Our Strategy to Build a Global Insurance Platform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4030824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" name="Rectangle 4"/>
          <p:cNvSpPr/>
          <p:nvPr/>
        </p:nvSpPr>
        <p:spPr>
          <a:xfrm>
            <a:off x="382554" y="1181527"/>
            <a:ext cx="5605669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1 – Product Excellence</a:t>
            </a:r>
          </a:p>
          <a:p>
            <a:r>
              <a:rPr lang="en-US" b="1" dirty="0"/>
              <a:t>Build a configurable, scalable and future-ready platform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Continuous product innovation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Configuration-first approach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Reusable business capabilities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Industry best practices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0557" y="1181527"/>
            <a:ext cx="4572000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2 – </a:t>
            </a:r>
            <a:r>
              <a:rPr lang="en-US" b="1" dirty="0" smtClean="0"/>
              <a:t>Innovation &amp; Ecosystem</a:t>
            </a:r>
            <a:endParaRPr lang="en-US" b="1" dirty="0"/>
          </a:p>
          <a:p>
            <a:r>
              <a:rPr lang="en-US" b="1" dirty="0"/>
              <a:t>Leverage modern technologies to stay ahead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Artificial Intelligence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Composable Architecture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Cloud-native Platform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Open API Ecosystem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2554" y="3317444"/>
            <a:ext cx="5649680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3 – Customer Success</a:t>
            </a:r>
          </a:p>
          <a:p>
            <a:r>
              <a:rPr lang="en-US" b="1" dirty="0"/>
              <a:t>Every implementation strengthens the product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Customer-driven enhancements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Standardization over customization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Faster implementation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Product maturity through real-world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0557" y="3308592"/>
            <a:ext cx="4572000" cy="20313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4 – Global </a:t>
            </a:r>
            <a:r>
              <a:rPr lang="en-US" b="1" dirty="0" smtClean="0"/>
              <a:t>Expansion</a:t>
            </a:r>
            <a:endParaRPr lang="en-US" b="1" dirty="0"/>
          </a:p>
          <a:p>
            <a:r>
              <a:rPr lang="en-US" b="1" dirty="0"/>
              <a:t>Design once, deploy anywhere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Multi-country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Multi-language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Multi-currency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Regulatory adaptability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Cloud deployment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554" y="5339917"/>
            <a:ext cx="107607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Our vision is to establish STATIM as a globally recognized insurance platform that combines innovation, agility, and customer-centricity to transform the future of insurance.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40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5" y="260263"/>
            <a:ext cx="6402558" cy="471811"/>
          </a:xfrm>
        </p:spPr>
        <p:txBody>
          <a:bodyPr>
            <a:noAutofit/>
          </a:bodyPr>
          <a:lstStyle/>
          <a:p>
            <a:r>
              <a:rPr lang="en-US" sz="2400" b="1" dirty="0"/>
              <a:t>The Future We Are Building</a:t>
            </a:r>
            <a:endParaRPr sz="2400" b="1" dirty="0"/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2967136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" name="Rectangle 10"/>
          <p:cNvSpPr/>
          <p:nvPr/>
        </p:nvSpPr>
        <p:spPr>
          <a:xfrm>
            <a:off x="3583834" y="2326752"/>
            <a:ext cx="4302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Intelligent. Connected. Composable. Global.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2747" y="1037162"/>
            <a:ext cx="7991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	STATIM</a:t>
            </a:r>
            <a:endParaRPr lang="en-US" b="1" dirty="0"/>
          </a:p>
          <a:p>
            <a:r>
              <a:rPr lang="en-US" i="1" dirty="0" smtClean="0"/>
              <a:t>	"</a:t>
            </a:r>
            <a:r>
              <a:rPr lang="en-US" i="1" dirty="0"/>
              <a:t>Transforming Insurance Through AI and Composable Solutions."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97075" y="3069778"/>
            <a:ext cx="98331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Insurance is evolving rapidly, and so must the platforms that support it. With STATIM, we are not just building software—we are building a strategic product that combines innovation, modern architecture, and customer-centric design. Together, we have the opportunity to create a platform that delivers value to insurers today while preparing them for the opportunities of tomorrow. This is the future we are building together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20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877283" y="2617365"/>
            <a:ext cx="44374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latin typeface="Broadway" panose="04040905080B02020502" pitchFamily="82" charset="0"/>
              </a:rPr>
              <a:t>THANK YOU</a:t>
            </a:r>
            <a:endParaRPr lang="en-IN" sz="5400" dirty="0"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6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6010</TotalTime>
  <Words>1004</Words>
  <Application>Microsoft Office PowerPoint</Application>
  <PresentationFormat>Widescreen</PresentationFormat>
  <Paragraphs>272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Broadway</vt:lpstr>
      <vt:lpstr>Calibri</vt:lpstr>
      <vt:lpstr>Calibri Light</vt:lpstr>
      <vt:lpstr>Open Sans Light</vt:lpstr>
      <vt:lpstr>Wingdings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STATIM Vision</vt:lpstr>
      <vt:lpstr>STATIM  Platform Today</vt:lpstr>
      <vt:lpstr>STATIM Innovation Roadmap</vt:lpstr>
      <vt:lpstr>STATIM in Action</vt:lpstr>
      <vt:lpstr>Our Strategy to Build a Global Insurance Platform</vt:lpstr>
      <vt:lpstr>The Future We Are Building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D</dc:creator>
  <cp:lastModifiedBy>senthil v.</cp:lastModifiedBy>
  <cp:revision>146</cp:revision>
  <dcterms:created xsi:type="dcterms:W3CDTF">2025-12-19T10:54:33Z</dcterms:created>
  <dcterms:modified xsi:type="dcterms:W3CDTF">2026-08-06T15:35:48Z</dcterms:modified>
</cp:coreProperties>
</file>