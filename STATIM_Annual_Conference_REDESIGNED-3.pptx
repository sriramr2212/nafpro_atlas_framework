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thesis: insurance platforms must become AI-native and composable. STATIM is our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ten. Pick three: AI mainstream, embedded insurance, speed to market. The rest are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traits — this is the checklist we hold STATIM to. Every roadmap decision maps back to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message is coverage, not depth: AI is not one feature, it is leverage at all six steps from acquisition to renewal.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 bar is the takeaway: capability delivery moves from months to weeks. Everything else is supporting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vision statement verbatim, then let the six capability tags sit. Do not walk through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number: 16 modules in production. Sidebar shows live product screens: Product Configurator, Customer Portal, Agent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NEXT as the investment ask: AI across underwriting, claims, and product configuration. FUTURE is directional, not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Anchor on the dates — they are commitments, not aspirations.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per pillar, then land the closing line. The detail rows are for the leave-behind, not the talk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dates and the ask. Then stop talking — let the room respond.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image" Target="../media/image-5-8.png"/><Relationship Id="rId9" Type="http://schemas.openxmlformats.org/officeDocument/2006/relationships/image" Target="../media/image-5-8.png"/><Relationship Id="rId10" Type="http://schemas.openxmlformats.org/officeDocument/2006/relationships/image" Target="../media/image-5-8.png"/><Relationship Id="rId11" Type="http://schemas.openxmlformats.org/officeDocument/2006/relationships/image" Target="../media/image-5-8.png"/><Relationship Id="rId12" Type="http://schemas.openxmlformats.org/officeDocument/2006/relationships/image" Target="../media/image-5-8.png"/><Relationship Id="rId13" Type="http://schemas.openxmlformats.org/officeDocument/2006/relationships/image" Target="../media/image-5-8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7" Type="http://schemas.openxmlformats.org/officeDocument/2006/relationships/image" Target="../media/image-7-shot1.png"/><Relationship Id="rId8" Type="http://schemas.openxmlformats.org/officeDocument/2006/relationships/image" Target="../media/image-7-shot2.png"/><Relationship Id="rId9" Type="http://schemas.openxmlformats.org/officeDocument/2006/relationships/image" Target="../media/image-7-shot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35040" y="914400"/>
            <a:ext cx="615391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6000" dirty="0"/>
          </a:p>
        </p:txBody>
      </p:sp>
      <p:sp>
        <p:nvSpPr>
          <p:cNvPr id="11" name="Shape 8"/>
          <p:cNvSpPr/>
          <p:nvPr/>
        </p:nvSpPr>
        <p:spPr>
          <a:xfrm>
            <a:off x="8732520" y="1051560"/>
            <a:ext cx="2651760" cy="2651760"/>
          </a:xfrm>
          <a:prstGeom prst="ellipse">
            <a:avLst/>
          </a:prstGeom>
          <a:ln w="15875">
            <a:solidFill>
              <a:srgbClr val="DCE3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49640" y="868680"/>
            <a:ext cx="3017520" cy="3017520"/>
          </a:xfrm>
          <a:prstGeom prst="arc">
            <a:avLst>
              <a:gd name="adj1" fmla="val 15600000"/>
              <a:gd name="adj2" fmla="val 2400000"/>
            </a:avLst>
          </a:prstGeom>
          <a:ln w="25400">
            <a:solidFill>
              <a:srgbClr val="0E94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0" y="1463040"/>
            <a:ext cx="1828800" cy="1828800"/>
          </a:xfrm>
          <a:prstGeom prst="ellipse">
            <a:avLst/>
          </a:prstGeom>
          <a:ln w="9525">
            <a:solidFill>
              <a:srgbClr val="DCE3E9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822960" y="1737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CONFERENCE 2026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4672" y="2084832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</a:t>
            </a:r>
            <a:endParaRPr lang="en-US" sz="6600" dirty="0"/>
          </a:p>
        </p:txBody>
      </p:sp>
      <p:sp>
        <p:nvSpPr>
          <p:cNvPr id="16" name="Text 13"/>
          <p:cNvSpPr/>
          <p:nvPr/>
        </p:nvSpPr>
        <p:spPr>
          <a:xfrm>
            <a:off x="822960" y="32461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Insurance Through AI and Composable Solutions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822960" y="397764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9776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450592" y="397764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20" name="Text 17"/>
          <p:cNvSpPr/>
          <p:nvPr/>
        </p:nvSpPr>
        <p:spPr>
          <a:xfrm>
            <a:off x="2450592" y="39776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078224" y="397764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22" name="Text 19"/>
          <p:cNvSpPr/>
          <p:nvPr/>
        </p:nvSpPr>
        <p:spPr>
          <a:xfrm>
            <a:off x="4078224" y="39776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705856" y="397764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24" name="Text 21"/>
          <p:cNvSpPr/>
          <p:nvPr/>
        </p:nvSpPr>
        <p:spPr>
          <a:xfrm>
            <a:off x="5705856" y="39776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22960" y="4956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Senthil Viswanathan  ·  Senior Vice President  ·  Product &amp; Technology Briefing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029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Insurance Industry Is Transforming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548640" y="1371600"/>
            <a:ext cx="3599688" cy="1810512"/>
          </a:xfrm>
          <a:prstGeom prst="roundRect">
            <a:avLst>
              <a:gd name="adj" fmla="val 5051"/>
            </a:avLst>
          </a:prstGeom>
          <a:solidFill>
            <a:srgbClr val="EAF7F5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45408" y="14813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13232" y="153619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16" name="Image 1" descr="icons/smartphone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94" y="1645554"/>
            <a:ext cx="201900" cy="2019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" y="2084832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Customers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13232" y="2450592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digital journeys are the baseline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294632" y="1371600"/>
            <a:ext cx="1726692" cy="1810512"/>
          </a:xfrm>
          <a:prstGeom prst="roundRect">
            <a:avLst>
              <a:gd name="adj" fmla="val 5296"/>
            </a:avLst>
          </a:prstGeom>
          <a:solidFill>
            <a:srgbClr val="EEF4FA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518404" y="14813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459224" y="153619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22" name="Image 2" descr="icons/cpu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586" y="1645554"/>
            <a:ext cx="201900" cy="2019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59224" y="2084832"/>
            <a:ext cx="139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Goes Mainstream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459224" y="2578608"/>
            <a:ext cx="1397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decisions across the value chain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167628" y="1371600"/>
            <a:ext cx="1726692" cy="1810512"/>
          </a:xfrm>
          <a:prstGeom prst="roundRect">
            <a:avLst>
              <a:gd name="adj" fmla="val 5296"/>
            </a:avLst>
          </a:prstGeom>
          <a:solidFill>
            <a:srgbClr val="F7FAFB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391400" y="14813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332220" y="153619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28" name="Image 3" descr="icons/cart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582" y="1645554"/>
            <a:ext cx="201900" cy="2019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32220" y="2084832"/>
            <a:ext cx="139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Insurance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332220" y="2578608"/>
            <a:ext cx="1397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sold inside everyday journeys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8040624" y="1371600"/>
            <a:ext cx="1726692" cy="1810512"/>
          </a:xfrm>
          <a:prstGeom prst="roundRect">
            <a:avLst>
              <a:gd name="adj" fmla="val 5296"/>
            </a:avLst>
          </a:prstGeom>
          <a:solidFill>
            <a:srgbClr val="F7FAFB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264396" y="14813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8205216" y="153619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34" name="Image 4" descr="icons/shield-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578" y="1645554"/>
            <a:ext cx="201900" cy="2019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05216" y="2084832"/>
            <a:ext cx="139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Evolution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8205216" y="2578608"/>
            <a:ext cx="1397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compliance, by design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9913620" y="1371600"/>
            <a:ext cx="1726692" cy="1810512"/>
          </a:xfrm>
          <a:prstGeom prst="roundRect">
            <a:avLst>
              <a:gd name="adj" fmla="val 5296"/>
            </a:avLst>
          </a:prstGeom>
          <a:solidFill>
            <a:srgbClr val="EEF4FA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1137392" y="14813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10078212" y="153619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40" name="Image 5" descr="icons/trending-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7574" y="1645554"/>
            <a:ext cx="201900" cy="2019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078212" y="2084832"/>
            <a:ext cx="139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10078212" y="2578608"/>
            <a:ext cx="1397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InsurTechs reset expectations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548640" y="3328416"/>
            <a:ext cx="1726692" cy="1810512"/>
          </a:xfrm>
          <a:prstGeom prst="roundRect">
            <a:avLst>
              <a:gd name="adj" fmla="val 5296"/>
            </a:avLst>
          </a:prstGeom>
          <a:solidFill>
            <a:srgbClr val="F7FAFB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1772412" y="34381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713232" y="349300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46" name="Image 6" descr="icons/share-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594" y="3602370"/>
            <a:ext cx="201900" cy="2019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713232" y="4041648"/>
            <a:ext cx="139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Ecosystems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713232" y="4535424"/>
            <a:ext cx="1397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Partner-driven distribution</a:t>
            </a:r>
            <a:endParaRPr lang="en-US" sz="950" dirty="0"/>
          </a:p>
        </p:txBody>
      </p:sp>
      <p:sp>
        <p:nvSpPr>
          <p:cNvPr id="49" name="Shape 40"/>
          <p:cNvSpPr/>
          <p:nvPr/>
        </p:nvSpPr>
        <p:spPr>
          <a:xfrm>
            <a:off x="2421636" y="3328416"/>
            <a:ext cx="3599688" cy="1810512"/>
          </a:xfrm>
          <a:prstGeom prst="roundRect">
            <a:avLst>
              <a:gd name="adj" fmla="val 5051"/>
            </a:avLst>
          </a:prstGeom>
          <a:solidFill>
            <a:srgbClr val="EAF7F5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5518404" y="34381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2586228" y="349300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52" name="Image 7" descr="icons/target-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5590" y="3602370"/>
            <a:ext cx="201900" cy="2019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2586228" y="4041648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Hyper-personalization</a:t>
            </a:r>
            <a:endParaRPr lang="en-US" sz="1400" dirty="0"/>
          </a:p>
        </p:txBody>
      </p:sp>
      <p:sp>
        <p:nvSpPr>
          <p:cNvPr id="54" name="Text 44"/>
          <p:cNvSpPr/>
          <p:nvPr/>
        </p:nvSpPr>
        <p:spPr>
          <a:xfrm>
            <a:off x="2586228" y="440740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products and pricing</a:t>
            </a:r>
            <a:endParaRPr lang="en-US" sz="950" dirty="0"/>
          </a:p>
        </p:txBody>
      </p:sp>
      <p:sp>
        <p:nvSpPr>
          <p:cNvPr id="55" name="Shape 45"/>
          <p:cNvSpPr/>
          <p:nvPr/>
        </p:nvSpPr>
        <p:spPr>
          <a:xfrm>
            <a:off x="6167628" y="3328416"/>
            <a:ext cx="1726692" cy="1810512"/>
          </a:xfrm>
          <a:prstGeom prst="roundRect">
            <a:avLst>
              <a:gd name="adj" fmla="val 5296"/>
            </a:avLst>
          </a:prstGeom>
          <a:solidFill>
            <a:srgbClr val="EEF4FA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7391400" y="34381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6332220" y="349300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58" name="Image 8" descr="icons/code-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582" y="3602370"/>
            <a:ext cx="201900" cy="201900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6332220" y="4041648"/>
            <a:ext cx="139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APIs</a:t>
            </a:r>
            <a:endParaRPr lang="en-US" sz="1200" dirty="0"/>
          </a:p>
        </p:txBody>
      </p:sp>
      <p:sp>
        <p:nvSpPr>
          <p:cNvPr id="60" name="Text 49"/>
          <p:cNvSpPr/>
          <p:nvPr/>
        </p:nvSpPr>
        <p:spPr>
          <a:xfrm>
            <a:off x="6332220" y="4535424"/>
            <a:ext cx="1397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partner integration</a:t>
            </a:r>
            <a:endParaRPr lang="en-US" sz="950" dirty="0"/>
          </a:p>
        </p:txBody>
      </p:sp>
      <p:sp>
        <p:nvSpPr>
          <p:cNvPr id="61" name="Shape 50"/>
          <p:cNvSpPr/>
          <p:nvPr/>
        </p:nvSpPr>
        <p:spPr>
          <a:xfrm>
            <a:off x="8040624" y="3328416"/>
            <a:ext cx="1726692" cy="1810512"/>
          </a:xfrm>
          <a:prstGeom prst="roundRect">
            <a:avLst>
              <a:gd name="adj" fmla="val 5296"/>
            </a:avLst>
          </a:prstGeom>
          <a:solidFill>
            <a:srgbClr val="F7FAFB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62" name="Text 51"/>
          <p:cNvSpPr/>
          <p:nvPr/>
        </p:nvSpPr>
        <p:spPr>
          <a:xfrm>
            <a:off x="9264396" y="34381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8205216" y="349300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64" name="Image 9" descr="icons/cloud-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4578" y="3602370"/>
            <a:ext cx="201900" cy="201900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8205216" y="4041648"/>
            <a:ext cx="139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Adoption</a:t>
            </a:r>
            <a:endParaRPr lang="en-US" sz="1200" dirty="0"/>
          </a:p>
        </p:txBody>
      </p:sp>
      <p:sp>
        <p:nvSpPr>
          <p:cNvPr id="66" name="Text 54"/>
          <p:cNvSpPr/>
          <p:nvPr/>
        </p:nvSpPr>
        <p:spPr>
          <a:xfrm>
            <a:off x="8205216" y="4535424"/>
            <a:ext cx="1397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scale, lower run cost</a:t>
            </a:r>
            <a:endParaRPr lang="en-US" sz="950" dirty="0"/>
          </a:p>
        </p:txBody>
      </p:sp>
      <p:sp>
        <p:nvSpPr>
          <p:cNvPr id="67" name="Shape 55"/>
          <p:cNvSpPr/>
          <p:nvPr/>
        </p:nvSpPr>
        <p:spPr>
          <a:xfrm>
            <a:off x="9913620" y="3328416"/>
            <a:ext cx="1726692" cy="1810512"/>
          </a:xfrm>
          <a:prstGeom prst="roundRect">
            <a:avLst>
              <a:gd name="adj" fmla="val 5296"/>
            </a:avLst>
          </a:prstGeom>
          <a:solidFill>
            <a:srgbClr val="F7FAFB"/>
          </a:solidFill>
          <a:ln w="12700">
            <a:solidFill>
              <a:srgbClr val="E9EEF2"/>
            </a:solidFill>
            <a:prstDash val="solid"/>
          </a:ln>
        </p:spPr>
      </p:sp>
      <p:sp>
        <p:nvSpPr>
          <p:cNvPr id="68" name="Text 56"/>
          <p:cNvSpPr/>
          <p:nvPr/>
        </p:nvSpPr>
        <p:spPr>
          <a:xfrm>
            <a:off x="11137392" y="34381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9" name="Shape 57"/>
          <p:cNvSpPr/>
          <p:nvPr/>
        </p:nvSpPr>
        <p:spPr>
          <a:xfrm>
            <a:off x="10078212" y="349300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70" name="Image 10" descr="icons/zap-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7574" y="3602370"/>
            <a:ext cx="201900" cy="201900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10078212" y="4041648"/>
            <a:ext cx="139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Launches</a:t>
            </a:r>
            <a:endParaRPr lang="en-US" sz="1200" dirty="0"/>
          </a:p>
        </p:txBody>
      </p:sp>
      <p:sp>
        <p:nvSpPr>
          <p:cNvPr id="72" name="Text 59"/>
          <p:cNvSpPr/>
          <p:nvPr/>
        </p:nvSpPr>
        <p:spPr>
          <a:xfrm>
            <a:off x="10078212" y="4535424"/>
            <a:ext cx="1397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market wins</a:t>
            </a:r>
            <a:endParaRPr lang="en-US" sz="950" dirty="0"/>
          </a:p>
        </p:txBody>
      </p:sp>
      <p:sp>
        <p:nvSpPr>
          <p:cNvPr id="73" name="Text 60"/>
          <p:cNvSpPr/>
          <p:nvPr/>
        </p:nvSpPr>
        <p:spPr>
          <a:xfrm>
            <a:off x="548640" y="56235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forces, one implication: </a:t>
            </a:r>
            <a:pPr indent="0" marL="0">
              <a:buNone/>
            </a:pPr>
            <a:r>
              <a:rPr lang="en-US" sz="12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underneath must change.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029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Next-Generation Insurance Platform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2877891" y="1878635"/>
            <a:ext cx="3216585" cy="1893265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094476" y="1878635"/>
            <a:ext cx="4572" cy="1893265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6094476" y="1878635"/>
            <a:ext cx="3216585" cy="1893265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1657807" y="3771900"/>
            <a:ext cx="4436669" cy="4572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4476" y="3771900"/>
            <a:ext cx="4436669" cy="4572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2877891" y="3771900"/>
            <a:ext cx="3216585" cy="1893265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94476" y="3771900"/>
            <a:ext cx="4572" cy="1893265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94476" y="3771900"/>
            <a:ext cx="3216585" cy="1893265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57751" y="1421435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885767" y="1677467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AF7F5"/>
          </a:solidFill>
          <a:ln/>
        </p:spPr>
      </p:sp>
      <p:pic>
        <p:nvPicPr>
          <p:cNvPr id="23" name="Image 1" descr="icons/heart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374" y="1782074"/>
            <a:ext cx="193121" cy="19312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379543" y="1512875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Centric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2379543" y="1823771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policyholder journeys</a:t>
            </a:r>
            <a:endParaRPr lang="en-US" sz="880" dirty="0"/>
          </a:p>
        </p:txBody>
      </p:sp>
      <p:sp>
        <p:nvSpPr>
          <p:cNvPr id="26" name="Shape 22"/>
          <p:cNvSpPr/>
          <p:nvPr/>
        </p:nvSpPr>
        <p:spPr>
          <a:xfrm>
            <a:off x="4974336" y="1421435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102352" y="1677467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AF7F5"/>
          </a:solidFill>
          <a:ln/>
        </p:spPr>
      </p:sp>
      <p:pic>
        <p:nvPicPr>
          <p:cNvPr id="28" name="Image 2" descr="icons/cpu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959" y="1782074"/>
            <a:ext cx="193121" cy="19312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596128" y="1512875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Native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5596128" y="1823771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embedded, not bolted on</a:t>
            </a:r>
            <a:endParaRPr lang="en-US" sz="880" dirty="0"/>
          </a:p>
        </p:txBody>
      </p:sp>
      <p:sp>
        <p:nvSpPr>
          <p:cNvPr id="31" name="Shape 26"/>
          <p:cNvSpPr/>
          <p:nvPr/>
        </p:nvSpPr>
        <p:spPr>
          <a:xfrm>
            <a:off x="8190921" y="1421435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318937" y="1677467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AF7F5"/>
          </a:solidFill>
          <a:ln/>
        </p:spPr>
      </p:sp>
      <p:pic>
        <p:nvPicPr>
          <p:cNvPr id="33" name="Image 3" descr="icons/code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544" y="1782074"/>
            <a:ext cx="193121" cy="19312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812713" y="1512875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First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8812713" y="1823771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capability exposed as a service</a:t>
            </a:r>
            <a:endParaRPr lang="en-US" sz="880" dirty="0"/>
          </a:p>
        </p:txBody>
      </p:sp>
      <p:sp>
        <p:nvSpPr>
          <p:cNvPr id="36" name="Shape 30"/>
          <p:cNvSpPr/>
          <p:nvPr/>
        </p:nvSpPr>
        <p:spPr>
          <a:xfrm>
            <a:off x="537667" y="3314700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65683" y="3570732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AF7F5"/>
          </a:solidFill>
          <a:ln/>
        </p:spPr>
      </p:sp>
      <p:pic>
        <p:nvPicPr>
          <p:cNvPr id="38" name="Image 4" descr="icons/grid-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91" y="3675339"/>
            <a:ext cx="193121" cy="193121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59459" y="340614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1159459" y="371703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assembled like building blocks</a:t>
            </a:r>
            <a:endParaRPr lang="en-US" sz="880" dirty="0"/>
          </a:p>
        </p:txBody>
      </p:sp>
      <p:sp>
        <p:nvSpPr>
          <p:cNvPr id="41" name="Shape 34"/>
          <p:cNvSpPr/>
          <p:nvPr/>
        </p:nvSpPr>
        <p:spPr>
          <a:xfrm>
            <a:off x="9411005" y="3314700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9539021" y="3570732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AF7F5"/>
          </a:solidFill>
          <a:ln/>
        </p:spPr>
      </p:sp>
      <p:pic>
        <p:nvPicPr>
          <p:cNvPr id="43" name="Image 5" descr="icons/cloud-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3628" y="3675339"/>
            <a:ext cx="193121" cy="193121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032797" y="340614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Ready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10032797" y="371703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cloud, any scale</a:t>
            </a:r>
            <a:endParaRPr lang="en-US" sz="880" dirty="0"/>
          </a:p>
        </p:txBody>
      </p:sp>
      <p:sp>
        <p:nvSpPr>
          <p:cNvPr id="46" name="Shape 38"/>
          <p:cNvSpPr/>
          <p:nvPr/>
        </p:nvSpPr>
        <p:spPr>
          <a:xfrm>
            <a:off x="1757751" y="5207965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1885767" y="5463997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AF7F5"/>
          </a:solidFill>
          <a:ln/>
        </p:spPr>
      </p:sp>
      <p:pic>
        <p:nvPicPr>
          <p:cNvPr id="48" name="Image 6" descr="icons/sliders-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374" y="5568605"/>
            <a:ext cx="193121" cy="193121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2379543" y="5299405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First</a:t>
            </a:r>
            <a:endParaRPr lang="en-US" sz="1150" dirty="0"/>
          </a:p>
        </p:txBody>
      </p:sp>
      <p:sp>
        <p:nvSpPr>
          <p:cNvPr id="50" name="Text 41"/>
          <p:cNvSpPr/>
          <p:nvPr/>
        </p:nvSpPr>
        <p:spPr>
          <a:xfrm>
            <a:off x="2379543" y="5610301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products without code</a:t>
            </a:r>
            <a:endParaRPr lang="en-US" sz="880" dirty="0"/>
          </a:p>
        </p:txBody>
      </p:sp>
      <p:sp>
        <p:nvSpPr>
          <p:cNvPr id="51" name="Shape 42"/>
          <p:cNvSpPr/>
          <p:nvPr/>
        </p:nvSpPr>
        <p:spPr>
          <a:xfrm>
            <a:off x="4974336" y="5207965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5102352" y="5463997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AF7F5"/>
          </a:solidFill>
          <a:ln/>
        </p:spPr>
      </p:sp>
      <p:pic>
        <p:nvPicPr>
          <p:cNvPr id="53" name="Image 7" descr="icons/database-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6959" y="5568605"/>
            <a:ext cx="193121" cy="193121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596128" y="5299405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Driven</a:t>
            </a:r>
            <a:endParaRPr lang="en-US" sz="1150" dirty="0"/>
          </a:p>
        </p:txBody>
      </p:sp>
      <p:sp>
        <p:nvSpPr>
          <p:cNvPr id="55" name="Text 45"/>
          <p:cNvSpPr/>
          <p:nvPr/>
        </p:nvSpPr>
        <p:spPr>
          <a:xfrm>
            <a:off x="5596128" y="5610301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grounded in platform data</a:t>
            </a:r>
            <a:endParaRPr lang="en-US" sz="880" dirty="0"/>
          </a:p>
        </p:txBody>
      </p:sp>
      <p:sp>
        <p:nvSpPr>
          <p:cNvPr id="56" name="Shape 46"/>
          <p:cNvSpPr/>
          <p:nvPr/>
        </p:nvSpPr>
        <p:spPr>
          <a:xfrm>
            <a:off x="8190921" y="5207965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sp>
        <p:nvSpPr>
          <p:cNvPr id="57" name="Shape 47"/>
          <p:cNvSpPr/>
          <p:nvPr/>
        </p:nvSpPr>
        <p:spPr>
          <a:xfrm>
            <a:off x="8318937" y="5463997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AF7F5"/>
          </a:solidFill>
          <a:ln/>
        </p:spPr>
      </p:sp>
      <p:pic>
        <p:nvPicPr>
          <p:cNvPr id="58" name="Image 8" descr="icons/link-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3544" y="5568605"/>
            <a:ext cx="193121" cy="193121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8812713" y="5299405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Ecosystem</a:t>
            </a:r>
            <a:endParaRPr lang="en-US" sz="1150" dirty="0"/>
          </a:p>
        </p:txBody>
      </p:sp>
      <p:sp>
        <p:nvSpPr>
          <p:cNvPr id="60" name="Text 49"/>
          <p:cNvSpPr/>
          <p:nvPr/>
        </p:nvSpPr>
        <p:spPr>
          <a:xfrm>
            <a:off x="8812713" y="5610301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plug into partners</a:t>
            </a:r>
            <a:endParaRPr lang="en-US" sz="880" dirty="0"/>
          </a:p>
        </p:txBody>
      </p:sp>
      <p:sp>
        <p:nvSpPr>
          <p:cNvPr id="61" name="Shape 50"/>
          <p:cNvSpPr/>
          <p:nvPr/>
        </p:nvSpPr>
        <p:spPr>
          <a:xfrm>
            <a:off x="5088636" y="2766060"/>
            <a:ext cx="2011680" cy="20116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5180076" y="2857500"/>
            <a:ext cx="1828800" cy="1828800"/>
          </a:xfrm>
          <a:prstGeom prst="ellipse">
            <a:avLst/>
          </a:prstGeom>
          <a:solidFill>
            <a:srgbClr val="123B63"/>
          </a:solidFill>
          <a:ln/>
          <a:effectLst>
            <a:outerShdw sx="100000" sy="100000" kx="0" ky="0" algn="bl" rotWithShape="0" blurRad="114300" dist="25400" dir="5400000">
              <a:srgbClr val="0B2239">
                <a:alpha val="28000"/>
              </a:srgbClr>
            </a:outerShdw>
          </a:effectLst>
        </p:spPr>
      </p:sp>
      <p:sp>
        <p:nvSpPr>
          <p:cNvPr id="63" name="Text 52"/>
          <p:cNvSpPr/>
          <p:nvPr/>
        </p:nvSpPr>
        <p:spPr>
          <a:xfrm>
            <a:off x="5180076" y="33604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500" dirty="0"/>
          </a:p>
        </p:txBody>
      </p:sp>
      <p:sp>
        <p:nvSpPr>
          <p:cNvPr id="64" name="Text 53"/>
          <p:cNvSpPr/>
          <p:nvPr/>
        </p:nvSpPr>
        <p:spPr>
          <a:xfrm>
            <a:off x="5180076" y="40279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9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TRAITS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OPPORTUNITY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029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Across the Insurance Value Chain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10908792" cy="4572"/>
          </a:xfrm>
          <a:prstGeom prst="line">
            <a:avLst/>
          </a:prstGeom>
          <a:noFill/>
          <a:ln w="25400">
            <a:solidFill>
              <a:srgbClr val="DCE3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9482" y="351129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4000"/>
              </a:srgbClr>
            </a:outerShdw>
          </a:effectLst>
        </p:spPr>
      </p:sp>
      <p:pic>
        <p:nvPicPr>
          <p:cNvPr id="15" name="Image 1" descr="icons/userplus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53" y="3664367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4306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12648" y="2057400"/>
            <a:ext cx="17205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9224" y="2587752"/>
            <a:ext cx="16474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segmentation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scoring &amp; next-best-offer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 flipV="1">
            <a:off x="1472946" y="3227832"/>
            <a:ext cx="4572" cy="283464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038094" y="351129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4000"/>
              </a:srgbClr>
            </a:outerShdw>
          </a:effectLst>
        </p:spPr>
      </p:sp>
      <p:pic>
        <p:nvPicPr>
          <p:cNvPr id="21" name="Image 2" descr="icons/filetext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165" y="3664367"/>
            <a:ext cx="260787" cy="26078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772918" y="42976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461260" y="4526280"/>
            <a:ext cx="17205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2497836" y="5056632"/>
            <a:ext cx="16474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(OCR/NLP)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risk scoring &amp; pricing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Telematics &amp; IoT-based risk</a:t>
            </a:r>
            <a:endParaRPr lang="en-US" sz="860" dirty="0"/>
          </a:p>
        </p:txBody>
      </p:sp>
      <p:sp>
        <p:nvSpPr>
          <p:cNvPr id="25" name="Shape 20"/>
          <p:cNvSpPr/>
          <p:nvPr/>
        </p:nvSpPr>
        <p:spPr>
          <a:xfrm>
            <a:off x="3321558" y="4078224"/>
            <a:ext cx="4572" cy="283464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86706" y="351129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4000"/>
              </a:srgbClr>
            </a:outerShdw>
          </a:effectLst>
        </p:spPr>
      </p:sp>
      <p:pic>
        <p:nvPicPr>
          <p:cNvPr id="27" name="Image 3" descr="icons/clipboard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777" y="3664367"/>
            <a:ext cx="260787" cy="26078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21530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309872" y="2057400"/>
            <a:ext cx="17205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346448" y="2587752"/>
            <a:ext cx="16474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validation &amp; extraction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issuance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document generation</a:t>
            </a:r>
            <a:endParaRPr lang="en-US" sz="860" dirty="0"/>
          </a:p>
        </p:txBody>
      </p:sp>
      <p:sp>
        <p:nvSpPr>
          <p:cNvPr id="31" name="Shape 25"/>
          <p:cNvSpPr/>
          <p:nvPr/>
        </p:nvSpPr>
        <p:spPr>
          <a:xfrm flipV="1">
            <a:off x="5170170" y="3227832"/>
            <a:ext cx="4572" cy="283464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735318" y="351129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4000"/>
              </a:srgbClr>
            </a:outerShdw>
          </a:effectLst>
        </p:spPr>
      </p:sp>
      <p:pic>
        <p:nvPicPr>
          <p:cNvPr id="33" name="Image 4" descr="icons/alert-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389" y="3664367"/>
            <a:ext cx="260787" cy="26078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70142" y="42976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6158484" y="4526280"/>
            <a:ext cx="17205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6195060" y="5056632"/>
            <a:ext cx="16474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 FNOL chatbots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Computer-vision damage estimates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&amp; STP settlement</a:t>
            </a:r>
            <a:endParaRPr lang="en-US" sz="860" dirty="0"/>
          </a:p>
        </p:txBody>
      </p:sp>
      <p:sp>
        <p:nvSpPr>
          <p:cNvPr id="37" name="Shape 30"/>
          <p:cNvSpPr/>
          <p:nvPr/>
        </p:nvSpPr>
        <p:spPr>
          <a:xfrm>
            <a:off x="7018782" y="4078224"/>
            <a:ext cx="4572" cy="283464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583930" y="351129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4000"/>
              </a:srgbClr>
            </a:outerShdw>
          </a:effectLst>
        </p:spPr>
      </p:sp>
      <p:pic>
        <p:nvPicPr>
          <p:cNvPr id="39" name="Image 5" descr="icons/headphones-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001" y="3664367"/>
            <a:ext cx="260787" cy="26078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18754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8007096" y="2057400"/>
            <a:ext cx="17205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8043672" y="2587752"/>
            <a:ext cx="16474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&amp; voice assistants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knowledge search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response generation</a:t>
            </a:r>
            <a:endParaRPr lang="en-US" sz="860" dirty="0"/>
          </a:p>
        </p:txBody>
      </p:sp>
      <p:sp>
        <p:nvSpPr>
          <p:cNvPr id="43" name="Shape 35"/>
          <p:cNvSpPr/>
          <p:nvPr/>
        </p:nvSpPr>
        <p:spPr>
          <a:xfrm flipV="1">
            <a:off x="8867394" y="3227832"/>
            <a:ext cx="4572" cy="283464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10432542" y="351129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4000"/>
              </a:srgbClr>
            </a:outerShdw>
          </a:effectLst>
        </p:spPr>
      </p:sp>
      <p:pic>
        <p:nvPicPr>
          <p:cNvPr id="45" name="Image 6" descr="icons/refresh-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5613" y="3664367"/>
            <a:ext cx="260787" cy="260787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0167366" y="42976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9855708" y="4526280"/>
            <a:ext cx="17205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Renewals &amp;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250" dirty="0"/>
          </a:p>
        </p:txBody>
      </p:sp>
      <p:sp>
        <p:nvSpPr>
          <p:cNvPr id="48" name="Text 39"/>
          <p:cNvSpPr/>
          <p:nvPr/>
        </p:nvSpPr>
        <p:spPr>
          <a:xfrm>
            <a:off x="9892284" y="5056632"/>
            <a:ext cx="16474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propensity models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prediction</a:t>
            </a:r>
            <a:endParaRPr lang="en-US" sz="86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6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 &amp; upsell targeting</a:t>
            </a:r>
            <a:endParaRPr lang="en-US" sz="860" dirty="0"/>
          </a:p>
        </p:txBody>
      </p:sp>
      <p:sp>
        <p:nvSpPr>
          <p:cNvPr id="49" name="Shape 40"/>
          <p:cNvSpPr/>
          <p:nvPr/>
        </p:nvSpPr>
        <p:spPr>
          <a:xfrm>
            <a:off x="10716006" y="4078224"/>
            <a:ext cx="4572" cy="283464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029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Composable Architecture?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548640" y="1417320"/>
            <a:ext cx="11091672" cy="3703320"/>
          </a:xfrm>
          <a:prstGeom prst="roundRect">
            <a:avLst>
              <a:gd name="adj" fmla="val 2963"/>
            </a:avLst>
          </a:prstGeom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1417320"/>
            <a:ext cx="5545836" cy="3703320"/>
          </a:xfrm>
          <a:prstGeom prst="roundRect">
            <a:avLst>
              <a:gd name="adj" fmla="val 2963"/>
            </a:avLst>
          </a:prstGeom>
          <a:solidFill>
            <a:srgbClr val="F7FAFB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4476" y="1417320"/>
            <a:ext cx="5545836" cy="3703320"/>
          </a:xfrm>
          <a:prstGeom prst="roundRect">
            <a:avLst>
              <a:gd name="adj" fmla="val 2963"/>
            </a:avLst>
          </a:prstGeom>
          <a:solidFill>
            <a:srgbClr val="123B63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11091672" cy="3703320"/>
          </a:xfrm>
          <a:prstGeom prst="roundRect">
            <a:avLst>
              <a:gd name="adj" fmla="val 2963"/>
            </a:avLst>
          </a:prstGeom>
          <a:ln w="12700">
            <a:solidFill>
              <a:srgbClr val="DCE3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1636776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Platform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387084" y="1636776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Platform</a:t>
            </a:r>
            <a:endParaRPr lang="en-US" sz="1550" dirty="0"/>
          </a:p>
        </p:txBody>
      </p:sp>
      <p:pic>
        <p:nvPicPr>
          <p:cNvPr id="19" name="Image 1" descr="icons/x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57984"/>
            <a:ext cx="173736" cy="1737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15568" y="213055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monolithic application</a:t>
            </a:r>
            <a:endParaRPr lang="en-US" sz="1150" dirty="0"/>
          </a:p>
        </p:txBody>
      </p:sp>
      <p:pic>
        <p:nvPicPr>
          <p:cNvPr id="21" name="Image 2" descr="icons/x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0320"/>
            <a:ext cx="173736" cy="1737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" y="2532888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coupling between modules</a:t>
            </a:r>
            <a:endParaRPr lang="en-US" sz="1150" dirty="0"/>
          </a:p>
        </p:txBody>
      </p:sp>
      <p:pic>
        <p:nvPicPr>
          <p:cNvPr id="23" name="Image 3" descr="icons/x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962656"/>
            <a:ext cx="173736" cy="1737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2935224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release cycles</a:t>
            </a:r>
            <a:endParaRPr lang="en-US" sz="1150" dirty="0"/>
          </a:p>
        </p:txBody>
      </p:sp>
      <p:pic>
        <p:nvPicPr>
          <p:cNvPr id="25" name="Image 4" descr="icons/x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364992"/>
            <a:ext cx="173736" cy="1737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5568" y="3337560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customization</a:t>
            </a:r>
            <a:endParaRPr lang="en-US" sz="1150" dirty="0"/>
          </a:p>
        </p:txBody>
      </p:sp>
      <p:pic>
        <p:nvPicPr>
          <p:cNvPr id="27" name="Image 5" descr="icons/x-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767328"/>
            <a:ext cx="173736" cy="1737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15568" y="3739896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Expensive, disruptive upgrades</a:t>
            </a:r>
            <a:endParaRPr lang="en-US" sz="1150" dirty="0"/>
          </a:p>
        </p:txBody>
      </p:sp>
      <p:pic>
        <p:nvPicPr>
          <p:cNvPr id="29" name="Image 6" descr="icons/x-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169664"/>
            <a:ext cx="173736" cy="17373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15568" y="414223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integrations</a:t>
            </a:r>
            <a:endParaRPr lang="en-US" sz="1150" dirty="0"/>
          </a:p>
        </p:txBody>
      </p:sp>
      <p:pic>
        <p:nvPicPr>
          <p:cNvPr id="31" name="Image 7" descr="icons/check-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084" y="2157984"/>
            <a:ext cx="173736" cy="17373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661404" y="213055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business capabilities</a:t>
            </a:r>
            <a:endParaRPr lang="en-US" sz="1150" dirty="0"/>
          </a:p>
        </p:txBody>
      </p:sp>
      <p:pic>
        <p:nvPicPr>
          <p:cNvPr id="33" name="Image 8" descr="icons/check-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7084" y="2560320"/>
            <a:ext cx="173736" cy="173736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661404" y="2532888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architecture</a:t>
            </a:r>
            <a:endParaRPr lang="en-US" sz="1150" dirty="0"/>
          </a:p>
        </p:txBody>
      </p:sp>
      <p:pic>
        <p:nvPicPr>
          <p:cNvPr id="35" name="Image 9" descr="icons/check-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7084" y="2962656"/>
            <a:ext cx="173736" cy="173736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661404" y="2935224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deployment</a:t>
            </a:r>
            <a:endParaRPr lang="en-US" sz="1150" dirty="0"/>
          </a:p>
        </p:txBody>
      </p:sp>
      <p:pic>
        <p:nvPicPr>
          <p:cNvPr id="37" name="Image 10" descr="icons/check-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7084" y="3364992"/>
            <a:ext cx="173736" cy="17373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661404" y="3337560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over customization</a:t>
            </a:r>
            <a:endParaRPr lang="en-US" sz="1150" dirty="0"/>
          </a:p>
        </p:txBody>
      </p:sp>
      <p:pic>
        <p:nvPicPr>
          <p:cNvPr id="39" name="Image 11" descr="icons/check-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7084" y="3767328"/>
            <a:ext cx="173736" cy="173736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61404" y="3739896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upgrades</a:t>
            </a:r>
            <a:endParaRPr lang="en-US" sz="1150" dirty="0"/>
          </a:p>
        </p:txBody>
      </p:sp>
      <p:pic>
        <p:nvPicPr>
          <p:cNvPr id="41" name="Image 12" descr="icons/check-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7084" y="4169664"/>
            <a:ext cx="173736" cy="173736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661404" y="414223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 integrations</a:t>
            </a:r>
            <a:endParaRPr lang="en-US" sz="1150" dirty="0"/>
          </a:p>
        </p:txBody>
      </p:sp>
      <p:sp>
        <p:nvSpPr>
          <p:cNvPr id="43" name="Shape 28"/>
          <p:cNvSpPr/>
          <p:nvPr/>
        </p:nvSpPr>
        <p:spPr>
          <a:xfrm>
            <a:off x="5792724" y="296722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8000"/>
              </a:srgbClr>
            </a:outerShdw>
          </a:effectLst>
        </p:spPr>
      </p:sp>
      <p:pic>
        <p:nvPicPr>
          <p:cNvPr id="44" name="Image 13" descr="icons/arrowright-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8172" y="3122676"/>
            <a:ext cx="292608" cy="292608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2162556" y="5376672"/>
            <a:ext cx="786384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4000"/>
              </a:srgbClr>
            </a:outerShdw>
          </a:effectLst>
        </p:spPr>
      </p:sp>
      <p:sp>
        <p:nvSpPr>
          <p:cNvPr id="46" name="Text 30"/>
          <p:cNvSpPr/>
          <p:nvPr/>
        </p:nvSpPr>
        <p:spPr>
          <a:xfrm>
            <a:off x="2436876" y="53766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</a:t>
            </a:r>
            <a:pPr indent="0" marL="0">
              <a:buNone/>
            </a:pPr>
            <a:r>
              <a:rPr lang="en-US" sz="19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9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Weeks</a:t>
            </a:r>
            <a:endParaRPr lang="en-US" sz="1900" dirty="0"/>
          </a:p>
        </p:txBody>
      </p:sp>
      <p:sp>
        <p:nvSpPr>
          <p:cNvPr id="200" name="DurationTrack"/>
          <p:cNvSpPr/>
          <p:nvPr/>
        </p:nvSpPr>
        <p:spPr>
          <a:xfrm>
            <a:off x="4792980" y="5652000"/>
            <a:ext cx="411480" cy="6096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/>
        </p:spPr>
      </p:sp>
      <p:sp>
        <p:nvSpPr>
          <p:cNvPr id="201" name="DurationFill"/>
          <p:cNvSpPr/>
          <p:nvPr/>
        </p:nvSpPr>
        <p:spPr>
          <a:xfrm>
            <a:off x="4792980" y="5652000"/>
            <a:ext cx="100584" cy="609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4B8A6"/>
              </a:gs>
              <a:gs pos="100000">
                <a:srgbClr val="0E9488"/>
              </a:gs>
            </a:gsLst>
            <a:lin ang="0" scaled="1"/>
          </a:gradFill>
          <a:ln/>
        </p:spPr>
      </p:sp>
      <p:sp>
        <p:nvSpPr>
          <p:cNvPr id="47" name="Text 31"/>
          <p:cNvSpPr/>
          <p:nvPr/>
        </p:nvSpPr>
        <p:spPr>
          <a:xfrm>
            <a:off x="5334000" y="5376672"/>
            <a:ext cx="44637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introduce new capabilities  —  </a:t>
            </a:r>
            <a:pPr indent="0" marL="0">
              <a:buNone/>
            </a:pPr>
            <a:r>
              <a:rPr lang="en-US" sz="10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independently, upgrade continuously.</a:t>
            </a:r>
            <a:endParaRPr lang="en-US" sz="1080" dirty="0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500"/>
                      </p:stCondLst>
                      <p:childTnLst>
                        <p:par>
                          <p:cTn id="4" presetID="22" presetClass="entr" presetSubtype="0" fill="hold" grpId="0" nodeType="afterPrevious">
                            <p:stCondLst>
                              <p:cond delay="0"/>
                            </p:stCondLst>
                            <p:childTnLst>
                              <p:animEffect transition="in" filter="wipe(right)">
                                <p:cBhvr>
                                  <p:cTn id="5" dur="900"/>
                                  <p:tgtEl>
                                    <p:spTgt spid="20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/>
    </p:bldLst>
  </p:timing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685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 · STATIM VISION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097280"/>
            <a:ext cx="10515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30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indent="0" marL="0">
              <a:lnSpc>
                <a:spcPct val="132000"/>
              </a:lnSpc>
              <a:buNone/>
            </a:pPr>
            <a:r>
              <a:rPr lang="en-US" sz="3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pPr indent="0" marL="0">
              <a:lnSpc>
                <a:spcPct val="132000"/>
              </a:lnSpc>
              <a:buNone/>
            </a:pPr>
            <a:r>
              <a:rPr lang="en-US" sz="30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ct val="132000"/>
              </a:lnSpc>
              <a:buNone/>
            </a:pPr>
            <a:r>
              <a:rPr lang="en-US" sz="3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pPr indent="0" marL="0">
              <a:lnSpc>
                <a:spcPct val="132000"/>
              </a:lnSpc>
              <a:buNone/>
            </a:pPr>
            <a:r>
              <a:rPr lang="en-US" sz="30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cloud-native platform that helps insurers </a:t>
            </a:r>
            <a:pPr indent="0" marL="0">
              <a:lnSpc>
                <a:spcPct val="132000"/>
              </a:lnSpc>
              <a:buNone/>
            </a:pPr>
            <a:r>
              <a:rPr lang="en-US" sz="3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faster</a:t>
            </a:r>
            <a:pPr indent="0" marL="0">
              <a:lnSpc>
                <a:spcPct val="132000"/>
              </a:lnSpc>
              <a:buNone/>
            </a:pPr>
            <a:r>
              <a:rPr lang="en-US" sz="30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operate leaner, and compete in the global digital insurance ecosystem.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3547872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pic>
        <p:nvPicPr>
          <p:cNvPr id="14" name="Image 1" descr="icons/cpu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9534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07008" y="38221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Powered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207008" y="4087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across the lifecycle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315968" y="3749040"/>
            <a:ext cx="3547872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pic>
        <p:nvPicPr>
          <p:cNvPr id="18" name="Image 2" descr="icons/grid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89534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74336" y="38221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974336" y="4087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business capabilities</a:t>
            </a:r>
            <a:endParaRPr lang="en-US" sz="880" dirty="0"/>
          </a:p>
        </p:txBody>
      </p:sp>
      <p:sp>
        <p:nvSpPr>
          <p:cNvPr id="21" name="Shape 16"/>
          <p:cNvSpPr/>
          <p:nvPr/>
        </p:nvSpPr>
        <p:spPr>
          <a:xfrm>
            <a:off x="8083296" y="3749040"/>
            <a:ext cx="3547872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pic>
        <p:nvPicPr>
          <p:cNvPr id="22" name="Image 3" descr="icons/share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389534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41664" y="38221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Ecosystem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741664" y="4087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&amp; marketplaces</a:t>
            </a:r>
            <a:endParaRPr lang="en-US" sz="880" dirty="0"/>
          </a:p>
        </p:txBody>
      </p:sp>
      <p:sp>
        <p:nvSpPr>
          <p:cNvPr id="25" name="Shape 19"/>
          <p:cNvSpPr/>
          <p:nvPr/>
        </p:nvSpPr>
        <p:spPr>
          <a:xfrm>
            <a:off x="548640" y="4590288"/>
            <a:ext cx="3547872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pic>
        <p:nvPicPr>
          <p:cNvPr id="26" name="Image 4" descr="icons/sliders-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3659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46634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First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207008" y="49286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without code</a:t>
            </a:r>
            <a:endParaRPr lang="en-US" sz="880" dirty="0"/>
          </a:p>
        </p:txBody>
      </p:sp>
      <p:sp>
        <p:nvSpPr>
          <p:cNvPr id="29" name="Shape 22"/>
          <p:cNvSpPr/>
          <p:nvPr/>
        </p:nvSpPr>
        <p:spPr>
          <a:xfrm>
            <a:off x="4315968" y="4590288"/>
            <a:ext cx="3547872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pic>
        <p:nvPicPr>
          <p:cNvPr id="30" name="Image 5" descr="icons/globe-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4736592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74336" y="46634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Ready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974336" y="49286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· currency · language</a:t>
            </a:r>
            <a:endParaRPr lang="en-US" sz="880" dirty="0"/>
          </a:p>
        </p:txBody>
      </p:sp>
      <p:sp>
        <p:nvSpPr>
          <p:cNvPr id="33" name="Shape 25"/>
          <p:cNvSpPr/>
          <p:nvPr/>
        </p:nvSpPr>
        <p:spPr>
          <a:xfrm>
            <a:off x="8083296" y="4590288"/>
            <a:ext cx="3547872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9000"/>
              </a:srgbClr>
            </a:outerShdw>
          </a:effectLst>
        </p:spPr>
      </p:sp>
      <p:pic>
        <p:nvPicPr>
          <p:cNvPr id="34" name="Image 6" descr="icons/cloud-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6" y="4736592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741664" y="46634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Native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8741664" y="49286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scalable, resilient, always on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029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Platform Today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548640" y="1417320"/>
            <a:ext cx="7818120" cy="841248"/>
          </a:xfrm>
          <a:prstGeom prst="roundRect">
            <a:avLst>
              <a:gd name="adj" fmla="val 9783"/>
            </a:avLst>
          </a:prstGeom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1417320"/>
            <a:ext cx="1965960" cy="841248"/>
          </a:xfrm>
          <a:prstGeom prst="roundRect">
            <a:avLst>
              <a:gd name="adj" fmla="val 9783"/>
            </a:avLst>
          </a:prstGeom>
          <a:solidFill>
            <a:srgbClr val="0E4980"/>
          </a:solidFill>
          <a:ln/>
        </p:spPr>
      </p:sp>
      <p:sp>
        <p:nvSpPr>
          <p:cNvPr id="15" name="Shape 12"/>
          <p:cNvSpPr/>
          <p:nvPr/>
        </p:nvSpPr>
        <p:spPr>
          <a:xfrm>
            <a:off x="2377440" y="1417320"/>
            <a:ext cx="137160" cy="841248"/>
          </a:xfrm>
          <a:prstGeom prst="rect">
            <a:avLst/>
          </a:prstGeom>
          <a:solidFill>
            <a:srgbClr val="0E4980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15453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49808" y="18745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50" kern="0" dirty="0">
                <a:solidFill>
                  <a:srgbClr val="D8E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LIFECYCLE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734056" y="1691640"/>
            <a:ext cx="607162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34056" y="1691640"/>
            <a:ext cx="607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50946" y="1691640"/>
            <a:ext cx="607162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0946" y="1691640"/>
            <a:ext cx="607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67835" y="1691640"/>
            <a:ext cx="683971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67835" y="1691640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961534" y="16916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61534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85662" y="1691640"/>
            <a:ext cx="991210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5662" y="1691640"/>
            <a:ext cx="991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Reinsurance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" y="2386584"/>
            <a:ext cx="7818120" cy="841248"/>
          </a:xfrm>
          <a:prstGeom prst="roundRect">
            <a:avLst>
              <a:gd name="adj" fmla="val 9783"/>
            </a:avLst>
          </a:prstGeom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48640" y="2386584"/>
            <a:ext cx="1965960" cy="841248"/>
          </a:xfrm>
          <a:prstGeom prst="roundRect">
            <a:avLst>
              <a:gd name="adj" fmla="val 9783"/>
            </a:avLst>
          </a:prstGeom>
          <a:solidFill>
            <a:srgbClr val="0B6E86"/>
          </a:solidFill>
          <a:ln/>
        </p:spPr>
      </p:sp>
      <p:sp>
        <p:nvSpPr>
          <p:cNvPr id="30" name="Shape 27"/>
          <p:cNvSpPr/>
          <p:nvPr/>
        </p:nvSpPr>
        <p:spPr>
          <a:xfrm>
            <a:off x="2377440" y="2386584"/>
            <a:ext cx="137160" cy="841248"/>
          </a:xfrm>
          <a:prstGeom prst="rect">
            <a:avLst/>
          </a:prstGeom>
          <a:solidFill>
            <a:srgbClr val="0B6E86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" y="2514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49808" y="28437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50" kern="0" dirty="0">
                <a:solidFill>
                  <a:srgbClr val="D8E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2734056" y="2660904"/>
            <a:ext cx="1221638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34056" y="2660904"/>
            <a:ext cx="12216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Portal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065422" y="2660904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65422" y="266090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Portal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473598" y="2660904"/>
            <a:ext cx="607162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73598" y="2660904"/>
            <a:ext cx="607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48640" y="3355848"/>
            <a:ext cx="7818120" cy="841248"/>
          </a:xfrm>
          <a:prstGeom prst="roundRect">
            <a:avLst>
              <a:gd name="adj" fmla="val 9783"/>
            </a:avLst>
          </a:prstGeom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48640" y="3355848"/>
            <a:ext cx="1965960" cy="841248"/>
          </a:xfrm>
          <a:prstGeom prst="roundRect">
            <a:avLst>
              <a:gd name="adj" fmla="val 9783"/>
            </a:avLst>
          </a:prstGeom>
          <a:solidFill>
            <a:srgbClr val="0E9488"/>
          </a:solidFill>
          <a:ln/>
        </p:spPr>
      </p:sp>
      <p:sp>
        <p:nvSpPr>
          <p:cNvPr id="41" name="Shape 38"/>
          <p:cNvSpPr/>
          <p:nvPr/>
        </p:nvSpPr>
        <p:spPr>
          <a:xfrm>
            <a:off x="2377440" y="3355848"/>
            <a:ext cx="137160" cy="841248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42" name="Text 39"/>
          <p:cNvSpPr/>
          <p:nvPr/>
        </p:nvSpPr>
        <p:spPr>
          <a:xfrm>
            <a:off x="749808" y="34838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749808" y="381304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50" kern="0" dirty="0">
                <a:solidFill>
                  <a:srgbClr val="D8E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DECISIONING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2734056" y="3630168"/>
            <a:ext cx="530352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34056" y="363016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374136" y="3630168"/>
            <a:ext cx="607162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374136" y="3630168"/>
            <a:ext cx="607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091026" y="3630168"/>
            <a:ext cx="760781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091026" y="3630168"/>
            <a:ext cx="7607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961534" y="3630168"/>
            <a:ext cx="683971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961534" y="3630168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Dunning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48640" y="4325112"/>
            <a:ext cx="7818120" cy="841248"/>
          </a:xfrm>
          <a:prstGeom prst="roundRect">
            <a:avLst>
              <a:gd name="adj" fmla="val 9783"/>
            </a:avLst>
          </a:prstGeom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548640" y="4325112"/>
            <a:ext cx="1965960" cy="841248"/>
          </a:xfrm>
          <a:prstGeom prst="roundRect">
            <a:avLst>
              <a:gd name="adj" fmla="val 9783"/>
            </a:avLst>
          </a:prstGeom>
          <a:solidFill>
            <a:srgbClr val="4A6C86"/>
          </a:solidFill>
          <a:ln/>
        </p:spPr>
      </p:sp>
      <p:sp>
        <p:nvSpPr>
          <p:cNvPr id="54" name="Shape 51"/>
          <p:cNvSpPr/>
          <p:nvPr/>
        </p:nvSpPr>
        <p:spPr>
          <a:xfrm>
            <a:off x="2377440" y="4325112"/>
            <a:ext cx="137160" cy="841248"/>
          </a:xfrm>
          <a:prstGeom prst="rect">
            <a:avLst/>
          </a:prstGeom>
          <a:solidFill>
            <a:srgbClr val="4A6C86"/>
          </a:solidFill>
          <a:ln/>
        </p:spPr>
      </p:sp>
      <p:sp>
        <p:nvSpPr>
          <p:cNvPr id="55" name="Text 52"/>
          <p:cNvSpPr/>
          <p:nvPr/>
        </p:nvSpPr>
        <p:spPr>
          <a:xfrm>
            <a:off x="749808" y="44531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350" dirty="0"/>
          </a:p>
        </p:txBody>
      </p:sp>
      <p:sp>
        <p:nvSpPr>
          <p:cNvPr id="56" name="Text 53"/>
          <p:cNvSpPr/>
          <p:nvPr/>
        </p:nvSpPr>
        <p:spPr>
          <a:xfrm>
            <a:off x="749808" y="47823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50" kern="0" dirty="0">
                <a:solidFill>
                  <a:srgbClr val="D8E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780" dirty="0"/>
          </a:p>
        </p:txBody>
      </p:sp>
      <p:sp>
        <p:nvSpPr>
          <p:cNvPr id="57" name="Shape 54"/>
          <p:cNvSpPr/>
          <p:nvPr/>
        </p:nvSpPr>
        <p:spPr>
          <a:xfrm>
            <a:off x="2734056" y="4599432"/>
            <a:ext cx="376733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34056" y="4599432"/>
            <a:ext cx="3767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3220517" y="4599432"/>
            <a:ext cx="1144829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220517" y="4599432"/>
            <a:ext cx="11448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4475074" y="4599432"/>
            <a:ext cx="991210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475074" y="4599432"/>
            <a:ext cx="991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5576011" y="4599432"/>
            <a:ext cx="760781" cy="292608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576011" y="4599432"/>
            <a:ext cx="7607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8622792" y="141732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EAF7F5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622792" y="14630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600" dirty="0"/>
          </a:p>
        </p:txBody>
      </p:sp>
      <p:sp>
        <p:nvSpPr>
          <p:cNvPr id="67" name="Text 64"/>
          <p:cNvSpPr/>
          <p:nvPr/>
        </p:nvSpPr>
        <p:spPr>
          <a:xfrm>
            <a:off x="8714232" y="22037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IN PRODUCTION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8714232" y="24140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four platform layers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8622792" y="2779776"/>
            <a:ext cx="3017520" cy="752856"/>
          </a:xfrm>
          <a:prstGeom prst="roundRect">
            <a:avLst>
              <a:gd name="adj" fmla="val 9717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622792" y="2779776"/>
            <a:ext cx="3017520" cy="27432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71" name="Shape 68"/>
          <p:cNvSpPr/>
          <p:nvPr/>
        </p:nvSpPr>
        <p:spPr>
          <a:xfrm>
            <a:off x="8750808" y="2884932"/>
            <a:ext cx="64008" cy="64008"/>
          </a:xfrm>
          <a:prstGeom prst="ellipse">
            <a:avLst/>
          </a:prstGeom>
          <a:solidFill>
            <a:srgbClr val="F68D1E"/>
          </a:solidFill>
          <a:ln/>
        </p:spPr>
      </p:sp>
      <p:sp>
        <p:nvSpPr>
          <p:cNvPr id="72" name="Shape 69"/>
          <p:cNvSpPr/>
          <p:nvPr/>
        </p:nvSpPr>
        <p:spPr>
          <a:xfrm>
            <a:off x="8897112" y="2884932"/>
            <a:ext cx="64008" cy="64008"/>
          </a:xfrm>
          <a:prstGeom prst="ellipse">
            <a:avLst/>
          </a:prstGeom>
          <a:solidFill>
            <a:srgbClr val="D7DEE4"/>
          </a:solidFill>
          <a:ln/>
        </p:spPr>
      </p:sp>
      <p:sp>
        <p:nvSpPr>
          <p:cNvPr id="73" name="Shape 70"/>
          <p:cNvSpPr/>
          <p:nvPr/>
        </p:nvSpPr>
        <p:spPr>
          <a:xfrm>
            <a:off x="9043416" y="2884932"/>
            <a:ext cx="64008" cy="64008"/>
          </a:xfrm>
          <a:prstGeom prst="ellipse">
            <a:avLst/>
          </a:prstGeom>
          <a:solidFill>
            <a:srgbClr val="D7DEE4"/>
          </a:solidFill>
          <a:ln/>
        </p:spPr>
      </p:sp>
      <p:sp>
        <p:nvSpPr>
          <p:cNvPr id="74" name="Text 71"/>
          <p:cNvSpPr/>
          <p:nvPr/>
        </p:nvSpPr>
        <p:spPr>
          <a:xfrm>
            <a:off x="9189720" y="2779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CONFIGURATOR</a:t>
            </a:r>
            <a:endParaRPr lang="en-US" sz="700" dirty="0"/>
          </a:p>
        </p:txBody>
      </p:sp>
      <p:pic>
        <p:nvPicPr>
          <p:cNvPr id="75" name="Screenshot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3099816"/>
            <a:ext cx="2926080" cy="386640"/>
          </a:xfrm>
          <a:prstGeom prst="roundRect">
            <a:avLst>
              <a:gd name="adj" fmla="val 6000"/>
            </a:avLst>
          </a:prstGeom>
          <a:ln w="6350">
            <a:solidFill>
              <a:srgbClr val="DCE3E9"/>
            </a:solidFill>
          </a:ln>
        </p:spPr>
      </p:pic>
      <p:sp>
        <p:nvSpPr>
          <p:cNvPr id="78" name="Shape 74"/>
          <p:cNvSpPr/>
          <p:nvPr/>
        </p:nvSpPr>
        <p:spPr>
          <a:xfrm>
            <a:off x="8622792" y="3660648"/>
            <a:ext cx="3017520" cy="752856"/>
          </a:xfrm>
          <a:prstGeom prst="roundRect">
            <a:avLst>
              <a:gd name="adj" fmla="val 9717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79" name="Shape 75"/>
          <p:cNvSpPr/>
          <p:nvPr/>
        </p:nvSpPr>
        <p:spPr>
          <a:xfrm>
            <a:off x="8622792" y="3660648"/>
            <a:ext cx="3017520" cy="27432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80" name="Shape 76"/>
          <p:cNvSpPr/>
          <p:nvPr/>
        </p:nvSpPr>
        <p:spPr>
          <a:xfrm>
            <a:off x="8750808" y="3765804"/>
            <a:ext cx="64008" cy="64008"/>
          </a:xfrm>
          <a:prstGeom prst="ellipse">
            <a:avLst/>
          </a:prstGeom>
          <a:solidFill>
            <a:srgbClr val="F68D1E"/>
          </a:solidFill>
          <a:ln/>
        </p:spPr>
      </p:sp>
      <p:sp>
        <p:nvSpPr>
          <p:cNvPr id="81" name="Shape 77"/>
          <p:cNvSpPr/>
          <p:nvPr/>
        </p:nvSpPr>
        <p:spPr>
          <a:xfrm>
            <a:off x="8897112" y="3765804"/>
            <a:ext cx="64008" cy="64008"/>
          </a:xfrm>
          <a:prstGeom prst="ellipse">
            <a:avLst/>
          </a:prstGeom>
          <a:solidFill>
            <a:srgbClr val="D7DEE4"/>
          </a:solidFill>
          <a:ln/>
        </p:spPr>
      </p:sp>
      <p:sp>
        <p:nvSpPr>
          <p:cNvPr id="82" name="Shape 78"/>
          <p:cNvSpPr/>
          <p:nvPr/>
        </p:nvSpPr>
        <p:spPr>
          <a:xfrm>
            <a:off x="9043416" y="3765804"/>
            <a:ext cx="64008" cy="64008"/>
          </a:xfrm>
          <a:prstGeom prst="ellipse">
            <a:avLst/>
          </a:prstGeom>
          <a:solidFill>
            <a:srgbClr val="D7DEE4"/>
          </a:solidFill>
          <a:ln/>
        </p:spPr>
      </p:sp>
      <p:sp>
        <p:nvSpPr>
          <p:cNvPr id="83" name="Text 79"/>
          <p:cNvSpPr/>
          <p:nvPr/>
        </p:nvSpPr>
        <p:spPr>
          <a:xfrm>
            <a:off x="9189720" y="3660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PORTAL</a:t>
            </a:r>
            <a:endParaRPr lang="en-US" sz="700" dirty="0"/>
          </a:p>
        </p:txBody>
      </p:sp>
      <p:pic>
        <p:nvPicPr>
          <p:cNvPr id="84" name="Screenshot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8512" y="3980688"/>
            <a:ext cx="2926080" cy="386640"/>
          </a:xfrm>
          <a:prstGeom prst="roundRect">
            <a:avLst>
              <a:gd name="adj" fmla="val 6000"/>
            </a:avLst>
          </a:prstGeom>
          <a:ln w="6350">
            <a:solidFill>
              <a:srgbClr val="DCE3E9"/>
            </a:solidFill>
          </a:ln>
        </p:spPr>
      </p:pic>
      <p:sp>
        <p:nvSpPr>
          <p:cNvPr id="87" name="Shape 82"/>
          <p:cNvSpPr/>
          <p:nvPr/>
        </p:nvSpPr>
        <p:spPr>
          <a:xfrm>
            <a:off x="8622792" y="4541520"/>
            <a:ext cx="3017520" cy="752856"/>
          </a:xfrm>
          <a:prstGeom prst="roundRect">
            <a:avLst>
              <a:gd name="adj" fmla="val 9717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88" name="Shape 83"/>
          <p:cNvSpPr/>
          <p:nvPr/>
        </p:nvSpPr>
        <p:spPr>
          <a:xfrm>
            <a:off x="8622792" y="4541520"/>
            <a:ext cx="3017520" cy="27432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89" name="Shape 84"/>
          <p:cNvSpPr/>
          <p:nvPr/>
        </p:nvSpPr>
        <p:spPr>
          <a:xfrm>
            <a:off x="8750808" y="4646676"/>
            <a:ext cx="64008" cy="64008"/>
          </a:xfrm>
          <a:prstGeom prst="ellipse">
            <a:avLst/>
          </a:prstGeom>
          <a:solidFill>
            <a:srgbClr val="F68D1E"/>
          </a:solidFill>
          <a:ln/>
        </p:spPr>
      </p:sp>
      <p:sp>
        <p:nvSpPr>
          <p:cNvPr id="90" name="Shape 85"/>
          <p:cNvSpPr/>
          <p:nvPr/>
        </p:nvSpPr>
        <p:spPr>
          <a:xfrm>
            <a:off x="8897112" y="4646676"/>
            <a:ext cx="64008" cy="64008"/>
          </a:xfrm>
          <a:prstGeom prst="ellipse">
            <a:avLst/>
          </a:prstGeom>
          <a:solidFill>
            <a:srgbClr val="D7DEE4"/>
          </a:solidFill>
          <a:ln/>
        </p:spPr>
      </p:sp>
      <p:sp>
        <p:nvSpPr>
          <p:cNvPr id="91" name="Shape 86"/>
          <p:cNvSpPr/>
          <p:nvPr/>
        </p:nvSpPr>
        <p:spPr>
          <a:xfrm>
            <a:off x="9043416" y="4646676"/>
            <a:ext cx="64008" cy="64008"/>
          </a:xfrm>
          <a:prstGeom prst="ellipse">
            <a:avLst/>
          </a:prstGeom>
          <a:solidFill>
            <a:srgbClr val="D7DEE4"/>
          </a:solidFill>
          <a:ln/>
        </p:spPr>
      </p:sp>
      <p:sp>
        <p:nvSpPr>
          <p:cNvPr id="92" name="Text 87"/>
          <p:cNvSpPr/>
          <p:nvPr/>
        </p:nvSpPr>
        <p:spPr>
          <a:xfrm>
            <a:off x="9189720" y="4541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DASHBOARD</a:t>
            </a:r>
            <a:endParaRPr lang="en-US" sz="700" dirty="0"/>
          </a:p>
        </p:txBody>
      </p:sp>
      <p:pic>
        <p:nvPicPr>
          <p:cNvPr id="93" name="Screenshot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8512" y="4861560"/>
            <a:ext cx="2926080" cy="386640"/>
          </a:xfrm>
          <a:prstGeom prst="roundRect">
            <a:avLst>
              <a:gd name="adj" fmla="val 6000"/>
            </a:avLst>
          </a:prstGeom>
          <a:ln w="6350">
            <a:solidFill>
              <a:srgbClr val="DCE3E9"/>
            </a:solidFill>
          </a:ln>
        </p:spPr>
      </p:pic>
      <p:sp>
        <p:nvSpPr>
          <p:cNvPr id="96" name="Text 90"/>
          <p:cNvSpPr/>
          <p:nvPr/>
        </p:nvSpPr>
        <p:spPr>
          <a:xfrm>
            <a:off x="548640" y="61081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modules in production </a:t>
            </a:r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core, digital, intelligence, and technology layers.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GOING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029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Innovation Roadmap</a:t>
            </a:r>
            <a:endParaRPr lang="en-US" sz="2700" dirty="0"/>
          </a:p>
        </p:txBody>
      </p:sp>
      <p:sp>
        <p:nvSpPr>
          <p:cNvPr id="100" name="Card 0"/>
          <p:cNvSpPr/>
          <p:nvPr/>
        </p:nvSpPr>
        <p:spPr>
          <a:xfrm>
            <a:off x="548640" y="2700000"/>
            <a:ext cx="3545840" cy="248000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15875">
            <a:solidFill>
              <a:srgbClr val="0E9488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101" name="QN"/>
          <p:cNvSpPr/>
          <p:nvPr/>
        </p:nvSpPr>
        <p:spPr>
          <a:xfrm>
            <a:off x="3374480" y="2760000"/>
            <a:ext cx="66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4EAEF"/>
                </a:solidFill>
                <a:latin typeface="Arial" pitchFamily="34" charset="0"/>
              </a:rPr>
              <a:t>01</a:t>
            </a:r>
          </a:p>
        </p:txBody>
      </p:sp>
      <p:sp>
        <p:nvSpPr>
          <p:cNvPr id="102" name="Badge 0"/>
          <p:cNvSpPr/>
          <p:nvPr/>
        </p:nvSpPr>
        <p:spPr>
          <a:xfrm>
            <a:off x="777240" y="292860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</p:sp>
      <p:pic>
        <p:nvPicPr>
          <p:cNvPr id="103" name="Icon 0" descr="icons/check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033756"/>
            <a:ext cx="228600" cy="228600"/>
          </a:xfrm>
          <a:prstGeom prst="rect">
            <a:avLst/>
          </a:prstGeom>
        </p:spPr>
      </p:pic>
      <p:sp>
        <p:nvSpPr>
          <p:cNvPr id="104" name="Title 0"/>
          <p:cNvSpPr/>
          <p:nvPr/>
        </p:nvSpPr>
        <p:spPr>
          <a:xfrm>
            <a:off x="1336152" y="2898600"/>
            <a:ext cx="242112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</a:p>
        </p:txBody>
      </p:sp>
      <p:sp>
        <p:nvSpPr>
          <p:cNvPr id="105" name="Pill 0"/>
          <p:cNvSpPr/>
          <p:nvPr/>
        </p:nvSpPr>
        <p:spPr>
          <a:xfrm>
            <a:off x="1336152" y="3258600"/>
            <a:ext cx="568000" cy="256032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106" name="PillText 0"/>
          <p:cNvSpPr/>
          <p:nvPr/>
        </p:nvSpPr>
        <p:spPr>
          <a:xfrm>
            <a:off x="1336152" y="3258600"/>
            <a:ext cx="56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</a:p>
        </p:txBody>
      </p:sp>
      <p:sp>
        <p:nvSpPr>
          <p:cNvPr id="107" name="Bullets 0"/>
          <p:cNvSpPr/>
          <p:nvPr/>
        </p:nvSpPr>
        <p:spPr>
          <a:xfrm>
            <a:off x="777240" y="3507512"/>
            <a:ext cx="3088640" cy="144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Insurance Platform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Portals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Configuration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Architecture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</a:p>
        </p:txBody>
      </p:sp>
      <p:sp>
        <p:nvSpPr>
          <p:cNvPr id="108" name="Card 1"/>
          <p:cNvSpPr/>
          <p:nvPr/>
        </p:nvSpPr>
        <p:spPr>
          <a:xfrm>
            <a:off x="4323080" y="2420000"/>
            <a:ext cx="3545840" cy="248000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15875">
            <a:solidFill>
              <a:srgbClr val="F68D1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109" name="QN"/>
          <p:cNvSpPr/>
          <p:nvPr/>
        </p:nvSpPr>
        <p:spPr>
          <a:xfrm>
            <a:off x="7148920" y="2480000"/>
            <a:ext cx="66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4EAEF"/>
                </a:solidFill>
                <a:latin typeface="Arial" pitchFamily="34" charset="0"/>
              </a:rPr>
              <a:t>02</a:t>
            </a:r>
          </a:p>
        </p:txBody>
      </p:sp>
      <p:sp>
        <p:nvSpPr>
          <p:cNvPr id="110" name="Badge 1"/>
          <p:cNvSpPr/>
          <p:nvPr/>
        </p:nvSpPr>
        <p:spPr>
          <a:xfrm>
            <a:off x="4551680" y="264860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9050">
            <a:solidFill>
              <a:srgbClr val="F68D1E"/>
            </a:solidFill>
            <a:prstDash val="solid"/>
          </a:ln>
        </p:spPr>
      </p:sp>
      <p:pic>
        <p:nvPicPr>
          <p:cNvPr id="111" name="Icon 1" descr="icons/zap-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836" y="2753756"/>
            <a:ext cx="228600" cy="228600"/>
          </a:xfrm>
          <a:prstGeom prst="rect">
            <a:avLst/>
          </a:prstGeom>
        </p:spPr>
      </p:pic>
      <p:sp>
        <p:nvSpPr>
          <p:cNvPr id="112" name="Title 1"/>
          <p:cNvSpPr/>
          <p:nvPr/>
        </p:nvSpPr>
        <p:spPr>
          <a:xfrm>
            <a:off x="5110592" y="2618600"/>
            <a:ext cx="242112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</a:p>
        </p:txBody>
      </p:sp>
      <p:sp>
        <p:nvSpPr>
          <p:cNvPr id="113" name="Pill 1"/>
          <p:cNvSpPr/>
          <p:nvPr/>
        </p:nvSpPr>
        <p:spPr>
          <a:xfrm>
            <a:off x="5110592" y="2978600"/>
            <a:ext cx="1188000" cy="256032"/>
          </a:xfrm>
          <a:prstGeom prst="roundRect">
            <a:avLst>
              <a:gd name="adj" fmla="val 50000"/>
            </a:avLst>
          </a:prstGeom>
          <a:solidFill>
            <a:srgbClr val="FDEFDC"/>
          </a:solidFill>
          <a:ln/>
        </p:spPr>
      </p:sp>
      <p:sp>
        <p:nvSpPr>
          <p:cNvPr id="114" name="PillText 1"/>
          <p:cNvSpPr/>
          <p:nvPr/>
        </p:nvSpPr>
        <p:spPr>
          <a:xfrm>
            <a:off x="5110592" y="2978600"/>
            <a:ext cx="118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C46F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</a:p>
        </p:txBody>
      </p:sp>
      <p:sp>
        <p:nvSpPr>
          <p:cNvPr id="115" name="Bullets 1"/>
          <p:cNvSpPr/>
          <p:nvPr/>
        </p:nvSpPr>
        <p:spPr>
          <a:xfrm>
            <a:off x="4551680" y="3227512"/>
            <a:ext cx="3088640" cy="144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Underwriting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Claims Assistant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Builder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Intelligence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Search</a:t>
            </a:r>
          </a:p>
        </p:txBody>
      </p:sp>
      <p:sp>
        <p:nvSpPr>
          <p:cNvPr id="116" name="Card 2"/>
          <p:cNvSpPr/>
          <p:nvPr/>
        </p:nvSpPr>
        <p:spPr>
          <a:xfrm>
            <a:off x="8097520" y="2140000"/>
            <a:ext cx="3545840" cy="248000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15875">
            <a:solidFill>
              <a:srgbClr val="8FA1A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8000"/>
              </a:srgbClr>
            </a:outerShdw>
          </a:effectLst>
        </p:spPr>
      </p:sp>
      <p:sp>
        <p:nvSpPr>
          <p:cNvPr id="117" name="QN"/>
          <p:cNvSpPr/>
          <p:nvPr/>
        </p:nvSpPr>
        <p:spPr>
          <a:xfrm>
            <a:off x="10923360" y="2200000"/>
            <a:ext cx="66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4EAEF"/>
                </a:solidFill>
                <a:latin typeface="Arial" pitchFamily="34" charset="0"/>
              </a:rPr>
              <a:t>03</a:t>
            </a:r>
          </a:p>
        </p:txBody>
      </p:sp>
      <p:sp>
        <p:nvSpPr>
          <p:cNvPr id="118" name="Badge 2"/>
          <p:cNvSpPr/>
          <p:nvPr/>
        </p:nvSpPr>
        <p:spPr>
          <a:xfrm>
            <a:off x="8326120" y="236860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9050">
            <a:solidFill>
              <a:srgbClr val="8FA1AE"/>
            </a:solidFill>
            <a:prstDash val="solid"/>
          </a:ln>
        </p:spPr>
      </p:sp>
      <p:pic>
        <p:nvPicPr>
          <p:cNvPr id="119" name="Icon 2" descr="icons/compass-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276" y="2473756"/>
            <a:ext cx="228600" cy="228600"/>
          </a:xfrm>
          <a:prstGeom prst="rect">
            <a:avLst/>
          </a:prstGeom>
        </p:spPr>
      </p:pic>
      <p:sp>
        <p:nvSpPr>
          <p:cNvPr id="120" name="Title 2"/>
          <p:cNvSpPr/>
          <p:nvPr/>
        </p:nvSpPr>
        <p:spPr>
          <a:xfrm>
            <a:off x="8885032" y="2338600"/>
            <a:ext cx="242112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</a:p>
        </p:txBody>
      </p:sp>
      <p:sp>
        <p:nvSpPr>
          <p:cNvPr id="121" name="Pill 2"/>
          <p:cNvSpPr/>
          <p:nvPr/>
        </p:nvSpPr>
        <p:spPr>
          <a:xfrm>
            <a:off x="8885032" y="2698600"/>
            <a:ext cx="754000" cy="256032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/>
        </p:spPr>
      </p:sp>
      <p:sp>
        <p:nvSpPr>
          <p:cNvPr id="122" name="PillText 2"/>
          <p:cNvSpPr/>
          <p:nvPr/>
        </p:nvSpPr>
        <p:spPr>
          <a:xfrm>
            <a:off x="8885032" y="2698600"/>
            <a:ext cx="75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</a:p>
        </p:txBody>
      </p:sp>
      <p:sp>
        <p:nvSpPr>
          <p:cNvPr id="123" name="Bullets 2"/>
          <p:cNvSpPr/>
          <p:nvPr/>
        </p:nvSpPr>
        <p:spPr>
          <a:xfrm>
            <a:off x="8326120" y="2947512"/>
            <a:ext cx="3088640" cy="144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Insurance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Platform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Insurance APIs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Marketplace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Decision Support</a:t>
            </a:r>
          </a:p>
          <a:p>
            <a:pPr indent="0" marL="0">
              <a:lnSpc>
                <a:spcPct val="155000"/>
              </a:lnSpc>
              <a:buNone/>
            </a:pPr>
            <a:r>
              <a:rPr lang="en-US" sz="1080" b="1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080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Insurance Ecosystem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029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in Action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" y="1627632"/>
            <a:ext cx="1234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15" name="Image 1" descr="yas_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" y="1719072"/>
            <a:ext cx="1014984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12848" y="16276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 Takaful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2212848" y="19933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18" name="Text 14"/>
          <p:cNvSpPr/>
          <p:nvPr/>
        </p:nvSpPr>
        <p:spPr>
          <a:xfrm>
            <a:off x="2212848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41248" y="23957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international implementation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across three lines of business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UAE market requirements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309360" y="2331720"/>
            <a:ext cx="4343400" cy="4572"/>
          </a:xfrm>
          <a:prstGeom prst="line">
            <a:avLst/>
          </a:prstGeom>
          <a:noFill/>
          <a:ln w="25400">
            <a:solidFill>
              <a:srgbClr val="DCE3E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17920" y="2240280"/>
            <a:ext cx="182880" cy="182880"/>
          </a:xfrm>
          <a:prstGeom prst="ellipse">
            <a:avLst/>
          </a:prstGeom>
          <a:solidFill>
            <a:srgbClr val="0E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532120" y="18013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532120" y="2496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389620" y="2240280"/>
            <a:ext cx="182880" cy="182880"/>
          </a:xfrm>
          <a:prstGeom prst="ellipse">
            <a:avLst/>
          </a:prstGeom>
          <a:solidFill>
            <a:srgbClr val="0E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03820" y="18013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Non-Motor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703820" y="2496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561320" y="2240280"/>
            <a:ext cx="182880" cy="182880"/>
          </a:xfrm>
          <a:prstGeom prst="ellipse">
            <a:avLst/>
          </a:prstGeom>
          <a:solidFill>
            <a:srgbClr val="0E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875520" y="18013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9875520" y="2496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09360" y="30358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ROADMAP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548640" y="3584448"/>
            <a:ext cx="1109167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04672" y="3840480"/>
            <a:ext cx="1234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33" name="Image 2" descr="shriram_s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4400" y="3931920"/>
            <a:ext cx="1014984" cy="4754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212848" y="38404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Shriram General Insurance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2212848" y="42062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36" name="Text 31"/>
          <p:cNvSpPr/>
          <p:nvPr/>
        </p:nvSpPr>
        <p:spPr>
          <a:xfrm>
            <a:off x="2212848" y="4206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841248" y="460857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Enterprise-wide modernization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from NOVA platform to STATIM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across all major lines of business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309360" y="4544568"/>
            <a:ext cx="4343400" cy="4572"/>
          </a:xfrm>
          <a:prstGeom prst="line">
            <a:avLst/>
          </a:prstGeom>
          <a:noFill/>
          <a:ln w="25400">
            <a:solidFill>
              <a:srgbClr val="DCE3E9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217920" y="4453128"/>
            <a:ext cx="182880" cy="182880"/>
          </a:xfrm>
          <a:prstGeom prst="ellipse">
            <a:avLst/>
          </a:prstGeom>
          <a:solidFill>
            <a:srgbClr val="0E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532120" y="40142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5532120" y="47091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389620" y="4453128"/>
            <a:ext cx="182880" cy="182880"/>
          </a:xfrm>
          <a:prstGeom prst="ellipse">
            <a:avLst/>
          </a:prstGeom>
          <a:solidFill>
            <a:srgbClr val="0E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703820" y="40142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7703820" y="47091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2027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10561320" y="4453128"/>
            <a:ext cx="182880" cy="182880"/>
          </a:xfrm>
          <a:prstGeom prst="ellipse">
            <a:avLst/>
          </a:prstGeom>
          <a:solidFill>
            <a:srgbClr val="0E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875520" y="40142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Non-Motor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9875520" y="47091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2027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309360" y="524865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D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ROADMAP</a:t>
            </a:r>
            <a:endParaRPr lang="en-US" sz="750" dirty="0"/>
          </a:p>
        </p:txBody>
      </p:sp>
      <p:sp>
        <p:nvSpPr>
          <p:cNvPr id="49" name="Text 44"/>
          <p:cNvSpPr/>
          <p:nvPr/>
        </p:nvSpPr>
        <p:spPr>
          <a:xfrm>
            <a:off x="548640" y="5870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enterprise implementations underway </a:t>
            </a:r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six go-lives scheduled between Sep 2026 and Sep 2027.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029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Strategy to Build a Global Insurance Platform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548640" y="1463040"/>
            <a:ext cx="11091672" cy="4709160"/>
          </a:xfrm>
          <a:prstGeom prst="roundRect">
            <a:avLst>
              <a:gd name="adj" fmla="val 2330"/>
            </a:avLst>
          </a:prstGeom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9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1463040"/>
            <a:ext cx="5545836" cy="2354580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4476" y="1463040"/>
            <a:ext cx="5545836" cy="2354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3817620"/>
            <a:ext cx="5545836" cy="2354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3817620"/>
            <a:ext cx="5545836" cy="235458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4476" y="1737360"/>
            <a:ext cx="4572" cy="4160520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3817620"/>
            <a:ext cx="10543032" cy="4572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1463040"/>
            <a:ext cx="11091672" cy="4709160"/>
          </a:xfrm>
          <a:prstGeom prst="roundRect">
            <a:avLst>
              <a:gd name="adj" fmla="val 2330"/>
            </a:avLst>
          </a:prstGeom>
          <a:ln w="12700">
            <a:solidFill>
              <a:srgbClr val="DCE3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4568" y="15910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4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22" name="Shape 19"/>
          <p:cNvSpPr/>
          <p:nvPr/>
        </p:nvSpPr>
        <p:spPr>
          <a:xfrm>
            <a:off x="932688" y="177393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23" name="Image 1" descr="icons/award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50" y="1883298"/>
            <a:ext cx="201900" cy="2019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81328" y="1755648"/>
            <a:ext cx="4155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Excellence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932688" y="2340864"/>
            <a:ext cx="4777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configurable, scalable, future-ready platform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932688" y="2670048"/>
            <a:ext cx="4777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innovation · Configuration-first · Reusable capabilities · Industry best practices</a:t>
            </a:r>
            <a:endParaRPr lang="en-US" sz="930" dirty="0"/>
          </a:p>
        </p:txBody>
      </p:sp>
      <p:sp>
        <p:nvSpPr>
          <p:cNvPr id="27" name="Text 23"/>
          <p:cNvSpPr/>
          <p:nvPr/>
        </p:nvSpPr>
        <p:spPr>
          <a:xfrm>
            <a:off x="10725912" y="15910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4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28" name="Shape 24"/>
          <p:cNvSpPr/>
          <p:nvPr/>
        </p:nvSpPr>
        <p:spPr>
          <a:xfrm>
            <a:off x="6844284" y="177393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29" name="Image 2" descr="icons/zap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46" y="1883298"/>
            <a:ext cx="201900" cy="2019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392924" y="1755648"/>
            <a:ext cx="3790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Ecosystem</a:t>
            </a:r>
            <a:endParaRPr lang="en-US" sz="1550" dirty="0"/>
          </a:p>
        </p:txBody>
      </p:sp>
      <p:sp>
        <p:nvSpPr>
          <p:cNvPr id="31" name="Text 26"/>
          <p:cNvSpPr/>
          <p:nvPr/>
        </p:nvSpPr>
        <p:spPr>
          <a:xfrm>
            <a:off x="6844284" y="2340864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modern technologies to stay ahead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844284" y="2670048"/>
            <a:ext cx="4046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· Composable architecture · Cloud-native · Open API ecosystem</a:t>
            </a:r>
            <a:endParaRPr lang="en-US" sz="930" dirty="0"/>
          </a:p>
        </p:txBody>
      </p:sp>
      <p:sp>
        <p:nvSpPr>
          <p:cNvPr id="33" name="Text 28"/>
          <p:cNvSpPr/>
          <p:nvPr/>
        </p:nvSpPr>
        <p:spPr>
          <a:xfrm>
            <a:off x="734568" y="39456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4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34" name="Shape 29"/>
          <p:cNvSpPr/>
          <p:nvPr/>
        </p:nvSpPr>
        <p:spPr>
          <a:xfrm>
            <a:off x="932688" y="442112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35" name="Image 3" descr="icons/users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050" y="4530486"/>
            <a:ext cx="201900" cy="2019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481328" y="4402836"/>
            <a:ext cx="4155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550" dirty="0"/>
          </a:p>
        </p:txBody>
      </p:sp>
      <p:sp>
        <p:nvSpPr>
          <p:cNvPr id="37" name="Text 31"/>
          <p:cNvSpPr/>
          <p:nvPr/>
        </p:nvSpPr>
        <p:spPr>
          <a:xfrm>
            <a:off x="932688" y="4988052"/>
            <a:ext cx="4777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implementation strengthens the product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932688" y="5317236"/>
            <a:ext cx="4777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Customer-driven enhancements · Standardization · Faster implementation · Real-world maturity</a:t>
            </a:r>
            <a:endParaRPr lang="en-US" sz="930" dirty="0"/>
          </a:p>
        </p:txBody>
      </p:sp>
      <p:sp>
        <p:nvSpPr>
          <p:cNvPr id="39" name="Text 33"/>
          <p:cNvSpPr/>
          <p:nvPr/>
        </p:nvSpPr>
        <p:spPr>
          <a:xfrm>
            <a:off x="10725912" y="39456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4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40" name="Shape 34"/>
          <p:cNvSpPr/>
          <p:nvPr/>
        </p:nvSpPr>
        <p:spPr>
          <a:xfrm>
            <a:off x="6844284" y="442112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pic>
        <p:nvPicPr>
          <p:cNvPr id="41" name="Image 4" descr="icons/globe-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646" y="4530486"/>
            <a:ext cx="201900" cy="2019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392924" y="4402836"/>
            <a:ext cx="3790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  <a:endParaRPr lang="en-US" sz="1550" dirty="0"/>
          </a:p>
        </p:txBody>
      </p:sp>
      <p:sp>
        <p:nvSpPr>
          <p:cNvPr id="43" name="Text 36"/>
          <p:cNvSpPr/>
          <p:nvPr/>
        </p:nvSpPr>
        <p:spPr>
          <a:xfrm>
            <a:off x="6844284" y="4988052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once, deploy anywhere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844284" y="5317236"/>
            <a:ext cx="4046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· Multi-language · Multi-currency · Regulatory adaptability</a:t>
            </a:r>
            <a:endParaRPr lang="en-US" sz="930" dirty="0"/>
          </a:p>
        </p:txBody>
      </p:sp>
      <p:sp>
        <p:nvSpPr>
          <p:cNvPr id="45" name="Shape 38"/>
          <p:cNvSpPr/>
          <p:nvPr/>
        </p:nvSpPr>
        <p:spPr>
          <a:xfrm>
            <a:off x="5404104" y="3127248"/>
            <a:ext cx="1380744" cy="1380744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5477256" y="3200400"/>
            <a:ext cx="1234440" cy="1234440"/>
          </a:xfrm>
          <a:prstGeom prst="ellipse">
            <a:avLst/>
          </a:prstGeom>
          <a:solidFill>
            <a:srgbClr val="123B63"/>
          </a:solidFill>
          <a:ln/>
          <a:effectLst>
            <a:outerShdw sx="100000" sy="100000" kx="0" ky="0" algn="bl" rotWithShape="0" blurRad="114300" dist="25400" dir="5400000">
              <a:srgbClr val="0B2239">
                <a:alpha val="28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5477256" y="34930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350" dirty="0"/>
          </a:p>
        </p:txBody>
      </p:sp>
      <p:sp>
        <p:nvSpPr>
          <p:cNvPr id="48" name="Text 41"/>
          <p:cNvSpPr/>
          <p:nvPr/>
        </p:nvSpPr>
        <p:spPr>
          <a:xfrm>
            <a:off x="5477256" y="40690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9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OBJECTIVE</a:t>
            </a:r>
            <a:endParaRPr lang="en-US" sz="700" dirty="0"/>
          </a:p>
        </p:txBody>
      </p:sp>
      <p:sp>
        <p:nvSpPr>
          <p:cNvPr id="49" name="Text 42"/>
          <p:cNvSpPr/>
          <p:nvPr/>
        </p:nvSpPr>
        <p:spPr>
          <a:xfrm>
            <a:off x="548640" y="63367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pillars, one objective: </a:t>
            </a:r>
            <a:pPr indent="0" marL="0">
              <a:buNone/>
            </a:pPr>
            <a:r>
              <a:rPr lang="en-US" sz="1150" dirty="0">
                <a:solidFill>
                  <a:srgbClr val="718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STATIM as a globally recognized insurance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E948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We Are Building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“Transforming Insurance Through AI and Composable Solutions.”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9784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4D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is live, and the pipeline is real: two enterprise implementations underway across the UAE and India, with go-lives from September 2026 through 2027.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4D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phase adds AI across underwriting, claims, and product configuration.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4D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is clear: make STATIM the platform of choice for insurers building for the next decade.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1536192" cy="402336"/>
          </a:xfrm>
          <a:prstGeom prst="roundRect">
            <a:avLst>
              <a:gd name="adj" fmla="val 50000"/>
            </a:avLst>
          </a:prstGeom>
          <a:solidFill>
            <a:srgbClr val="1B4E6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348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EE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51176" y="4434840"/>
            <a:ext cx="1536192" cy="402336"/>
          </a:xfrm>
          <a:prstGeom prst="roundRect">
            <a:avLst>
              <a:gd name="adj" fmla="val 50000"/>
            </a:avLst>
          </a:prstGeom>
          <a:solidFill>
            <a:srgbClr val="1B4E6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1176" y="44348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EE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33672" y="4434840"/>
            <a:ext cx="1536192" cy="402336"/>
          </a:xfrm>
          <a:prstGeom prst="roundRect">
            <a:avLst>
              <a:gd name="adj" fmla="val 50000"/>
            </a:avLst>
          </a:prstGeom>
          <a:solidFill>
            <a:srgbClr val="1B4E6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44348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EE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16168" y="4434840"/>
            <a:ext cx="1536192" cy="402336"/>
          </a:xfrm>
          <a:prstGeom prst="roundRect">
            <a:avLst>
              <a:gd name="adj" fmla="val 50000"/>
            </a:avLst>
          </a:prstGeom>
          <a:solidFill>
            <a:srgbClr val="1B4E6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44348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EE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405872" y="256032"/>
            <a:ext cx="14630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pic>
        <p:nvPicPr>
          <p:cNvPr id="16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234440" cy="3218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303520"/>
            <a:ext cx="2468880" cy="24688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663440"/>
            <a:ext cx="3749040" cy="374904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4023360"/>
            <a:ext cx="5029200" cy="502920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474720"/>
            <a:ext cx="6126480" cy="6126480"/>
          </a:xfrm>
          <a:prstGeom prst="ellips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23192" y="3474720"/>
            <a:ext cx="0" cy="612648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9952" y="6537960"/>
            <a:ext cx="6126480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pic>
        <p:nvPicPr>
          <p:cNvPr id="8" name="Image 0" descr="unpacked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292608"/>
            <a:ext cx="1234440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ANNUAL CONFERENCE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0" y="24231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B2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0" y="3456432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Transforming Insurance Through AI and Composable Solutions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2026-08-07T09:36:05Z</dcterms:created>
  <dcterms:modified xsi:type="dcterms:W3CDTF">2026-08-07T09:36:05Z</dcterms:modified>
</cp:coreProperties>
</file>