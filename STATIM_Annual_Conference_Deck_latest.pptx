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991E"/>
    <a:srgbClr val="EAF7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0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4620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jpg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10" Type="http://schemas.openxmlformats.org/officeDocument/2006/relationships/image" Target="../media/image35.png"/><Relationship Id="rId4" Type="http://schemas.openxmlformats.org/officeDocument/2006/relationships/image" Target="../media/image2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7905750" y="1333500"/>
            <a:ext cx="314325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500" b="1" dirty="0">
                <a:solidFill>
                  <a:srgbClr val="EDF1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26</a:t>
            </a:r>
            <a:endParaRPr lang="en-US" sz="22500" dirty="0"/>
          </a:p>
        </p:txBody>
      </p:sp>
      <p:sp>
        <p:nvSpPr>
          <p:cNvPr id="69" name="Shape 65"/>
          <p:cNvSpPr/>
          <p:nvPr/>
        </p:nvSpPr>
        <p:spPr>
          <a:xfrm>
            <a:off x="7810500" y="1143000"/>
            <a:ext cx="3238500" cy="3238500"/>
          </a:xfrm>
          <a:prstGeom prst="ellipse">
            <a:avLst/>
          </a:prstGeom>
          <a:ln w="19050">
            <a:solidFill>
              <a:srgbClr val="E5E8EB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8153400" y="1485900"/>
            <a:ext cx="2552700" cy="2552700"/>
          </a:xfrm>
          <a:prstGeom prst="ellipse">
            <a:avLst/>
          </a:prstGeom>
          <a:ln w="12700">
            <a:solidFill>
              <a:srgbClr val="E5E8EB"/>
            </a:solidFill>
            <a:prstDash val="dash"/>
          </a:ln>
        </p:spPr>
      </p:sp>
      <p:sp>
        <p:nvSpPr>
          <p:cNvPr id="71" name="Text 67"/>
          <p:cNvSpPr txBox="1"/>
          <p:nvPr/>
        </p:nvSpPr>
        <p:spPr>
          <a:xfrm>
            <a:off x="609600" y="18669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CONFERENCE 2026</a:t>
            </a:r>
            <a:endParaRPr lang="en-US" sz="900" dirty="0"/>
          </a:p>
        </p:txBody>
      </p:sp>
      <p:sp>
        <p:nvSpPr>
          <p:cNvPr id="72" name="Text 68"/>
          <p:cNvSpPr txBox="1"/>
          <p:nvPr/>
        </p:nvSpPr>
        <p:spPr>
          <a:xfrm>
            <a:off x="609600" y="2076450"/>
            <a:ext cx="66675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50" b="1" dirty="0">
                <a:solidFill>
                  <a:srgbClr val="0E49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STATIM</a:t>
            </a:r>
            <a:endParaRPr lang="en-US" sz="8250" dirty="0"/>
          </a:p>
        </p:txBody>
      </p:sp>
      <p:sp>
        <p:nvSpPr>
          <p:cNvPr id="73" name="Text 69"/>
          <p:cNvSpPr txBox="1"/>
          <p:nvPr/>
        </p:nvSpPr>
        <p:spPr>
          <a:xfrm>
            <a:off x="609600" y="339090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Insurance Through AI and Composable Solutions</a:t>
            </a:r>
            <a:endParaRPr lang="en-US" sz="1575" dirty="0"/>
          </a:p>
        </p:txBody>
      </p:sp>
      <p:sp>
        <p:nvSpPr>
          <p:cNvPr id="74" name="Shape 70"/>
          <p:cNvSpPr/>
          <p:nvPr/>
        </p:nvSpPr>
        <p:spPr>
          <a:xfrm>
            <a:off x="609600" y="4152900"/>
            <a:ext cx="1020699" cy="209550"/>
          </a:xfrm>
          <a:prstGeom prst="roundRect">
            <a:avLst>
              <a:gd name="adj" fmla="val 50000"/>
            </a:avLst>
          </a:prstGeom>
          <a:solidFill>
            <a:srgbClr val="EBF6F4"/>
          </a:solidFill>
          <a:ln w="12700">
            <a:solidFill>
              <a:srgbClr val="B7E0DB"/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609600" y="4152900"/>
            <a:ext cx="1020699" cy="2095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8" b="1" kern="0" spc="110" dirty="0">
                <a:solidFill>
                  <a:srgbClr val="0B7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INTELLIGENT</a:t>
            </a:r>
            <a:endParaRPr lang="en-US" sz="788" dirty="0"/>
          </a:p>
        </p:txBody>
      </p:sp>
      <p:sp>
        <p:nvSpPr>
          <p:cNvPr id="76" name="Shape 72"/>
          <p:cNvSpPr/>
          <p:nvPr/>
        </p:nvSpPr>
        <p:spPr>
          <a:xfrm>
            <a:off x="1744599" y="4152900"/>
            <a:ext cx="876681" cy="209550"/>
          </a:xfrm>
          <a:prstGeom prst="roundRect">
            <a:avLst>
              <a:gd name="adj" fmla="val 50000"/>
            </a:avLst>
          </a:prstGeom>
          <a:solidFill>
            <a:srgbClr val="EBF6F4"/>
          </a:solidFill>
          <a:ln w="12700">
            <a:solidFill>
              <a:srgbClr val="B7E0DB"/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1744599" y="4152900"/>
            <a:ext cx="876681" cy="2095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>
            <a:lvl1pPr indent="0" algn="ctr">
              <a:buNone/>
              <a:defRPr sz="788" b="1" kern="0" spc="110">
                <a:solidFill>
                  <a:srgbClr val="0B7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r>
              <a:rPr lang="en-US" dirty="0"/>
              <a:t>CONNECTED</a:t>
            </a:r>
          </a:p>
        </p:txBody>
      </p:sp>
      <p:sp>
        <p:nvSpPr>
          <p:cNvPr id="78" name="Shape 74"/>
          <p:cNvSpPr/>
          <p:nvPr/>
        </p:nvSpPr>
        <p:spPr>
          <a:xfrm>
            <a:off x="2735580" y="4152900"/>
            <a:ext cx="948690" cy="209550"/>
          </a:xfrm>
          <a:prstGeom prst="roundRect">
            <a:avLst>
              <a:gd name="adj" fmla="val 50000"/>
            </a:avLst>
          </a:prstGeom>
          <a:solidFill>
            <a:srgbClr val="EBF6F4"/>
          </a:solidFill>
          <a:ln w="12700">
            <a:solidFill>
              <a:srgbClr val="B7E0DB"/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2735580" y="4152900"/>
            <a:ext cx="948690" cy="2095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>
            <a:lvl1pPr indent="0" algn="ctr">
              <a:buNone/>
              <a:defRPr sz="788" b="1" kern="0" spc="110">
                <a:solidFill>
                  <a:srgbClr val="0B7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r>
              <a:rPr lang="en-US" dirty="0"/>
              <a:t>COMPOSABLE</a:t>
            </a:r>
          </a:p>
        </p:txBody>
      </p:sp>
      <p:sp>
        <p:nvSpPr>
          <p:cNvPr id="80" name="Shape 76"/>
          <p:cNvSpPr/>
          <p:nvPr/>
        </p:nvSpPr>
        <p:spPr>
          <a:xfrm>
            <a:off x="3798570" y="4152900"/>
            <a:ext cx="660654" cy="209550"/>
          </a:xfrm>
          <a:prstGeom prst="roundRect">
            <a:avLst>
              <a:gd name="adj" fmla="val 50000"/>
            </a:avLst>
          </a:prstGeom>
          <a:solidFill>
            <a:srgbClr val="EBF6F4"/>
          </a:solidFill>
          <a:ln w="12700">
            <a:solidFill>
              <a:srgbClr val="B7E0DB"/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3798570" y="4152900"/>
            <a:ext cx="660654" cy="2095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8" b="1" kern="0" spc="110" dirty="0">
                <a:solidFill>
                  <a:srgbClr val="0B7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</a:t>
            </a:r>
            <a:endParaRPr lang="en-US" sz="788" dirty="0"/>
          </a:p>
        </p:txBody>
      </p:sp>
      <p:sp>
        <p:nvSpPr>
          <p:cNvPr id="82" name="Text 78"/>
          <p:cNvSpPr txBox="1"/>
          <p:nvPr/>
        </p:nvSpPr>
        <p:spPr>
          <a:xfrm>
            <a:off x="609600" y="4629150"/>
            <a:ext cx="857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3" b="1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Senthil Viswanathan</a:t>
            </a:r>
            <a:r>
              <a:rPr lang="en-US" sz="1013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013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5334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 CONTEXT</a:t>
            </a:r>
            <a:endParaRPr lang="en-US" sz="900" b="1" dirty="0"/>
          </a:p>
        </p:txBody>
      </p:sp>
      <p:sp>
        <p:nvSpPr>
          <p:cNvPr id="69" name="Text 65"/>
          <p:cNvSpPr txBox="1"/>
          <p:nvPr/>
        </p:nvSpPr>
        <p:spPr>
          <a:xfrm>
            <a:off x="609600" y="781050"/>
            <a:ext cx="10972800" cy="41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85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Insurance Industry Is Transforming</a:t>
            </a:r>
            <a:endParaRPr lang="en-US" sz="2850" dirty="0"/>
          </a:p>
        </p:txBody>
      </p:sp>
      <p:sp>
        <p:nvSpPr>
          <p:cNvPr id="70" name="Shape 66"/>
          <p:cNvSpPr/>
          <p:nvPr/>
        </p:nvSpPr>
        <p:spPr>
          <a:xfrm>
            <a:off x="609600" y="1428750"/>
            <a:ext cx="3581400" cy="1952625"/>
          </a:xfrm>
          <a:prstGeom prst="roundRect">
            <a:avLst>
              <a:gd name="adj" fmla="val 7805"/>
            </a:avLst>
          </a:prstGeom>
          <a:solidFill>
            <a:srgbClr val="EAF7F5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3771900" y="1543050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825" dirty="0"/>
          </a:p>
        </p:txBody>
      </p:sp>
      <p:sp>
        <p:nvSpPr>
          <p:cNvPr id="72" name="Shape 68"/>
          <p:cNvSpPr/>
          <p:nvPr/>
        </p:nvSpPr>
        <p:spPr>
          <a:xfrm>
            <a:off x="762000" y="15811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73" name="Image 2" descr="/tmp/pptx/icons/phon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63" y="1662113"/>
            <a:ext cx="161925" cy="161925"/>
          </a:xfrm>
          <a:prstGeom prst="rect">
            <a:avLst/>
          </a:prstGeom>
        </p:spPr>
      </p:pic>
      <p:sp>
        <p:nvSpPr>
          <p:cNvPr id="74" name="Text 69"/>
          <p:cNvSpPr txBox="1"/>
          <p:nvPr/>
        </p:nvSpPr>
        <p:spPr>
          <a:xfrm>
            <a:off x="762000" y="2019300"/>
            <a:ext cx="32766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Digital Customers</a:t>
            </a:r>
            <a:endParaRPr lang="en-US" sz="1200" dirty="0"/>
          </a:p>
        </p:txBody>
      </p:sp>
      <p:sp>
        <p:nvSpPr>
          <p:cNvPr id="75" name="Text 70"/>
          <p:cNvSpPr txBox="1"/>
          <p:nvPr/>
        </p:nvSpPr>
        <p:spPr>
          <a:xfrm>
            <a:off x="762000" y="2495550"/>
            <a:ext cx="3276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digital journeys are the baseline</a:t>
            </a:r>
            <a:endParaRPr lang="en-US" sz="863" dirty="0"/>
          </a:p>
        </p:txBody>
      </p:sp>
      <p:sp>
        <p:nvSpPr>
          <p:cNvPr id="76" name="Shape 71"/>
          <p:cNvSpPr/>
          <p:nvPr/>
        </p:nvSpPr>
        <p:spPr>
          <a:xfrm>
            <a:off x="4305300" y="1428750"/>
            <a:ext cx="1733550" cy="1952625"/>
          </a:xfrm>
          <a:prstGeom prst="roundRect">
            <a:avLst>
              <a:gd name="adj" fmla="val 8791"/>
            </a:avLst>
          </a:prstGeom>
          <a:solidFill>
            <a:srgbClr val="EEF4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7" name="Text 72"/>
          <p:cNvSpPr txBox="1"/>
          <p:nvPr/>
        </p:nvSpPr>
        <p:spPr>
          <a:xfrm>
            <a:off x="5619750" y="1543050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825" dirty="0"/>
          </a:p>
        </p:txBody>
      </p:sp>
      <p:sp>
        <p:nvSpPr>
          <p:cNvPr id="78" name="Shape 73"/>
          <p:cNvSpPr/>
          <p:nvPr/>
        </p:nvSpPr>
        <p:spPr>
          <a:xfrm>
            <a:off x="4457700" y="15811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79" name="Image 3" descr="/tmp/pptx/icons/cpu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8663" y="1662113"/>
            <a:ext cx="161925" cy="161925"/>
          </a:xfrm>
          <a:prstGeom prst="rect">
            <a:avLst/>
          </a:prstGeom>
        </p:spPr>
      </p:pic>
      <p:sp>
        <p:nvSpPr>
          <p:cNvPr id="80" name="Text 74"/>
          <p:cNvSpPr txBox="1"/>
          <p:nvPr/>
        </p:nvSpPr>
        <p:spPr>
          <a:xfrm>
            <a:off x="4457700" y="2019300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Goes Mainstream</a:t>
            </a:r>
            <a:endParaRPr lang="en-US" sz="1088" dirty="0"/>
          </a:p>
        </p:txBody>
      </p:sp>
      <p:sp>
        <p:nvSpPr>
          <p:cNvPr id="81" name="Text 75"/>
          <p:cNvSpPr txBox="1"/>
          <p:nvPr/>
        </p:nvSpPr>
        <p:spPr>
          <a:xfrm>
            <a:off x="4457700" y="2495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decisions across the value chain</a:t>
            </a:r>
            <a:endParaRPr lang="en-US" sz="863" dirty="0"/>
          </a:p>
        </p:txBody>
      </p:sp>
      <p:sp>
        <p:nvSpPr>
          <p:cNvPr id="82" name="Shape 76"/>
          <p:cNvSpPr/>
          <p:nvPr/>
        </p:nvSpPr>
        <p:spPr>
          <a:xfrm>
            <a:off x="6153150" y="1428750"/>
            <a:ext cx="1733550" cy="1952625"/>
          </a:xfrm>
          <a:prstGeom prst="roundRect">
            <a:avLst>
              <a:gd name="adj" fmla="val 8791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3" name="Text 77"/>
          <p:cNvSpPr txBox="1"/>
          <p:nvPr/>
        </p:nvSpPr>
        <p:spPr>
          <a:xfrm>
            <a:off x="7467600" y="1543050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825" dirty="0"/>
          </a:p>
        </p:txBody>
      </p:sp>
      <p:sp>
        <p:nvSpPr>
          <p:cNvPr id="84" name="Shape 78"/>
          <p:cNvSpPr/>
          <p:nvPr/>
        </p:nvSpPr>
        <p:spPr>
          <a:xfrm>
            <a:off x="6305550" y="15811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85" name="Image 4" descr="/tmp/pptx/icons/cart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6513" y="1662113"/>
            <a:ext cx="161925" cy="161925"/>
          </a:xfrm>
          <a:prstGeom prst="rect">
            <a:avLst/>
          </a:prstGeom>
        </p:spPr>
      </p:pic>
      <p:sp>
        <p:nvSpPr>
          <p:cNvPr id="86" name="Text 79"/>
          <p:cNvSpPr txBox="1"/>
          <p:nvPr/>
        </p:nvSpPr>
        <p:spPr>
          <a:xfrm>
            <a:off x="6305550" y="2019300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Embedded </a:t>
            </a:r>
            <a:r>
              <a:rPr lang="en-US" sz="1088" b="1" dirty="0" smtClean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&amp; Parametric Insurance</a:t>
            </a:r>
            <a:endParaRPr lang="en-US" sz="1088" dirty="0"/>
          </a:p>
        </p:txBody>
      </p:sp>
      <p:sp>
        <p:nvSpPr>
          <p:cNvPr id="87" name="Text 80"/>
          <p:cNvSpPr txBox="1"/>
          <p:nvPr/>
        </p:nvSpPr>
        <p:spPr>
          <a:xfrm>
            <a:off x="6305550" y="2495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 sold inside everyday journeys</a:t>
            </a:r>
            <a:endParaRPr lang="en-US" sz="863" dirty="0"/>
          </a:p>
        </p:txBody>
      </p:sp>
      <p:sp>
        <p:nvSpPr>
          <p:cNvPr id="88" name="Shape 81"/>
          <p:cNvSpPr/>
          <p:nvPr/>
        </p:nvSpPr>
        <p:spPr>
          <a:xfrm>
            <a:off x="8001000" y="1428750"/>
            <a:ext cx="1733550" cy="1952625"/>
          </a:xfrm>
          <a:prstGeom prst="roundRect">
            <a:avLst>
              <a:gd name="adj" fmla="val 8791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9" name="Text 82"/>
          <p:cNvSpPr txBox="1"/>
          <p:nvPr/>
        </p:nvSpPr>
        <p:spPr>
          <a:xfrm>
            <a:off x="9315450" y="1543050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825" dirty="0"/>
          </a:p>
        </p:txBody>
      </p:sp>
      <p:sp>
        <p:nvSpPr>
          <p:cNvPr id="90" name="Shape 83"/>
          <p:cNvSpPr/>
          <p:nvPr/>
        </p:nvSpPr>
        <p:spPr>
          <a:xfrm>
            <a:off x="8153400" y="15811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91" name="Image 5" descr="/tmp/pptx/icons/shield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4363" y="1662113"/>
            <a:ext cx="161925" cy="161925"/>
          </a:xfrm>
          <a:prstGeom prst="rect">
            <a:avLst/>
          </a:prstGeom>
        </p:spPr>
      </p:pic>
      <p:sp>
        <p:nvSpPr>
          <p:cNvPr id="92" name="Text 84"/>
          <p:cNvSpPr txBox="1"/>
          <p:nvPr/>
        </p:nvSpPr>
        <p:spPr>
          <a:xfrm>
            <a:off x="8153400" y="2019300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Regulatory Evolution</a:t>
            </a:r>
            <a:endParaRPr lang="en-US" sz="1088" dirty="0"/>
          </a:p>
        </p:txBody>
      </p:sp>
      <p:sp>
        <p:nvSpPr>
          <p:cNvPr id="93" name="Text 85"/>
          <p:cNvSpPr txBox="1"/>
          <p:nvPr/>
        </p:nvSpPr>
        <p:spPr>
          <a:xfrm>
            <a:off x="8153400" y="2495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compliance, by design</a:t>
            </a:r>
            <a:endParaRPr lang="en-US" sz="863" dirty="0"/>
          </a:p>
        </p:txBody>
      </p:sp>
      <p:sp>
        <p:nvSpPr>
          <p:cNvPr id="94" name="Shape 86"/>
          <p:cNvSpPr/>
          <p:nvPr/>
        </p:nvSpPr>
        <p:spPr>
          <a:xfrm>
            <a:off x="9848850" y="1428750"/>
            <a:ext cx="1733550" cy="1952625"/>
          </a:xfrm>
          <a:prstGeom prst="roundRect">
            <a:avLst>
              <a:gd name="adj" fmla="val 8791"/>
            </a:avLst>
          </a:prstGeom>
          <a:solidFill>
            <a:srgbClr val="EEF4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95" name="Text 87"/>
          <p:cNvSpPr txBox="1"/>
          <p:nvPr/>
        </p:nvSpPr>
        <p:spPr>
          <a:xfrm>
            <a:off x="11163300" y="1543050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825" dirty="0"/>
          </a:p>
        </p:txBody>
      </p:sp>
      <p:sp>
        <p:nvSpPr>
          <p:cNvPr id="96" name="Shape 88"/>
          <p:cNvSpPr/>
          <p:nvPr/>
        </p:nvSpPr>
        <p:spPr>
          <a:xfrm>
            <a:off x="10001250" y="15811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97" name="Image 6" descr="/tmp/pptx/icons/trend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82213" y="1662113"/>
            <a:ext cx="161925" cy="161925"/>
          </a:xfrm>
          <a:prstGeom prst="rect">
            <a:avLst/>
          </a:prstGeom>
        </p:spPr>
      </p:pic>
      <p:sp>
        <p:nvSpPr>
          <p:cNvPr id="98" name="Text 89"/>
          <p:cNvSpPr txBox="1"/>
          <p:nvPr/>
        </p:nvSpPr>
        <p:spPr>
          <a:xfrm>
            <a:off x="10001250" y="2019300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Competition</a:t>
            </a:r>
            <a:endParaRPr lang="en-US" sz="1088" dirty="0"/>
          </a:p>
        </p:txBody>
      </p:sp>
      <p:sp>
        <p:nvSpPr>
          <p:cNvPr id="99" name="Text 90"/>
          <p:cNvSpPr txBox="1"/>
          <p:nvPr/>
        </p:nvSpPr>
        <p:spPr>
          <a:xfrm>
            <a:off x="10001250" y="2495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InsurTechs reset expectations</a:t>
            </a:r>
            <a:endParaRPr lang="en-US" sz="863" dirty="0"/>
          </a:p>
        </p:txBody>
      </p:sp>
      <p:sp>
        <p:nvSpPr>
          <p:cNvPr id="100" name="Shape 91"/>
          <p:cNvSpPr/>
          <p:nvPr/>
        </p:nvSpPr>
        <p:spPr>
          <a:xfrm>
            <a:off x="609600" y="3495675"/>
            <a:ext cx="1733550" cy="1952625"/>
          </a:xfrm>
          <a:prstGeom prst="roundRect">
            <a:avLst>
              <a:gd name="adj" fmla="val 8791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01" name="Text 92"/>
          <p:cNvSpPr txBox="1"/>
          <p:nvPr/>
        </p:nvSpPr>
        <p:spPr>
          <a:xfrm>
            <a:off x="1924050" y="3609975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825" dirty="0"/>
          </a:p>
        </p:txBody>
      </p:sp>
      <p:sp>
        <p:nvSpPr>
          <p:cNvPr id="102" name="Shape 93"/>
          <p:cNvSpPr/>
          <p:nvPr/>
        </p:nvSpPr>
        <p:spPr>
          <a:xfrm>
            <a:off x="762000" y="364807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103" name="Image 7" descr="/tmp/pptx/icons/share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963" y="3729038"/>
            <a:ext cx="161925" cy="161925"/>
          </a:xfrm>
          <a:prstGeom prst="rect">
            <a:avLst/>
          </a:prstGeom>
        </p:spPr>
      </p:pic>
      <p:sp>
        <p:nvSpPr>
          <p:cNvPr id="104" name="Text 94"/>
          <p:cNvSpPr txBox="1"/>
          <p:nvPr/>
        </p:nvSpPr>
        <p:spPr>
          <a:xfrm>
            <a:off x="762000" y="4086225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Connected Ecosystems</a:t>
            </a:r>
            <a:endParaRPr lang="en-US" sz="1088" dirty="0"/>
          </a:p>
        </p:txBody>
      </p:sp>
      <p:sp>
        <p:nvSpPr>
          <p:cNvPr id="105" name="Text 95"/>
          <p:cNvSpPr txBox="1"/>
          <p:nvPr/>
        </p:nvSpPr>
        <p:spPr>
          <a:xfrm>
            <a:off x="762000" y="4562475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Partner-driven distribution</a:t>
            </a:r>
            <a:endParaRPr lang="en-US" sz="863" dirty="0"/>
          </a:p>
        </p:txBody>
      </p:sp>
      <p:sp>
        <p:nvSpPr>
          <p:cNvPr id="106" name="Shape 96"/>
          <p:cNvSpPr/>
          <p:nvPr/>
        </p:nvSpPr>
        <p:spPr>
          <a:xfrm>
            <a:off x="2457450" y="3495675"/>
            <a:ext cx="3581400" cy="1952625"/>
          </a:xfrm>
          <a:prstGeom prst="roundRect">
            <a:avLst>
              <a:gd name="adj" fmla="val 7805"/>
            </a:avLst>
          </a:prstGeom>
          <a:solidFill>
            <a:srgbClr val="EAF7F5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07" name="Text 97"/>
          <p:cNvSpPr txBox="1"/>
          <p:nvPr/>
        </p:nvSpPr>
        <p:spPr>
          <a:xfrm>
            <a:off x="5619750" y="3609975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</a:t>
            </a:r>
            <a:endParaRPr lang="en-US" sz="825" dirty="0"/>
          </a:p>
        </p:txBody>
      </p:sp>
      <p:sp>
        <p:nvSpPr>
          <p:cNvPr id="108" name="Shape 98"/>
          <p:cNvSpPr/>
          <p:nvPr/>
        </p:nvSpPr>
        <p:spPr>
          <a:xfrm>
            <a:off x="2609850" y="364807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109" name="Image 8" descr="/tmp/pptx/icons/target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90813" y="3729038"/>
            <a:ext cx="161925" cy="161925"/>
          </a:xfrm>
          <a:prstGeom prst="rect">
            <a:avLst/>
          </a:prstGeom>
        </p:spPr>
      </p:pic>
      <p:sp>
        <p:nvSpPr>
          <p:cNvPr id="110" name="Text 99"/>
          <p:cNvSpPr txBox="1"/>
          <p:nvPr/>
        </p:nvSpPr>
        <p:spPr>
          <a:xfrm>
            <a:off x="2609850" y="4086225"/>
            <a:ext cx="32766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Hyper-personalization</a:t>
            </a:r>
            <a:endParaRPr lang="en-US" sz="1200" dirty="0"/>
          </a:p>
        </p:txBody>
      </p:sp>
      <p:sp>
        <p:nvSpPr>
          <p:cNvPr id="111" name="Text 100"/>
          <p:cNvSpPr txBox="1"/>
          <p:nvPr/>
        </p:nvSpPr>
        <p:spPr>
          <a:xfrm>
            <a:off x="2609850" y="4562475"/>
            <a:ext cx="3276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Tailored products and pricing</a:t>
            </a:r>
            <a:endParaRPr lang="en-US" sz="863" dirty="0"/>
          </a:p>
        </p:txBody>
      </p:sp>
      <p:sp>
        <p:nvSpPr>
          <p:cNvPr id="112" name="Shape 101"/>
          <p:cNvSpPr/>
          <p:nvPr/>
        </p:nvSpPr>
        <p:spPr>
          <a:xfrm>
            <a:off x="6153150" y="3495675"/>
            <a:ext cx="1733550" cy="1952625"/>
          </a:xfrm>
          <a:prstGeom prst="roundRect">
            <a:avLst>
              <a:gd name="adj" fmla="val 8791"/>
            </a:avLst>
          </a:prstGeom>
          <a:solidFill>
            <a:srgbClr val="EEF4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3" name="Text 102"/>
          <p:cNvSpPr txBox="1"/>
          <p:nvPr/>
        </p:nvSpPr>
        <p:spPr>
          <a:xfrm>
            <a:off x="7467600" y="3609975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</a:t>
            </a:r>
            <a:endParaRPr lang="en-US" sz="825" dirty="0"/>
          </a:p>
        </p:txBody>
      </p:sp>
      <p:sp>
        <p:nvSpPr>
          <p:cNvPr id="114" name="Shape 103"/>
          <p:cNvSpPr/>
          <p:nvPr/>
        </p:nvSpPr>
        <p:spPr>
          <a:xfrm>
            <a:off x="6305550" y="364807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115" name="Image 9" descr="/tmp/pptx/icons/code_te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6513" y="3729038"/>
            <a:ext cx="161925" cy="161925"/>
          </a:xfrm>
          <a:prstGeom prst="rect">
            <a:avLst/>
          </a:prstGeom>
        </p:spPr>
      </p:pic>
      <p:sp>
        <p:nvSpPr>
          <p:cNvPr id="116" name="Text 104"/>
          <p:cNvSpPr txBox="1"/>
          <p:nvPr/>
        </p:nvSpPr>
        <p:spPr>
          <a:xfrm>
            <a:off x="6305550" y="4086225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 APIs</a:t>
            </a:r>
            <a:endParaRPr lang="en-US" sz="1088" dirty="0"/>
          </a:p>
        </p:txBody>
      </p:sp>
      <p:sp>
        <p:nvSpPr>
          <p:cNvPr id="117" name="Text 105"/>
          <p:cNvSpPr txBox="1"/>
          <p:nvPr/>
        </p:nvSpPr>
        <p:spPr>
          <a:xfrm>
            <a:off x="6305550" y="4562475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partner integration</a:t>
            </a:r>
            <a:endParaRPr lang="en-US" sz="863" dirty="0"/>
          </a:p>
        </p:txBody>
      </p:sp>
      <p:sp>
        <p:nvSpPr>
          <p:cNvPr id="118" name="Shape 106"/>
          <p:cNvSpPr/>
          <p:nvPr/>
        </p:nvSpPr>
        <p:spPr>
          <a:xfrm>
            <a:off x="8001000" y="3495675"/>
            <a:ext cx="1733550" cy="1952625"/>
          </a:xfrm>
          <a:prstGeom prst="roundRect">
            <a:avLst>
              <a:gd name="adj" fmla="val 8791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9" name="Text 107"/>
          <p:cNvSpPr txBox="1"/>
          <p:nvPr/>
        </p:nvSpPr>
        <p:spPr>
          <a:xfrm>
            <a:off x="9315450" y="3609975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</a:t>
            </a:r>
            <a:endParaRPr lang="en-US" sz="825" dirty="0"/>
          </a:p>
        </p:txBody>
      </p:sp>
      <p:sp>
        <p:nvSpPr>
          <p:cNvPr id="120" name="Shape 108"/>
          <p:cNvSpPr/>
          <p:nvPr/>
        </p:nvSpPr>
        <p:spPr>
          <a:xfrm>
            <a:off x="8153400" y="364807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121" name="Image 10" descr="/tmp/pptx/icons/cloud_tea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34363" y="3729038"/>
            <a:ext cx="161925" cy="161925"/>
          </a:xfrm>
          <a:prstGeom prst="rect">
            <a:avLst/>
          </a:prstGeom>
        </p:spPr>
      </p:pic>
      <p:sp>
        <p:nvSpPr>
          <p:cNvPr id="122" name="Text 109"/>
          <p:cNvSpPr txBox="1"/>
          <p:nvPr/>
        </p:nvSpPr>
        <p:spPr>
          <a:xfrm>
            <a:off x="8153400" y="4086225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 Adoption</a:t>
            </a:r>
            <a:endParaRPr lang="en-US" sz="1088" dirty="0"/>
          </a:p>
        </p:txBody>
      </p:sp>
      <p:sp>
        <p:nvSpPr>
          <p:cNvPr id="123" name="Text 110"/>
          <p:cNvSpPr txBox="1"/>
          <p:nvPr/>
        </p:nvSpPr>
        <p:spPr>
          <a:xfrm>
            <a:off x="8153400" y="4562475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scale, lower run cost</a:t>
            </a:r>
            <a:endParaRPr lang="en-US" sz="863" dirty="0"/>
          </a:p>
        </p:txBody>
      </p:sp>
      <p:sp>
        <p:nvSpPr>
          <p:cNvPr id="124" name="Shape 111"/>
          <p:cNvSpPr/>
          <p:nvPr/>
        </p:nvSpPr>
        <p:spPr>
          <a:xfrm>
            <a:off x="9848850" y="3495675"/>
            <a:ext cx="1733550" cy="1952625"/>
          </a:xfrm>
          <a:prstGeom prst="roundRect">
            <a:avLst>
              <a:gd name="adj" fmla="val 8791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5" name="Text 112"/>
          <p:cNvSpPr txBox="1"/>
          <p:nvPr/>
        </p:nvSpPr>
        <p:spPr>
          <a:xfrm>
            <a:off x="11163300" y="3609975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825" dirty="0"/>
          </a:p>
        </p:txBody>
      </p:sp>
      <p:sp>
        <p:nvSpPr>
          <p:cNvPr id="126" name="Shape 113"/>
          <p:cNvSpPr/>
          <p:nvPr/>
        </p:nvSpPr>
        <p:spPr>
          <a:xfrm>
            <a:off x="10001250" y="364807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127" name="Image 11" descr="/tmp/pptx/icons/zap_teal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82213" y="3729038"/>
            <a:ext cx="161925" cy="161925"/>
          </a:xfrm>
          <a:prstGeom prst="rect">
            <a:avLst/>
          </a:prstGeom>
        </p:spPr>
      </p:pic>
      <p:sp>
        <p:nvSpPr>
          <p:cNvPr id="128" name="Text 114"/>
          <p:cNvSpPr txBox="1"/>
          <p:nvPr/>
        </p:nvSpPr>
        <p:spPr>
          <a:xfrm>
            <a:off x="10001250" y="4086225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Faster Launches</a:t>
            </a:r>
            <a:endParaRPr lang="en-US" sz="1088" dirty="0"/>
          </a:p>
        </p:txBody>
      </p:sp>
      <p:sp>
        <p:nvSpPr>
          <p:cNvPr id="129" name="Text 115"/>
          <p:cNvSpPr txBox="1"/>
          <p:nvPr/>
        </p:nvSpPr>
        <p:spPr>
          <a:xfrm>
            <a:off x="10001250" y="4562475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 to market wins</a:t>
            </a:r>
            <a:endParaRPr lang="en-US" sz="863" dirty="0"/>
          </a:p>
        </p:txBody>
      </p:sp>
      <p:sp>
        <p:nvSpPr>
          <p:cNvPr id="130" name="Text 116"/>
          <p:cNvSpPr txBox="1"/>
          <p:nvPr/>
        </p:nvSpPr>
        <p:spPr>
          <a:xfrm>
            <a:off x="609600" y="5757455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forces, one implication:</a:t>
            </a:r>
            <a:r>
              <a:rPr lang="en-US" sz="105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platform underneath must change.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5334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 PRINCIPLES</a:t>
            </a:r>
          </a:p>
        </p:txBody>
      </p:sp>
      <p:sp>
        <p:nvSpPr>
          <p:cNvPr id="69" name="Text 65"/>
          <p:cNvSpPr txBox="1"/>
          <p:nvPr/>
        </p:nvSpPr>
        <p:spPr>
          <a:xfrm>
            <a:off x="609600" y="781050"/>
            <a:ext cx="10972800" cy="41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85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Next-Generation Insurance Platform</a:t>
            </a:r>
            <a:endParaRPr lang="en-US" sz="2850" b="1" dirty="0"/>
          </a:p>
        </p:txBody>
      </p:sp>
      <p:sp>
        <p:nvSpPr>
          <p:cNvPr id="70" name="Shape 66"/>
          <p:cNvSpPr/>
          <p:nvPr/>
        </p:nvSpPr>
        <p:spPr>
          <a:xfrm flipH="1" flipV="1">
            <a:off x="3242148" y="2038350"/>
            <a:ext cx="2117895" cy="1147763"/>
          </a:xfrm>
          <a:prstGeom prst="line">
            <a:avLst/>
          </a:prstGeom>
          <a:noFill/>
          <a:ln w="15240">
            <a:solidFill>
              <a:srgbClr val="E5E8EB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6096000" y="1619250"/>
            <a:ext cx="0" cy="2200275"/>
          </a:xfrm>
          <a:prstGeom prst="line">
            <a:avLst/>
          </a:prstGeom>
          <a:noFill/>
          <a:ln w="15240">
            <a:solidFill>
              <a:srgbClr val="E5E8EB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 flipV="1">
            <a:off x="6827100" y="2047875"/>
            <a:ext cx="2122756" cy="1128767"/>
          </a:xfrm>
          <a:prstGeom prst="line">
            <a:avLst/>
          </a:prstGeom>
          <a:noFill/>
          <a:ln w="15240">
            <a:solidFill>
              <a:srgbClr val="E5E8EB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 flipH="1">
            <a:off x="1644015" y="3819525"/>
            <a:ext cx="4451985" cy="0"/>
          </a:xfrm>
          <a:prstGeom prst="line">
            <a:avLst/>
          </a:prstGeom>
          <a:noFill/>
          <a:ln w="15240">
            <a:solidFill>
              <a:srgbClr val="E5E8EB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6096000" y="3819525"/>
            <a:ext cx="4451985" cy="0"/>
          </a:xfrm>
          <a:prstGeom prst="line">
            <a:avLst/>
          </a:prstGeom>
          <a:noFill/>
          <a:ln w="15240">
            <a:solidFill>
              <a:srgbClr val="E5E8EB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 flipH="1">
            <a:off x="2947035" y="3819525"/>
            <a:ext cx="3148965" cy="2095500"/>
          </a:xfrm>
          <a:prstGeom prst="line">
            <a:avLst/>
          </a:prstGeom>
          <a:noFill/>
          <a:ln w="15240">
            <a:solidFill>
              <a:srgbClr val="E5E8EB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6096000" y="3819525"/>
            <a:ext cx="0" cy="2200275"/>
          </a:xfrm>
          <a:prstGeom prst="line">
            <a:avLst/>
          </a:prstGeom>
          <a:noFill/>
          <a:ln w="15240">
            <a:solidFill>
              <a:srgbClr val="E5E8EB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6096000" y="3819525"/>
            <a:ext cx="3148965" cy="2095500"/>
          </a:xfrm>
          <a:prstGeom prst="line">
            <a:avLst/>
          </a:prstGeom>
          <a:noFill/>
          <a:ln w="15240">
            <a:solidFill>
              <a:srgbClr val="E5E8EB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1965960" y="1419225"/>
            <a:ext cx="1962150" cy="609600"/>
          </a:xfrm>
          <a:prstGeom prst="roundRect">
            <a:avLst>
              <a:gd name="adj" fmla="val 2031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79" name="Image 2" descr="/tmp/pptx/icons/heart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9310" y="1543050"/>
            <a:ext cx="142875" cy="142875"/>
          </a:xfrm>
          <a:prstGeom prst="rect">
            <a:avLst/>
          </a:prstGeom>
        </p:spPr>
      </p:pic>
      <p:sp>
        <p:nvSpPr>
          <p:cNvPr id="80" name="Text 75"/>
          <p:cNvSpPr txBox="1"/>
          <p:nvPr/>
        </p:nvSpPr>
        <p:spPr>
          <a:xfrm>
            <a:off x="2318385" y="1524000"/>
            <a:ext cx="1504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3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Centric</a:t>
            </a:r>
            <a:endParaRPr lang="en-US" sz="1013" dirty="0"/>
          </a:p>
        </p:txBody>
      </p:sp>
      <p:sp>
        <p:nvSpPr>
          <p:cNvPr id="81" name="Text 76"/>
          <p:cNvSpPr txBox="1"/>
          <p:nvPr/>
        </p:nvSpPr>
        <p:spPr>
          <a:xfrm>
            <a:off x="2099310" y="1733550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1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around policyholder journeys</a:t>
            </a:r>
            <a:endParaRPr lang="en-US" sz="810" dirty="0"/>
          </a:p>
        </p:txBody>
      </p:sp>
      <p:sp>
        <p:nvSpPr>
          <p:cNvPr id="82" name="Shape 77"/>
          <p:cNvSpPr/>
          <p:nvPr/>
        </p:nvSpPr>
        <p:spPr>
          <a:xfrm>
            <a:off x="5114925" y="1314450"/>
            <a:ext cx="1962150" cy="609600"/>
          </a:xfrm>
          <a:prstGeom prst="roundRect">
            <a:avLst>
              <a:gd name="adj" fmla="val 2031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83" name="Image 3" descr="/tmp/pptx/icons/cpu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8275" y="1438275"/>
            <a:ext cx="142875" cy="142875"/>
          </a:xfrm>
          <a:prstGeom prst="rect">
            <a:avLst/>
          </a:prstGeom>
        </p:spPr>
      </p:pic>
      <p:sp>
        <p:nvSpPr>
          <p:cNvPr id="84" name="Text 78"/>
          <p:cNvSpPr txBox="1"/>
          <p:nvPr/>
        </p:nvSpPr>
        <p:spPr>
          <a:xfrm>
            <a:off x="5467350" y="1419225"/>
            <a:ext cx="1504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3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Native</a:t>
            </a:r>
            <a:endParaRPr lang="en-US" sz="1013" dirty="0"/>
          </a:p>
        </p:txBody>
      </p:sp>
      <p:sp>
        <p:nvSpPr>
          <p:cNvPr id="85" name="Text 79"/>
          <p:cNvSpPr txBox="1"/>
          <p:nvPr/>
        </p:nvSpPr>
        <p:spPr>
          <a:xfrm>
            <a:off x="5248275" y="1628775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1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 embedded, not bolted on</a:t>
            </a:r>
            <a:endParaRPr lang="en-US" sz="810" dirty="0"/>
          </a:p>
        </p:txBody>
      </p:sp>
      <p:sp>
        <p:nvSpPr>
          <p:cNvPr id="86" name="Shape 80"/>
          <p:cNvSpPr/>
          <p:nvPr/>
        </p:nvSpPr>
        <p:spPr>
          <a:xfrm>
            <a:off x="8263890" y="1419225"/>
            <a:ext cx="1962150" cy="609600"/>
          </a:xfrm>
          <a:prstGeom prst="roundRect">
            <a:avLst>
              <a:gd name="adj" fmla="val 2031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87" name="Image 4" descr="/tmp/pptx/icons/code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7240" y="1543050"/>
            <a:ext cx="142875" cy="142875"/>
          </a:xfrm>
          <a:prstGeom prst="rect">
            <a:avLst/>
          </a:prstGeom>
        </p:spPr>
      </p:pic>
      <p:sp>
        <p:nvSpPr>
          <p:cNvPr id="88" name="Text 81"/>
          <p:cNvSpPr txBox="1"/>
          <p:nvPr/>
        </p:nvSpPr>
        <p:spPr>
          <a:xfrm>
            <a:off x="8616315" y="1524000"/>
            <a:ext cx="1504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3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First</a:t>
            </a:r>
            <a:endParaRPr lang="en-US" sz="1013" dirty="0"/>
          </a:p>
        </p:txBody>
      </p:sp>
      <p:sp>
        <p:nvSpPr>
          <p:cNvPr id="89" name="Text 82"/>
          <p:cNvSpPr txBox="1"/>
          <p:nvPr/>
        </p:nvSpPr>
        <p:spPr>
          <a:xfrm>
            <a:off x="8397239" y="173355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1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capability exposed as a service</a:t>
            </a:r>
            <a:endParaRPr lang="en-US" sz="810" dirty="0"/>
          </a:p>
        </p:txBody>
      </p:sp>
      <p:sp>
        <p:nvSpPr>
          <p:cNvPr id="90" name="Shape 83"/>
          <p:cNvSpPr/>
          <p:nvPr/>
        </p:nvSpPr>
        <p:spPr>
          <a:xfrm>
            <a:off x="662940" y="3514725"/>
            <a:ext cx="1962150" cy="609600"/>
          </a:xfrm>
          <a:prstGeom prst="roundRect">
            <a:avLst>
              <a:gd name="adj" fmla="val 2031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91" name="Image 5" descr="/tmp/pptx/icons/grid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290" y="3638550"/>
            <a:ext cx="142875" cy="142875"/>
          </a:xfrm>
          <a:prstGeom prst="rect">
            <a:avLst/>
          </a:prstGeom>
        </p:spPr>
      </p:pic>
      <p:sp>
        <p:nvSpPr>
          <p:cNvPr id="92" name="Text 84"/>
          <p:cNvSpPr txBox="1"/>
          <p:nvPr/>
        </p:nvSpPr>
        <p:spPr>
          <a:xfrm>
            <a:off x="1015365" y="3619500"/>
            <a:ext cx="1504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3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Composable</a:t>
            </a:r>
            <a:endParaRPr lang="en-US" sz="1013" dirty="0"/>
          </a:p>
        </p:txBody>
      </p:sp>
      <p:sp>
        <p:nvSpPr>
          <p:cNvPr id="93" name="Text 85"/>
          <p:cNvSpPr txBox="1"/>
          <p:nvPr/>
        </p:nvSpPr>
        <p:spPr>
          <a:xfrm>
            <a:off x="796290" y="382905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1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Capabilities assembled like blocks</a:t>
            </a:r>
            <a:endParaRPr lang="en-US" sz="810" dirty="0"/>
          </a:p>
        </p:txBody>
      </p:sp>
      <p:sp>
        <p:nvSpPr>
          <p:cNvPr id="94" name="Shape 86"/>
          <p:cNvSpPr/>
          <p:nvPr/>
        </p:nvSpPr>
        <p:spPr>
          <a:xfrm>
            <a:off x="9566910" y="3514725"/>
            <a:ext cx="1962150" cy="609600"/>
          </a:xfrm>
          <a:prstGeom prst="roundRect">
            <a:avLst>
              <a:gd name="adj" fmla="val 2031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95" name="Image 6" descr="/tmp/pptx/icons/cloud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0260" y="3638550"/>
            <a:ext cx="142875" cy="142875"/>
          </a:xfrm>
          <a:prstGeom prst="rect">
            <a:avLst/>
          </a:prstGeom>
        </p:spPr>
      </p:pic>
      <p:sp>
        <p:nvSpPr>
          <p:cNvPr id="96" name="Text 87"/>
          <p:cNvSpPr txBox="1"/>
          <p:nvPr/>
        </p:nvSpPr>
        <p:spPr>
          <a:xfrm>
            <a:off x="9919335" y="3619500"/>
            <a:ext cx="1504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3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 Ready</a:t>
            </a:r>
            <a:endParaRPr lang="en-US" sz="1013" dirty="0"/>
          </a:p>
        </p:txBody>
      </p:sp>
      <p:sp>
        <p:nvSpPr>
          <p:cNvPr id="97" name="Text 88"/>
          <p:cNvSpPr txBox="1"/>
          <p:nvPr/>
        </p:nvSpPr>
        <p:spPr>
          <a:xfrm>
            <a:off x="9700260" y="382905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1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cloud, any scale</a:t>
            </a:r>
            <a:endParaRPr lang="en-US" sz="810" dirty="0"/>
          </a:p>
        </p:txBody>
      </p:sp>
      <p:sp>
        <p:nvSpPr>
          <p:cNvPr id="98" name="Shape 89"/>
          <p:cNvSpPr/>
          <p:nvPr/>
        </p:nvSpPr>
        <p:spPr>
          <a:xfrm>
            <a:off x="1965960" y="5610225"/>
            <a:ext cx="1962150" cy="609600"/>
          </a:xfrm>
          <a:prstGeom prst="roundRect">
            <a:avLst>
              <a:gd name="adj" fmla="val 2031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99" name="Image 7" descr="/tmp/pptx/icons/sliders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9310" y="5734050"/>
            <a:ext cx="142875" cy="142875"/>
          </a:xfrm>
          <a:prstGeom prst="rect">
            <a:avLst/>
          </a:prstGeom>
        </p:spPr>
      </p:pic>
      <p:sp>
        <p:nvSpPr>
          <p:cNvPr id="100" name="Text 90"/>
          <p:cNvSpPr txBox="1"/>
          <p:nvPr/>
        </p:nvSpPr>
        <p:spPr>
          <a:xfrm>
            <a:off x="2318385" y="5715000"/>
            <a:ext cx="1504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3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Configuration First</a:t>
            </a:r>
            <a:endParaRPr lang="en-US" sz="1013" dirty="0"/>
          </a:p>
        </p:txBody>
      </p:sp>
      <p:sp>
        <p:nvSpPr>
          <p:cNvPr id="101" name="Text 91"/>
          <p:cNvSpPr txBox="1"/>
          <p:nvPr/>
        </p:nvSpPr>
        <p:spPr>
          <a:xfrm>
            <a:off x="2099310" y="592455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1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products without code</a:t>
            </a:r>
            <a:endParaRPr lang="en-US" sz="810" dirty="0"/>
          </a:p>
        </p:txBody>
      </p:sp>
      <p:sp>
        <p:nvSpPr>
          <p:cNvPr id="102" name="Shape 92"/>
          <p:cNvSpPr/>
          <p:nvPr/>
        </p:nvSpPr>
        <p:spPr>
          <a:xfrm>
            <a:off x="5114925" y="5715000"/>
            <a:ext cx="1962150" cy="609600"/>
          </a:xfrm>
          <a:prstGeom prst="roundRect">
            <a:avLst>
              <a:gd name="adj" fmla="val 2031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103" name="Image 8" descr="/tmp/pptx/icons/db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8275" y="5838825"/>
            <a:ext cx="142875" cy="142875"/>
          </a:xfrm>
          <a:prstGeom prst="rect">
            <a:avLst/>
          </a:prstGeom>
        </p:spPr>
      </p:pic>
      <p:sp>
        <p:nvSpPr>
          <p:cNvPr id="104" name="Text 93"/>
          <p:cNvSpPr txBox="1"/>
          <p:nvPr/>
        </p:nvSpPr>
        <p:spPr>
          <a:xfrm>
            <a:off x="5467350" y="5819775"/>
            <a:ext cx="1504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3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Driven</a:t>
            </a:r>
            <a:endParaRPr lang="en-US" sz="1013" dirty="0"/>
          </a:p>
        </p:txBody>
      </p:sp>
      <p:sp>
        <p:nvSpPr>
          <p:cNvPr id="105" name="Text 94"/>
          <p:cNvSpPr txBox="1"/>
          <p:nvPr/>
        </p:nvSpPr>
        <p:spPr>
          <a:xfrm>
            <a:off x="5248275" y="6029325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1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grounded in platform data</a:t>
            </a:r>
            <a:endParaRPr lang="en-US" sz="810" dirty="0"/>
          </a:p>
        </p:txBody>
      </p:sp>
      <p:sp>
        <p:nvSpPr>
          <p:cNvPr id="106" name="Shape 95"/>
          <p:cNvSpPr/>
          <p:nvPr/>
        </p:nvSpPr>
        <p:spPr>
          <a:xfrm>
            <a:off x="8263890" y="5610225"/>
            <a:ext cx="1962150" cy="609600"/>
          </a:xfrm>
          <a:prstGeom prst="roundRect">
            <a:avLst>
              <a:gd name="adj" fmla="val 2031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107" name="Image 9" descr="/tmp/pptx/icons/link_te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7240" y="5734050"/>
            <a:ext cx="142875" cy="142875"/>
          </a:xfrm>
          <a:prstGeom prst="rect">
            <a:avLst/>
          </a:prstGeom>
        </p:spPr>
      </p:pic>
      <p:sp>
        <p:nvSpPr>
          <p:cNvPr id="108" name="Text 96"/>
          <p:cNvSpPr txBox="1"/>
          <p:nvPr/>
        </p:nvSpPr>
        <p:spPr>
          <a:xfrm>
            <a:off x="8616315" y="5715000"/>
            <a:ext cx="1504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3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Connected Ecosystem</a:t>
            </a:r>
            <a:endParaRPr lang="en-US" sz="1013" dirty="0"/>
          </a:p>
        </p:txBody>
      </p:sp>
      <p:sp>
        <p:nvSpPr>
          <p:cNvPr id="109" name="Text 97"/>
          <p:cNvSpPr txBox="1"/>
          <p:nvPr/>
        </p:nvSpPr>
        <p:spPr>
          <a:xfrm>
            <a:off x="8397240" y="592455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1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to plug into partners</a:t>
            </a:r>
            <a:endParaRPr lang="en-US" sz="810" dirty="0"/>
          </a:p>
        </p:txBody>
      </p:sp>
      <p:sp>
        <p:nvSpPr>
          <p:cNvPr id="110" name="Shape 98"/>
          <p:cNvSpPr/>
          <p:nvPr/>
        </p:nvSpPr>
        <p:spPr>
          <a:xfrm>
            <a:off x="5114925" y="2838450"/>
            <a:ext cx="1962150" cy="1962150"/>
          </a:xfrm>
          <a:prstGeom prst="ellipse">
            <a:avLst/>
          </a:prstGeom>
          <a:solidFill>
            <a:srgbClr val="0C526B"/>
          </a:solidFill>
          <a:ln/>
        </p:spPr>
      </p:sp>
      <p:sp>
        <p:nvSpPr>
          <p:cNvPr id="111" name="Text 99"/>
          <p:cNvSpPr txBox="1"/>
          <p:nvPr/>
        </p:nvSpPr>
        <p:spPr>
          <a:xfrm>
            <a:off x="5238750" y="3457575"/>
            <a:ext cx="1714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Next-Gen</a:t>
            </a:r>
            <a:endParaRPr lang="en-US" sz="1425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</a:t>
            </a:r>
            <a:endParaRPr lang="en-US" sz="1425" dirty="0"/>
          </a:p>
        </p:txBody>
      </p:sp>
      <p:sp>
        <p:nvSpPr>
          <p:cNvPr id="112" name="Text 100"/>
          <p:cNvSpPr txBox="1"/>
          <p:nvPr/>
        </p:nvSpPr>
        <p:spPr>
          <a:xfrm>
            <a:off x="5238750" y="4029075"/>
            <a:ext cx="1714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88" kern="0" spc="158" dirty="0">
                <a:solidFill>
                  <a:srgbClr val="9FD8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EIGHT TRAITS</a:t>
            </a:r>
            <a:endParaRPr lang="en-US" sz="78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5334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OPPORTUNITY</a:t>
            </a:r>
          </a:p>
        </p:txBody>
      </p:sp>
      <p:sp>
        <p:nvSpPr>
          <p:cNvPr id="69" name="Text 65"/>
          <p:cNvSpPr txBox="1"/>
          <p:nvPr/>
        </p:nvSpPr>
        <p:spPr>
          <a:xfrm>
            <a:off x="609600" y="781050"/>
            <a:ext cx="10972800" cy="473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285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Across the Insurance Value Chain</a:t>
            </a:r>
          </a:p>
        </p:txBody>
      </p:sp>
      <p:sp>
        <p:nvSpPr>
          <p:cNvPr id="70" name="Shape 66"/>
          <p:cNvSpPr/>
          <p:nvPr/>
        </p:nvSpPr>
        <p:spPr>
          <a:xfrm>
            <a:off x="714375" y="3557588"/>
            <a:ext cx="10763250" cy="28575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71" name="Shape 67"/>
          <p:cNvSpPr/>
          <p:nvPr/>
        </p:nvSpPr>
        <p:spPr>
          <a:xfrm>
            <a:off x="1516856" y="3048000"/>
            <a:ext cx="14288" cy="24765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72" name="Shape 68"/>
          <p:cNvSpPr/>
          <p:nvPr/>
        </p:nvSpPr>
        <p:spPr>
          <a:xfrm>
            <a:off x="1266825" y="3314700"/>
            <a:ext cx="514350" cy="5143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488"/>
            </a:solidFill>
            <a:prstDash val="solid"/>
          </a:ln>
        </p:spPr>
      </p:sp>
      <p:pic>
        <p:nvPicPr>
          <p:cNvPr id="73" name="Image 2" descr="/tmp/pptx/icons/userplu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225" y="3467100"/>
            <a:ext cx="209550" cy="209550"/>
          </a:xfrm>
          <a:prstGeom prst="rect">
            <a:avLst/>
          </a:prstGeom>
        </p:spPr>
      </p:pic>
      <p:sp>
        <p:nvSpPr>
          <p:cNvPr id="74" name="Text 69"/>
          <p:cNvSpPr txBox="1"/>
          <p:nvPr/>
        </p:nvSpPr>
        <p:spPr>
          <a:xfrm>
            <a:off x="719328" y="1571625"/>
            <a:ext cx="160934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25" b="1" kern="0" spc="165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Acquisition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recommendations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segmentation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scoring &amp; next-best-offer</a:t>
            </a:r>
            <a:endParaRPr lang="en-US" sz="825" dirty="0"/>
          </a:p>
        </p:txBody>
      </p:sp>
      <p:sp>
        <p:nvSpPr>
          <p:cNvPr id="75" name="Shape 70"/>
          <p:cNvSpPr/>
          <p:nvPr/>
        </p:nvSpPr>
        <p:spPr>
          <a:xfrm>
            <a:off x="3345656" y="3848100"/>
            <a:ext cx="14288" cy="24765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76" name="Shape 71"/>
          <p:cNvSpPr/>
          <p:nvPr/>
        </p:nvSpPr>
        <p:spPr>
          <a:xfrm>
            <a:off x="3095625" y="3314700"/>
            <a:ext cx="514350" cy="5143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488"/>
            </a:solidFill>
            <a:prstDash val="solid"/>
          </a:ln>
        </p:spPr>
      </p:sp>
      <p:pic>
        <p:nvPicPr>
          <p:cNvPr id="77" name="Image 3" descr="/tmp/pptx/icons/file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8025" y="3467100"/>
            <a:ext cx="209550" cy="209550"/>
          </a:xfrm>
          <a:prstGeom prst="rect">
            <a:avLst/>
          </a:prstGeom>
        </p:spPr>
      </p:pic>
      <p:sp>
        <p:nvSpPr>
          <p:cNvPr id="78" name="Text 72"/>
          <p:cNvSpPr txBox="1"/>
          <p:nvPr/>
        </p:nvSpPr>
        <p:spPr>
          <a:xfrm>
            <a:off x="2548128" y="4143375"/>
            <a:ext cx="160934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25" b="1" kern="0" spc="165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Underwriting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intelligence (OCR/NLP)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risk scoring &amp; pricing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Telematics &amp; IoT-based risk</a:t>
            </a:r>
            <a:endParaRPr lang="en-US" sz="825" dirty="0"/>
          </a:p>
        </p:txBody>
      </p:sp>
      <p:sp>
        <p:nvSpPr>
          <p:cNvPr id="79" name="Shape 73"/>
          <p:cNvSpPr/>
          <p:nvPr/>
        </p:nvSpPr>
        <p:spPr>
          <a:xfrm>
            <a:off x="5174456" y="3048000"/>
            <a:ext cx="14288" cy="24765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80" name="Shape 74"/>
          <p:cNvSpPr/>
          <p:nvPr/>
        </p:nvSpPr>
        <p:spPr>
          <a:xfrm>
            <a:off x="4924425" y="3314700"/>
            <a:ext cx="514350" cy="5143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488"/>
            </a:solidFill>
            <a:prstDash val="solid"/>
          </a:ln>
        </p:spPr>
      </p:sp>
      <p:pic>
        <p:nvPicPr>
          <p:cNvPr id="81" name="Image 4" descr="/tmp/pptx/icons/clip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6825" y="3467100"/>
            <a:ext cx="209550" cy="209550"/>
          </a:xfrm>
          <a:prstGeom prst="rect">
            <a:avLst/>
          </a:prstGeom>
        </p:spPr>
      </p:pic>
      <p:sp>
        <p:nvSpPr>
          <p:cNvPr id="82" name="Text 75"/>
          <p:cNvSpPr txBox="1"/>
          <p:nvPr/>
        </p:nvSpPr>
        <p:spPr>
          <a:xfrm>
            <a:off x="4376928" y="1571625"/>
            <a:ext cx="160934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25" b="1" kern="0" spc="165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Policy Administration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 validation &amp; extraction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AI-assisted issuance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document generation</a:t>
            </a:r>
            <a:endParaRPr lang="en-US" sz="825" dirty="0"/>
          </a:p>
        </p:txBody>
      </p:sp>
      <p:sp>
        <p:nvSpPr>
          <p:cNvPr id="83" name="Shape 76"/>
          <p:cNvSpPr/>
          <p:nvPr/>
        </p:nvSpPr>
        <p:spPr>
          <a:xfrm>
            <a:off x="7003256" y="3848100"/>
            <a:ext cx="14288" cy="24765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84" name="Shape 77"/>
          <p:cNvSpPr/>
          <p:nvPr/>
        </p:nvSpPr>
        <p:spPr>
          <a:xfrm>
            <a:off x="6753225" y="3314700"/>
            <a:ext cx="514350" cy="5143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488"/>
            </a:solidFill>
            <a:prstDash val="solid"/>
          </a:ln>
        </p:spPr>
      </p:sp>
      <p:pic>
        <p:nvPicPr>
          <p:cNvPr id="85" name="Image 5" descr="/tmp/pptx/icons/alert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5625" y="3467100"/>
            <a:ext cx="209550" cy="209550"/>
          </a:xfrm>
          <a:prstGeom prst="rect">
            <a:avLst/>
          </a:prstGeom>
        </p:spPr>
      </p:pic>
      <p:sp>
        <p:nvSpPr>
          <p:cNvPr id="86" name="Text 78"/>
          <p:cNvSpPr txBox="1"/>
          <p:nvPr/>
        </p:nvSpPr>
        <p:spPr>
          <a:xfrm>
            <a:off x="6205728" y="4143375"/>
            <a:ext cx="160934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25" b="1" kern="0" spc="165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Claims Management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24×7 FNOL </a:t>
            </a:r>
            <a:r>
              <a:rPr lang="en-US" sz="825" dirty="0" err="1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chatbots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Computer-vision damage estimates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detection &amp; STP settlement</a:t>
            </a:r>
            <a:endParaRPr lang="en-US" sz="825" dirty="0"/>
          </a:p>
        </p:txBody>
      </p:sp>
      <p:sp>
        <p:nvSpPr>
          <p:cNvPr id="87" name="Shape 79"/>
          <p:cNvSpPr/>
          <p:nvPr/>
        </p:nvSpPr>
        <p:spPr>
          <a:xfrm>
            <a:off x="8832056" y="3048000"/>
            <a:ext cx="14288" cy="24765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88" name="Shape 80"/>
          <p:cNvSpPr/>
          <p:nvPr/>
        </p:nvSpPr>
        <p:spPr>
          <a:xfrm>
            <a:off x="8582025" y="3314700"/>
            <a:ext cx="514350" cy="5143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488"/>
            </a:solidFill>
            <a:prstDash val="solid"/>
          </a:ln>
        </p:spPr>
      </p:sp>
      <p:pic>
        <p:nvPicPr>
          <p:cNvPr id="89" name="Image 6" descr="/tmp/pptx/icons/head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4425" y="3467100"/>
            <a:ext cx="209550" cy="209550"/>
          </a:xfrm>
          <a:prstGeom prst="rect">
            <a:avLst/>
          </a:prstGeom>
        </p:spPr>
      </p:pic>
      <p:sp>
        <p:nvSpPr>
          <p:cNvPr id="90" name="Text 81"/>
          <p:cNvSpPr txBox="1"/>
          <p:nvPr/>
        </p:nvSpPr>
        <p:spPr>
          <a:xfrm>
            <a:off x="8034528" y="1571625"/>
            <a:ext cx="160934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25" b="1" kern="0" spc="165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Service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chat &amp; voice assistants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knowledge search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response generation</a:t>
            </a:r>
            <a:endParaRPr lang="en-US" sz="825" dirty="0"/>
          </a:p>
        </p:txBody>
      </p:sp>
      <p:sp>
        <p:nvSpPr>
          <p:cNvPr id="91" name="Shape 82"/>
          <p:cNvSpPr/>
          <p:nvPr/>
        </p:nvSpPr>
        <p:spPr>
          <a:xfrm>
            <a:off x="10660856" y="3848100"/>
            <a:ext cx="14288" cy="24765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92" name="Shape 83"/>
          <p:cNvSpPr/>
          <p:nvPr/>
        </p:nvSpPr>
        <p:spPr>
          <a:xfrm>
            <a:off x="10410825" y="3314700"/>
            <a:ext cx="514350" cy="5143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488"/>
            </a:solidFill>
            <a:prstDash val="solid"/>
          </a:ln>
        </p:spPr>
      </p:sp>
      <p:pic>
        <p:nvPicPr>
          <p:cNvPr id="93" name="Image 7" descr="/tmp/pptx/icons/refresh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63225" y="3467100"/>
            <a:ext cx="209550" cy="209550"/>
          </a:xfrm>
          <a:prstGeom prst="rect">
            <a:avLst/>
          </a:prstGeom>
        </p:spPr>
      </p:pic>
      <p:sp>
        <p:nvSpPr>
          <p:cNvPr id="94" name="Text 84"/>
          <p:cNvSpPr txBox="1"/>
          <p:nvPr/>
        </p:nvSpPr>
        <p:spPr>
          <a:xfrm>
            <a:off x="9863328" y="4143375"/>
            <a:ext cx="160934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25" b="1" kern="0" spc="165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Renewals &amp; Retention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Renewal propensity models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prediction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Cross-sell &amp; upsell targeting</a:t>
            </a:r>
            <a:endParaRPr lang="en-US" sz="8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5334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609600" y="781050"/>
            <a:ext cx="10972800" cy="473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285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Composable Architecture?</a:t>
            </a:r>
            <a:endParaRPr lang="en-US" sz="2850" b="1" dirty="0"/>
          </a:p>
        </p:txBody>
      </p:sp>
      <p:sp>
        <p:nvSpPr>
          <p:cNvPr id="70" name="Shape 66"/>
          <p:cNvSpPr/>
          <p:nvPr/>
        </p:nvSpPr>
        <p:spPr>
          <a:xfrm>
            <a:off x="609600" y="1428750"/>
            <a:ext cx="10972800" cy="2857500"/>
          </a:xfrm>
          <a:prstGeom prst="roundRect">
            <a:avLst>
              <a:gd name="adj" fmla="val 6667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6096000" y="1428750"/>
            <a:ext cx="5486400" cy="2857500"/>
          </a:xfrm>
          <a:prstGeom prst="roundRect">
            <a:avLst>
              <a:gd name="adj" fmla="val 6667"/>
            </a:avLst>
          </a:prstGeom>
          <a:solidFill>
            <a:srgbClr val="0A5A5F"/>
          </a:solidFill>
          <a:ln/>
        </p:spPr>
      </p:sp>
      <p:sp>
        <p:nvSpPr>
          <p:cNvPr id="72" name="Shape 68"/>
          <p:cNvSpPr/>
          <p:nvPr/>
        </p:nvSpPr>
        <p:spPr>
          <a:xfrm>
            <a:off x="6096000" y="1428750"/>
            <a:ext cx="190500" cy="2857500"/>
          </a:xfrm>
          <a:prstGeom prst="rect">
            <a:avLst/>
          </a:prstGeom>
          <a:solidFill>
            <a:srgbClr val="0A5A5F"/>
          </a:solidFill>
          <a:ln/>
        </p:spPr>
      </p:sp>
      <p:sp>
        <p:nvSpPr>
          <p:cNvPr id="73" name="Shape 69"/>
          <p:cNvSpPr/>
          <p:nvPr/>
        </p:nvSpPr>
        <p:spPr>
          <a:xfrm>
            <a:off x="609600" y="1428750"/>
            <a:ext cx="10972800" cy="2857500"/>
          </a:xfrm>
          <a:prstGeom prst="roundRect">
            <a:avLst>
              <a:gd name="adj" fmla="val 6667"/>
            </a:avLst>
          </a:prstGeom>
          <a:ln w="12700">
            <a:solidFill>
              <a:srgbClr val="E5E8EB"/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952500" y="1695450"/>
            <a:ext cx="4800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5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Traditional Platform</a:t>
            </a:r>
            <a:endParaRPr lang="en-US" sz="1425" dirty="0"/>
          </a:p>
        </p:txBody>
      </p:sp>
      <p:pic>
        <p:nvPicPr>
          <p:cNvPr id="75" name="Image 2" descr="/tmp/pptx/icons/x_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209800"/>
            <a:ext cx="142875" cy="142875"/>
          </a:xfrm>
          <a:prstGeom prst="rect">
            <a:avLst/>
          </a:prstGeom>
        </p:spPr>
      </p:pic>
      <p:sp>
        <p:nvSpPr>
          <p:cNvPr id="76" name="Text 71"/>
          <p:cNvSpPr txBox="1"/>
          <p:nvPr/>
        </p:nvSpPr>
        <p:spPr>
          <a:xfrm>
            <a:off x="1209675" y="21907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monolithic application</a:t>
            </a:r>
            <a:endParaRPr lang="en-US" sz="975" dirty="0"/>
          </a:p>
        </p:txBody>
      </p:sp>
      <p:pic>
        <p:nvPicPr>
          <p:cNvPr id="77" name="Image 3" descr="/tmp/pptx/icons/x_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514600"/>
            <a:ext cx="142875" cy="142875"/>
          </a:xfrm>
          <a:prstGeom prst="rect">
            <a:avLst/>
          </a:prstGeom>
        </p:spPr>
      </p:pic>
      <p:sp>
        <p:nvSpPr>
          <p:cNvPr id="78" name="Text 72"/>
          <p:cNvSpPr txBox="1"/>
          <p:nvPr/>
        </p:nvSpPr>
        <p:spPr>
          <a:xfrm>
            <a:off x="1209675" y="24955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Tight coupling between modules</a:t>
            </a:r>
            <a:endParaRPr lang="en-US" sz="975" dirty="0"/>
          </a:p>
        </p:txBody>
      </p:sp>
      <p:pic>
        <p:nvPicPr>
          <p:cNvPr id="79" name="Image 4" descr="/tmp/pptx/icons/x_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819400"/>
            <a:ext cx="142875" cy="142875"/>
          </a:xfrm>
          <a:prstGeom prst="rect">
            <a:avLst/>
          </a:prstGeom>
        </p:spPr>
      </p:pic>
      <p:sp>
        <p:nvSpPr>
          <p:cNvPr id="80" name="Text 73"/>
          <p:cNvSpPr txBox="1"/>
          <p:nvPr/>
        </p:nvSpPr>
        <p:spPr>
          <a:xfrm>
            <a:off x="1209675" y="28003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release cycles</a:t>
            </a:r>
            <a:endParaRPr lang="en-US" sz="975" dirty="0"/>
          </a:p>
        </p:txBody>
      </p:sp>
      <p:pic>
        <p:nvPicPr>
          <p:cNvPr id="81" name="Image 5" descr="/tmp/pptx/icons/x_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124200"/>
            <a:ext cx="142875" cy="142875"/>
          </a:xfrm>
          <a:prstGeom prst="rect">
            <a:avLst/>
          </a:prstGeom>
        </p:spPr>
      </p:pic>
      <p:sp>
        <p:nvSpPr>
          <p:cNvPr id="82" name="Text 74"/>
          <p:cNvSpPr txBox="1"/>
          <p:nvPr/>
        </p:nvSpPr>
        <p:spPr>
          <a:xfrm>
            <a:off x="1209675" y="31051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Heavy customization</a:t>
            </a:r>
            <a:endParaRPr lang="en-US" sz="975" dirty="0"/>
          </a:p>
        </p:txBody>
      </p:sp>
      <p:pic>
        <p:nvPicPr>
          <p:cNvPr id="83" name="Image 6" descr="/tmp/pptx/icons/x_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429000"/>
            <a:ext cx="142875" cy="142875"/>
          </a:xfrm>
          <a:prstGeom prst="rect">
            <a:avLst/>
          </a:prstGeom>
        </p:spPr>
      </p:pic>
      <p:sp>
        <p:nvSpPr>
          <p:cNvPr id="84" name="Text 75"/>
          <p:cNvSpPr txBox="1"/>
          <p:nvPr/>
        </p:nvSpPr>
        <p:spPr>
          <a:xfrm>
            <a:off x="1209675" y="34099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Expensive, disruptive upgrades</a:t>
            </a:r>
            <a:endParaRPr lang="en-US" sz="975" dirty="0"/>
          </a:p>
        </p:txBody>
      </p:sp>
      <p:pic>
        <p:nvPicPr>
          <p:cNvPr id="85" name="Image 7" descr="/tmp/pptx/icons/x_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733800"/>
            <a:ext cx="142875" cy="142875"/>
          </a:xfrm>
          <a:prstGeom prst="rect">
            <a:avLst/>
          </a:prstGeom>
        </p:spPr>
      </p:pic>
      <p:sp>
        <p:nvSpPr>
          <p:cNvPr id="86" name="Text 76"/>
          <p:cNvSpPr txBox="1"/>
          <p:nvPr/>
        </p:nvSpPr>
        <p:spPr>
          <a:xfrm>
            <a:off x="1209675" y="37147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integrations</a:t>
            </a:r>
            <a:endParaRPr lang="en-US" sz="975" dirty="0"/>
          </a:p>
        </p:txBody>
      </p:sp>
      <p:sp>
        <p:nvSpPr>
          <p:cNvPr id="87" name="Text 77"/>
          <p:cNvSpPr txBox="1"/>
          <p:nvPr/>
        </p:nvSpPr>
        <p:spPr>
          <a:xfrm>
            <a:off x="6438900" y="1695450"/>
            <a:ext cx="4800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Composable Platform</a:t>
            </a:r>
            <a:endParaRPr lang="en-US" sz="1425" dirty="0"/>
          </a:p>
        </p:txBody>
      </p:sp>
      <p:pic>
        <p:nvPicPr>
          <p:cNvPr id="88" name="Image 8" descr="/tmp/pptx/icons/check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2209800"/>
            <a:ext cx="142875" cy="142875"/>
          </a:xfrm>
          <a:prstGeom prst="rect">
            <a:avLst/>
          </a:prstGeom>
        </p:spPr>
      </p:pic>
      <p:sp>
        <p:nvSpPr>
          <p:cNvPr id="89" name="Text 78"/>
          <p:cNvSpPr txBox="1"/>
          <p:nvPr/>
        </p:nvSpPr>
        <p:spPr>
          <a:xfrm>
            <a:off x="6696075" y="21907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E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business capabilities</a:t>
            </a:r>
            <a:endParaRPr lang="en-US" sz="975" dirty="0"/>
          </a:p>
        </p:txBody>
      </p:sp>
      <p:pic>
        <p:nvPicPr>
          <p:cNvPr id="90" name="Image 9" descr="/tmp/pptx/icons/check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2514600"/>
            <a:ext cx="142875" cy="142875"/>
          </a:xfrm>
          <a:prstGeom prst="rect">
            <a:avLst/>
          </a:prstGeom>
        </p:spPr>
      </p:pic>
      <p:sp>
        <p:nvSpPr>
          <p:cNvPr id="91" name="Text 79"/>
          <p:cNvSpPr txBox="1"/>
          <p:nvPr/>
        </p:nvSpPr>
        <p:spPr>
          <a:xfrm>
            <a:off x="6696075" y="24955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E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API-first architecture</a:t>
            </a:r>
            <a:endParaRPr lang="en-US" sz="975" dirty="0"/>
          </a:p>
        </p:txBody>
      </p:sp>
      <p:pic>
        <p:nvPicPr>
          <p:cNvPr id="92" name="Image 10" descr="/tmp/pptx/icons/check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2819400"/>
            <a:ext cx="142875" cy="142875"/>
          </a:xfrm>
          <a:prstGeom prst="rect">
            <a:avLst/>
          </a:prstGeom>
        </p:spPr>
      </p:pic>
      <p:sp>
        <p:nvSpPr>
          <p:cNvPr id="93" name="Text 80"/>
          <p:cNvSpPr txBox="1"/>
          <p:nvPr/>
        </p:nvSpPr>
        <p:spPr>
          <a:xfrm>
            <a:off x="6696075" y="28003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E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Microservices deployment</a:t>
            </a:r>
            <a:endParaRPr lang="en-US" sz="975" dirty="0"/>
          </a:p>
        </p:txBody>
      </p:sp>
      <p:pic>
        <p:nvPicPr>
          <p:cNvPr id="94" name="Image 11" descr="/tmp/pptx/icons/check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3124200"/>
            <a:ext cx="142875" cy="142875"/>
          </a:xfrm>
          <a:prstGeom prst="rect">
            <a:avLst/>
          </a:prstGeom>
        </p:spPr>
      </p:pic>
      <p:sp>
        <p:nvSpPr>
          <p:cNvPr id="95" name="Text 81"/>
          <p:cNvSpPr txBox="1"/>
          <p:nvPr/>
        </p:nvSpPr>
        <p:spPr>
          <a:xfrm>
            <a:off x="6696075" y="31051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E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over customization</a:t>
            </a:r>
            <a:endParaRPr lang="en-US" sz="975" dirty="0"/>
          </a:p>
        </p:txBody>
      </p:sp>
      <p:pic>
        <p:nvPicPr>
          <p:cNvPr id="96" name="Image 12" descr="/tmp/pptx/icons/check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3429000"/>
            <a:ext cx="142875" cy="142875"/>
          </a:xfrm>
          <a:prstGeom prst="rect">
            <a:avLst/>
          </a:prstGeom>
        </p:spPr>
      </p:pic>
      <p:sp>
        <p:nvSpPr>
          <p:cNvPr id="97" name="Text 82"/>
          <p:cNvSpPr txBox="1"/>
          <p:nvPr/>
        </p:nvSpPr>
        <p:spPr>
          <a:xfrm>
            <a:off x="6696075" y="34099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E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upgrades</a:t>
            </a:r>
            <a:endParaRPr lang="en-US" sz="975" dirty="0"/>
          </a:p>
        </p:txBody>
      </p:sp>
      <p:pic>
        <p:nvPicPr>
          <p:cNvPr id="98" name="Image 13" descr="/tmp/pptx/icons/check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3733800"/>
            <a:ext cx="142875" cy="142875"/>
          </a:xfrm>
          <a:prstGeom prst="rect">
            <a:avLst/>
          </a:prstGeom>
        </p:spPr>
      </p:pic>
      <p:sp>
        <p:nvSpPr>
          <p:cNvPr id="99" name="Text 83"/>
          <p:cNvSpPr txBox="1"/>
          <p:nvPr/>
        </p:nvSpPr>
        <p:spPr>
          <a:xfrm>
            <a:off x="6696075" y="37147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E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Plug-and-play integrations</a:t>
            </a:r>
            <a:endParaRPr lang="en-US" sz="975" dirty="0"/>
          </a:p>
        </p:txBody>
      </p:sp>
      <p:sp>
        <p:nvSpPr>
          <p:cNvPr id="100" name="Shape 84"/>
          <p:cNvSpPr/>
          <p:nvPr/>
        </p:nvSpPr>
        <p:spPr>
          <a:xfrm>
            <a:off x="5819775" y="2581275"/>
            <a:ext cx="552450" cy="5524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02" name="Shape 85"/>
          <p:cNvSpPr/>
          <p:nvPr/>
        </p:nvSpPr>
        <p:spPr>
          <a:xfrm>
            <a:off x="1481546" y="4829175"/>
            <a:ext cx="8763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03" name="Text 86"/>
          <p:cNvSpPr txBox="1"/>
          <p:nvPr/>
        </p:nvSpPr>
        <p:spPr>
          <a:xfrm>
            <a:off x="1714500" y="4829175"/>
            <a:ext cx="857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Months</a:t>
            </a:r>
            <a:endParaRPr lang="en-US" sz="1200" dirty="0"/>
          </a:p>
        </p:txBody>
      </p:sp>
      <p:sp>
        <p:nvSpPr>
          <p:cNvPr id="105" name="Text 87"/>
          <p:cNvSpPr txBox="1"/>
          <p:nvPr/>
        </p:nvSpPr>
        <p:spPr>
          <a:xfrm>
            <a:off x="3087198" y="4829175"/>
            <a:ext cx="762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Weeks</a:t>
            </a:r>
            <a:endParaRPr lang="en-US" sz="1200" dirty="0"/>
          </a:p>
        </p:txBody>
      </p:sp>
      <p:sp>
        <p:nvSpPr>
          <p:cNvPr id="108" name="Text 90"/>
          <p:cNvSpPr txBox="1"/>
          <p:nvPr/>
        </p:nvSpPr>
        <p:spPr>
          <a:xfrm>
            <a:off x="3785667" y="4819650"/>
            <a:ext cx="58900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introduce new capabilities</a:t>
            </a:r>
            <a:r>
              <a:rPr lang="en-US" sz="105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deploy independently, upgrade continuously.</a:t>
            </a:r>
            <a:endParaRPr lang="en-US" sz="1050" dirty="0"/>
          </a:p>
        </p:txBody>
      </p:sp>
      <p:sp>
        <p:nvSpPr>
          <p:cNvPr id="109" name="Shape 91"/>
          <p:cNvSpPr/>
          <p:nvPr/>
        </p:nvSpPr>
        <p:spPr>
          <a:xfrm>
            <a:off x="1466850" y="5676900"/>
            <a:ext cx="8763000" cy="323850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0" name="Shape 92"/>
          <p:cNvSpPr/>
          <p:nvPr/>
        </p:nvSpPr>
        <p:spPr>
          <a:xfrm>
            <a:off x="1695450" y="5805488"/>
            <a:ext cx="66675" cy="66675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11" name="Text 93"/>
          <p:cNvSpPr txBox="1"/>
          <p:nvPr/>
        </p:nvSpPr>
        <p:spPr>
          <a:xfrm>
            <a:off x="1857375" y="5676900"/>
            <a:ext cx="819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 Impact:</a:t>
            </a:r>
            <a:r>
              <a:rPr lang="en-US" sz="120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smtClean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Faster </a:t>
            </a:r>
            <a:r>
              <a:rPr lang="en-US" sz="120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launches, lower change costs, independent scaling, and continuous innovation.</a:t>
            </a:r>
            <a:endParaRPr lang="en-US" sz="1200" dirty="0"/>
          </a:p>
        </p:txBody>
      </p:sp>
      <p:sp>
        <p:nvSpPr>
          <p:cNvPr id="112" name="Right Arrow 111"/>
          <p:cNvSpPr/>
          <p:nvPr/>
        </p:nvSpPr>
        <p:spPr>
          <a:xfrm>
            <a:off x="5937888" y="2705100"/>
            <a:ext cx="384657" cy="304800"/>
          </a:xfrm>
          <a:prstGeom prst="rightArrow">
            <a:avLst/>
          </a:prstGeom>
          <a:solidFill>
            <a:srgbClr val="F6991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Right Arrow 112"/>
          <p:cNvSpPr/>
          <p:nvPr/>
        </p:nvSpPr>
        <p:spPr>
          <a:xfrm>
            <a:off x="2491372" y="4876800"/>
            <a:ext cx="384657" cy="304800"/>
          </a:xfrm>
          <a:prstGeom prst="rightArrow">
            <a:avLst/>
          </a:prstGeom>
          <a:solidFill>
            <a:srgbClr val="EAF7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4" name="Image 0" descr="/tmp/pptx/img/moti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13335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ANSWER · STATIM VISION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609600" y="1638300"/>
            <a:ext cx="10287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300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</a:t>
            </a:r>
            <a:r>
              <a:rPr lang="en-US" sz="3000" b="1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AI‑powered</a:t>
            </a:r>
            <a:r>
              <a:rPr lang="en-US" sz="300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</a:t>
            </a:r>
            <a:r>
              <a:rPr lang="en-US" sz="3000" b="1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composable</a:t>
            </a:r>
            <a:r>
              <a:rPr lang="en-US" sz="300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cloud‑native platform that helps insurers </a:t>
            </a:r>
            <a:r>
              <a:rPr lang="en-US" sz="3000" b="1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launch faster</a:t>
            </a:r>
            <a:r>
              <a:rPr lang="en-US" sz="300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operate </a:t>
            </a:r>
            <a:r>
              <a:rPr lang="en-US" sz="3000" b="1" dirty="0" smtClean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leaner </a:t>
            </a:r>
            <a:r>
              <a:rPr lang="en-US" sz="300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compete in the global digital insurance ecosystem.</a:t>
            </a:r>
            <a:endParaRPr lang="en-US" sz="3000" dirty="0"/>
          </a:p>
        </p:txBody>
      </p:sp>
      <p:sp>
        <p:nvSpPr>
          <p:cNvPr id="70" name="Shape 66"/>
          <p:cNvSpPr/>
          <p:nvPr/>
        </p:nvSpPr>
        <p:spPr>
          <a:xfrm>
            <a:off x="609600" y="3829050"/>
            <a:ext cx="3098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71" name="Image 2" descr="/tmp/pptx/icons/cpu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957638"/>
            <a:ext cx="142875" cy="142875"/>
          </a:xfrm>
          <a:prstGeom prst="rect">
            <a:avLst/>
          </a:prstGeom>
        </p:spPr>
      </p:pic>
      <p:sp>
        <p:nvSpPr>
          <p:cNvPr id="72" name="Text 67"/>
          <p:cNvSpPr txBox="1"/>
          <p:nvPr/>
        </p:nvSpPr>
        <p:spPr>
          <a:xfrm>
            <a:off x="1038225" y="3829050"/>
            <a:ext cx="2527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Powered</a:t>
            </a: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decision support across the lifecycle</a:t>
            </a:r>
            <a:endParaRPr lang="en-US" sz="975" dirty="0"/>
          </a:p>
        </p:txBody>
      </p:sp>
      <p:sp>
        <p:nvSpPr>
          <p:cNvPr id="73" name="Shape 68"/>
          <p:cNvSpPr/>
          <p:nvPr/>
        </p:nvSpPr>
        <p:spPr>
          <a:xfrm>
            <a:off x="3822700" y="3829050"/>
            <a:ext cx="3098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74" name="Image 3" descr="/tmp/pptx/icons/grid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3200" y="3957638"/>
            <a:ext cx="142875" cy="142875"/>
          </a:xfrm>
          <a:prstGeom prst="rect">
            <a:avLst/>
          </a:prstGeom>
        </p:spPr>
      </p:pic>
      <p:sp>
        <p:nvSpPr>
          <p:cNvPr id="75" name="Text 69"/>
          <p:cNvSpPr txBox="1"/>
          <p:nvPr/>
        </p:nvSpPr>
        <p:spPr>
          <a:xfrm>
            <a:off x="4251325" y="3829050"/>
            <a:ext cx="2527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Composable</a:t>
            </a: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modular business capabilities</a:t>
            </a:r>
            <a:endParaRPr lang="en-US" sz="975" dirty="0"/>
          </a:p>
        </p:txBody>
      </p:sp>
      <p:sp>
        <p:nvSpPr>
          <p:cNvPr id="76" name="Shape 70"/>
          <p:cNvSpPr/>
          <p:nvPr/>
        </p:nvSpPr>
        <p:spPr>
          <a:xfrm>
            <a:off x="7035800" y="3829050"/>
            <a:ext cx="3098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77" name="Image 4" descr="/tmp/pptx/icons/share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6300" y="3957638"/>
            <a:ext cx="142875" cy="142875"/>
          </a:xfrm>
          <a:prstGeom prst="rect">
            <a:avLst/>
          </a:prstGeom>
        </p:spPr>
      </p:pic>
      <p:sp>
        <p:nvSpPr>
          <p:cNvPr id="78" name="Text 71"/>
          <p:cNvSpPr txBox="1"/>
          <p:nvPr/>
        </p:nvSpPr>
        <p:spPr>
          <a:xfrm>
            <a:off x="7464425" y="3829050"/>
            <a:ext cx="2527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Digital Ecosystem</a:t>
            </a: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partners &amp; marketplaces</a:t>
            </a:r>
            <a:endParaRPr lang="en-US" sz="975" dirty="0"/>
          </a:p>
        </p:txBody>
      </p:sp>
      <p:sp>
        <p:nvSpPr>
          <p:cNvPr id="79" name="Shape 72"/>
          <p:cNvSpPr/>
          <p:nvPr/>
        </p:nvSpPr>
        <p:spPr>
          <a:xfrm>
            <a:off x="609600" y="4343400"/>
            <a:ext cx="3098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80" name="Image 5" descr="/tmp/pptx/icons/sliders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471988"/>
            <a:ext cx="142875" cy="142875"/>
          </a:xfrm>
          <a:prstGeom prst="rect">
            <a:avLst/>
          </a:prstGeom>
        </p:spPr>
      </p:pic>
      <p:sp>
        <p:nvSpPr>
          <p:cNvPr id="81" name="Text 73"/>
          <p:cNvSpPr txBox="1"/>
          <p:nvPr/>
        </p:nvSpPr>
        <p:spPr>
          <a:xfrm>
            <a:off x="1038225" y="4343400"/>
            <a:ext cx="2527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Configuration First</a:t>
            </a: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agility without code</a:t>
            </a:r>
            <a:endParaRPr lang="en-US" sz="975" dirty="0"/>
          </a:p>
        </p:txBody>
      </p:sp>
      <p:sp>
        <p:nvSpPr>
          <p:cNvPr id="82" name="Shape 74"/>
          <p:cNvSpPr/>
          <p:nvPr/>
        </p:nvSpPr>
        <p:spPr>
          <a:xfrm>
            <a:off x="3822700" y="4343400"/>
            <a:ext cx="3098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83" name="Image 6" descr="/tmp/pptx/icons/globe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3200" y="4471988"/>
            <a:ext cx="142875" cy="142875"/>
          </a:xfrm>
          <a:prstGeom prst="rect">
            <a:avLst/>
          </a:prstGeom>
        </p:spPr>
      </p:pic>
      <p:sp>
        <p:nvSpPr>
          <p:cNvPr id="84" name="Text 75"/>
          <p:cNvSpPr txBox="1"/>
          <p:nvPr/>
        </p:nvSpPr>
        <p:spPr>
          <a:xfrm>
            <a:off x="4251325" y="4343400"/>
            <a:ext cx="2527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Ready</a:t>
            </a: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multi-country · currency · language</a:t>
            </a:r>
            <a:endParaRPr lang="en-US" sz="975" dirty="0"/>
          </a:p>
        </p:txBody>
      </p:sp>
      <p:sp>
        <p:nvSpPr>
          <p:cNvPr id="85" name="Shape 76"/>
          <p:cNvSpPr/>
          <p:nvPr/>
        </p:nvSpPr>
        <p:spPr>
          <a:xfrm>
            <a:off x="7035800" y="4343400"/>
            <a:ext cx="3098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86" name="Image 7" descr="/tmp/pptx/icons/cloud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6300" y="4471988"/>
            <a:ext cx="142875" cy="142875"/>
          </a:xfrm>
          <a:prstGeom prst="rect">
            <a:avLst/>
          </a:prstGeom>
        </p:spPr>
      </p:pic>
      <p:sp>
        <p:nvSpPr>
          <p:cNvPr id="87" name="Text 77"/>
          <p:cNvSpPr txBox="1"/>
          <p:nvPr/>
        </p:nvSpPr>
        <p:spPr>
          <a:xfrm>
            <a:off x="7464425" y="4343400"/>
            <a:ext cx="2527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 </a:t>
            </a:r>
            <a:r>
              <a:rPr lang="en-US" sz="975" b="1" dirty="0" smtClean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Ready</a:t>
            </a:r>
            <a:r>
              <a:rPr lang="en-US" sz="825" dirty="0" smtClean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</a:t>
            </a: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scalable, resilient, always on</a:t>
            </a:r>
            <a:endParaRPr lang="en-US" sz="9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5334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WE STAND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609600" y="781050"/>
            <a:ext cx="10972800" cy="41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85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STATIM Platform Today</a:t>
            </a:r>
            <a:endParaRPr lang="en-US" sz="2850" dirty="0"/>
          </a:p>
        </p:txBody>
      </p:sp>
      <p:sp>
        <p:nvSpPr>
          <p:cNvPr id="70" name="Shape 66"/>
          <p:cNvSpPr/>
          <p:nvPr/>
        </p:nvSpPr>
        <p:spPr>
          <a:xfrm>
            <a:off x="609600" y="1428750"/>
            <a:ext cx="8343900" cy="4000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609600" y="1428750"/>
            <a:ext cx="1638300" cy="400050"/>
          </a:xfrm>
          <a:prstGeom prst="roundRect">
            <a:avLst>
              <a:gd name="adj" fmla="val 33333"/>
            </a:avLst>
          </a:prstGeom>
          <a:solidFill>
            <a:srgbClr val="123B63"/>
          </a:solidFill>
          <a:ln/>
        </p:spPr>
      </p:sp>
      <p:sp>
        <p:nvSpPr>
          <p:cNvPr id="72" name="Shape 68"/>
          <p:cNvSpPr/>
          <p:nvPr/>
        </p:nvSpPr>
        <p:spPr>
          <a:xfrm>
            <a:off x="2095500" y="1428750"/>
            <a:ext cx="152400" cy="400050"/>
          </a:xfrm>
          <a:prstGeom prst="rect">
            <a:avLst/>
          </a:prstGeom>
          <a:solidFill>
            <a:srgbClr val="123B63"/>
          </a:solidFill>
          <a:ln/>
        </p:spPr>
      </p:sp>
      <p:sp>
        <p:nvSpPr>
          <p:cNvPr id="73" name="Text 69"/>
          <p:cNvSpPr txBox="1"/>
          <p:nvPr/>
        </p:nvSpPr>
        <p:spPr>
          <a:xfrm>
            <a:off x="781050" y="1495425"/>
            <a:ext cx="1352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5" b="1" kern="0" spc="4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</a:t>
            </a:r>
            <a:endParaRPr lang="en-US" sz="1125" dirty="0"/>
          </a:p>
        </p:txBody>
      </p:sp>
      <p:sp>
        <p:nvSpPr>
          <p:cNvPr id="74" name="Text 70"/>
          <p:cNvSpPr txBox="1"/>
          <p:nvPr/>
        </p:nvSpPr>
        <p:spPr>
          <a:xfrm>
            <a:off x="781050" y="1666875"/>
            <a:ext cx="14097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kern="0" spc="135" dirty="0">
                <a:solidFill>
                  <a:srgbClr val="CFE3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LIFECYCLE</a:t>
            </a:r>
            <a:endParaRPr lang="en-US" sz="750" dirty="0"/>
          </a:p>
        </p:txBody>
      </p:sp>
      <p:sp>
        <p:nvSpPr>
          <p:cNvPr id="75" name="Shape 71"/>
          <p:cNvSpPr/>
          <p:nvPr/>
        </p:nvSpPr>
        <p:spPr>
          <a:xfrm>
            <a:off x="2419350" y="1514475"/>
            <a:ext cx="643890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2419350" y="1514475"/>
            <a:ext cx="643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Policy</a:t>
            </a: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3139440" y="1514475"/>
            <a:ext cx="643890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8" name="Text 74"/>
          <p:cNvSpPr txBox="1"/>
          <p:nvPr/>
        </p:nvSpPr>
        <p:spPr>
          <a:xfrm>
            <a:off x="3139440" y="1514475"/>
            <a:ext cx="643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Claims</a:t>
            </a:r>
            <a:endParaRPr lang="en-US" sz="900" dirty="0"/>
          </a:p>
        </p:txBody>
      </p:sp>
      <p:sp>
        <p:nvSpPr>
          <p:cNvPr id="79" name="Shape 75"/>
          <p:cNvSpPr/>
          <p:nvPr/>
        </p:nvSpPr>
        <p:spPr>
          <a:xfrm>
            <a:off x="3859530" y="1514475"/>
            <a:ext cx="706755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0" name="Text 76"/>
          <p:cNvSpPr txBox="1"/>
          <p:nvPr/>
        </p:nvSpPr>
        <p:spPr>
          <a:xfrm>
            <a:off x="3859530" y="1514475"/>
            <a:ext cx="7067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Billing</a:t>
            </a:r>
            <a:endParaRPr lang="en-US" sz="900" dirty="0"/>
          </a:p>
        </p:txBody>
      </p:sp>
      <p:sp>
        <p:nvSpPr>
          <p:cNvPr id="81" name="Shape 77"/>
          <p:cNvSpPr/>
          <p:nvPr/>
        </p:nvSpPr>
        <p:spPr>
          <a:xfrm>
            <a:off x="4642485" y="1514475"/>
            <a:ext cx="895350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4642485" y="1514475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Commission</a:t>
            </a:r>
            <a:endParaRPr lang="en-US" sz="900" dirty="0"/>
          </a:p>
        </p:txBody>
      </p:sp>
      <p:sp>
        <p:nvSpPr>
          <p:cNvPr id="83" name="Shape 79"/>
          <p:cNvSpPr/>
          <p:nvPr/>
        </p:nvSpPr>
        <p:spPr>
          <a:xfrm>
            <a:off x="5614035" y="1514475"/>
            <a:ext cx="958215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4" name="Text 80"/>
          <p:cNvSpPr txBox="1"/>
          <p:nvPr/>
        </p:nvSpPr>
        <p:spPr>
          <a:xfrm>
            <a:off x="5614035" y="1514475"/>
            <a:ext cx="958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Reinsurance</a:t>
            </a:r>
            <a:endParaRPr lang="en-US" sz="900" dirty="0"/>
          </a:p>
        </p:txBody>
      </p:sp>
      <p:sp>
        <p:nvSpPr>
          <p:cNvPr id="85" name="Shape 81"/>
          <p:cNvSpPr/>
          <p:nvPr/>
        </p:nvSpPr>
        <p:spPr>
          <a:xfrm>
            <a:off x="609600" y="1895475"/>
            <a:ext cx="8343900" cy="4000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609600" y="1895475"/>
            <a:ext cx="1638300" cy="400050"/>
          </a:xfrm>
          <a:prstGeom prst="roundRect">
            <a:avLst>
              <a:gd name="adj" fmla="val 33333"/>
            </a:avLst>
          </a:prstGeom>
          <a:solidFill>
            <a:srgbClr val="0C7F87"/>
          </a:solidFill>
          <a:ln/>
        </p:spPr>
      </p:sp>
      <p:sp>
        <p:nvSpPr>
          <p:cNvPr id="87" name="Shape 83"/>
          <p:cNvSpPr/>
          <p:nvPr/>
        </p:nvSpPr>
        <p:spPr>
          <a:xfrm>
            <a:off x="2095500" y="1895475"/>
            <a:ext cx="152400" cy="400050"/>
          </a:xfrm>
          <a:prstGeom prst="rect">
            <a:avLst/>
          </a:prstGeom>
          <a:solidFill>
            <a:srgbClr val="0C7F87"/>
          </a:solidFill>
          <a:ln/>
        </p:spPr>
      </p:sp>
      <p:sp>
        <p:nvSpPr>
          <p:cNvPr id="88" name="Text 84"/>
          <p:cNvSpPr txBox="1"/>
          <p:nvPr/>
        </p:nvSpPr>
        <p:spPr>
          <a:xfrm>
            <a:off x="781050" y="1962150"/>
            <a:ext cx="1352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5" b="1" kern="0" spc="4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DIGITAL</a:t>
            </a:r>
            <a:endParaRPr lang="en-US" sz="1125" dirty="0"/>
          </a:p>
        </p:txBody>
      </p:sp>
      <p:sp>
        <p:nvSpPr>
          <p:cNvPr id="89" name="Text 85"/>
          <p:cNvSpPr txBox="1"/>
          <p:nvPr/>
        </p:nvSpPr>
        <p:spPr>
          <a:xfrm>
            <a:off x="781050" y="2133600"/>
            <a:ext cx="14097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kern="0" spc="135" dirty="0">
                <a:solidFill>
                  <a:srgbClr val="CFE3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</a:t>
            </a:r>
            <a:endParaRPr lang="en-US" sz="750" dirty="0"/>
          </a:p>
        </p:txBody>
      </p:sp>
      <p:sp>
        <p:nvSpPr>
          <p:cNvPr id="90" name="Shape 86"/>
          <p:cNvSpPr/>
          <p:nvPr/>
        </p:nvSpPr>
        <p:spPr>
          <a:xfrm>
            <a:off x="2419350" y="1981200"/>
            <a:ext cx="1146810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91" name="Text 87"/>
          <p:cNvSpPr txBox="1"/>
          <p:nvPr/>
        </p:nvSpPr>
        <p:spPr>
          <a:xfrm>
            <a:off x="2419350" y="1981200"/>
            <a:ext cx="1146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Partner Portal</a:t>
            </a:r>
            <a:endParaRPr lang="en-US" sz="900" dirty="0"/>
          </a:p>
        </p:txBody>
      </p:sp>
      <p:sp>
        <p:nvSpPr>
          <p:cNvPr id="92" name="Shape 88"/>
          <p:cNvSpPr/>
          <p:nvPr/>
        </p:nvSpPr>
        <p:spPr>
          <a:xfrm>
            <a:off x="3642360" y="1981200"/>
            <a:ext cx="1209675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93" name="Text 89"/>
          <p:cNvSpPr txBox="1"/>
          <p:nvPr/>
        </p:nvSpPr>
        <p:spPr>
          <a:xfrm>
            <a:off x="3642360" y="1981200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Portal</a:t>
            </a:r>
            <a:endParaRPr lang="en-US" sz="900" dirty="0"/>
          </a:p>
        </p:txBody>
      </p:sp>
      <p:sp>
        <p:nvSpPr>
          <p:cNvPr id="94" name="Shape 90"/>
          <p:cNvSpPr/>
          <p:nvPr/>
        </p:nvSpPr>
        <p:spPr>
          <a:xfrm>
            <a:off x="4928235" y="1981200"/>
            <a:ext cx="643890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95" name="Text 91"/>
          <p:cNvSpPr txBox="1"/>
          <p:nvPr/>
        </p:nvSpPr>
        <p:spPr>
          <a:xfrm>
            <a:off x="4928235" y="1981200"/>
            <a:ext cx="643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Mobile</a:t>
            </a:r>
            <a:endParaRPr lang="en-US" sz="900" dirty="0"/>
          </a:p>
        </p:txBody>
      </p:sp>
      <p:sp>
        <p:nvSpPr>
          <p:cNvPr id="96" name="Shape 92"/>
          <p:cNvSpPr/>
          <p:nvPr/>
        </p:nvSpPr>
        <p:spPr>
          <a:xfrm>
            <a:off x="609600" y="2362200"/>
            <a:ext cx="8343900" cy="4000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609600" y="2362200"/>
            <a:ext cx="1638300" cy="400050"/>
          </a:xfrm>
          <a:prstGeom prst="roundRect">
            <a:avLst>
              <a:gd name="adj" fmla="val 33333"/>
            </a:avLst>
          </a:prstGeom>
          <a:solidFill>
            <a:srgbClr val="0FA298"/>
          </a:solidFill>
          <a:ln/>
        </p:spPr>
      </p:sp>
      <p:sp>
        <p:nvSpPr>
          <p:cNvPr id="98" name="Shape 94"/>
          <p:cNvSpPr/>
          <p:nvPr/>
        </p:nvSpPr>
        <p:spPr>
          <a:xfrm>
            <a:off x="2095500" y="2362200"/>
            <a:ext cx="152400" cy="400050"/>
          </a:xfrm>
          <a:prstGeom prst="rect">
            <a:avLst/>
          </a:prstGeom>
          <a:solidFill>
            <a:srgbClr val="0FA298"/>
          </a:solidFill>
          <a:ln/>
        </p:spPr>
      </p:sp>
      <p:sp>
        <p:nvSpPr>
          <p:cNvPr id="99" name="Text 95"/>
          <p:cNvSpPr txBox="1"/>
          <p:nvPr/>
        </p:nvSpPr>
        <p:spPr>
          <a:xfrm>
            <a:off x="781050" y="2428875"/>
            <a:ext cx="1352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5" b="1" kern="0" spc="4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INTELLIGENCE</a:t>
            </a:r>
            <a:endParaRPr lang="en-US" sz="1125" dirty="0"/>
          </a:p>
        </p:txBody>
      </p:sp>
      <p:sp>
        <p:nvSpPr>
          <p:cNvPr id="100" name="Text 96"/>
          <p:cNvSpPr txBox="1"/>
          <p:nvPr/>
        </p:nvSpPr>
        <p:spPr>
          <a:xfrm>
            <a:off x="781050" y="2600325"/>
            <a:ext cx="14097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kern="0" spc="135" dirty="0">
                <a:solidFill>
                  <a:srgbClr val="CFE3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DECISIONING</a:t>
            </a:r>
            <a:endParaRPr lang="en-US" sz="750" dirty="0"/>
          </a:p>
        </p:txBody>
      </p:sp>
      <p:sp>
        <p:nvSpPr>
          <p:cNvPr id="101" name="Shape 97"/>
          <p:cNvSpPr/>
          <p:nvPr/>
        </p:nvSpPr>
        <p:spPr>
          <a:xfrm>
            <a:off x="2419350" y="2447925"/>
            <a:ext cx="581025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02" name="Text 98"/>
          <p:cNvSpPr txBox="1"/>
          <p:nvPr/>
        </p:nvSpPr>
        <p:spPr>
          <a:xfrm>
            <a:off x="2419350" y="2447925"/>
            <a:ext cx="58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Rules</a:t>
            </a:r>
            <a:endParaRPr lang="en-US" sz="900" dirty="0"/>
          </a:p>
        </p:txBody>
      </p:sp>
      <p:sp>
        <p:nvSpPr>
          <p:cNvPr id="103" name="Shape 99"/>
          <p:cNvSpPr/>
          <p:nvPr/>
        </p:nvSpPr>
        <p:spPr>
          <a:xfrm>
            <a:off x="3076575" y="2447925"/>
            <a:ext cx="643890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04" name="Text 100"/>
          <p:cNvSpPr txBox="1"/>
          <p:nvPr/>
        </p:nvSpPr>
        <p:spPr>
          <a:xfrm>
            <a:off x="3076575" y="2447925"/>
            <a:ext cx="643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Rating</a:t>
            </a:r>
            <a:endParaRPr lang="en-US" sz="900" dirty="0"/>
          </a:p>
        </p:txBody>
      </p:sp>
      <p:sp>
        <p:nvSpPr>
          <p:cNvPr id="105" name="Shape 101"/>
          <p:cNvSpPr/>
          <p:nvPr/>
        </p:nvSpPr>
        <p:spPr>
          <a:xfrm>
            <a:off x="3796665" y="2447925"/>
            <a:ext cx="769620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06" name="Text 102"/>
          <p:cNvSpPr txBox="1"/>
          <p:nvPr/>
        </p:nvSpPr>
        <p:spPr>
          <a:xfrm>
            <a:off x="3796665" y="2447925"/>
            <a:ext cx="769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Workflow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4642485" y="2447925"/>
            <a:ext cx="706755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08" name="Text 104"/>
          <p:cNvSpPr txBox="1"/>
          <p:nvPr/>
        </p:nvSpPr>
        <p:spPr>
          <a:xfrm>
            <a:off x="4642485" y="2447925"/>
            <a:ext cx="7067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Dunning</a:t>
            </a:r>
            <a:endParaRPr lang="en-US" sz="900" dirty="0"/>
          </a:p>
        </p:txBody>
      </p:sp>
      <p:sp>
        <p:nvSpPr>
          <p:cNvPr id="109" name="Shape 105"/>
          <p:cNvSpPr/>
          <p:nvPr/>
        </p:nvSpPr>
        <p:spPr>
          <a:xfrm>
            <a:off x="609600" y="2828925"/>
            <a:ext cx="8343900" cy="4000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609600" y="2828925"/>
            <a:ext cx="1638300" cy="400050"/>
          </a:xfrm>
          <a:prstGeom prst="roundRect">
            <a:avLst>
              <a:gd name="adj" fmla="val 33333"/>
            </a:avLst>
          </a:prstGeom>
          <a:solidFill>
            <a:srgbClr val="40617B"/>
          </a:solidFill>
          <a:ln/>
        </p:spPr>
      </p:sp>
      <p:sp>
        <p:nvSpPr>
          <p:cNvPr id="111" name="Shape 107"/>
          <p:cNvSpPr/>
          <p:nvPr/>
        </p:nvSpPr>
        <p:spPr>
          <a:xfrm>
            <a:off x="2095500" y="2828925"/>
            <a:ext cx="152400" cy="400050"/>
          </a:xfrm>
          <a:prstGeom prst="rect">
            <a:avLst/>
          </a:prstGeom>
          <a:solidFill>
            <a:srgbClr val="40617B"/>
          </a:solidFill>
          <a:ln/>
        </p:spPr>
      </p:sp>
      <p:sp>
        <p:nvSpPr>
          <p:cNvPr id="112" name="Text 108"/>
          <p:cNvSpPr txBox="1"/>
          <p:nvPr/>
        </p:nvSpPr>
        <p:spPr>
          <a:xfrm>
            <a:off x="781050" y="2895600"/>
            <a:ext cx="1352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5" b="1" kern="0" spc="4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TECHNOLOGY</a:t>
            </a:r>
            <a:endParaRPr lang="en-US" sz="1125" dirty="0"/>
          </a:p>
        </p:txBody>
      </p:sp>
      <p:sp>
        <p:nvSpPr>
          <p:cNvPr id="113" name="Text 109"/>
          <p:cNvSpPr txBox="1"/>
          <p:nvPr/>
        </p:nvSpPr>
        <p:spPr>
          <a:xfrm>
            <a:off x="781050" y="3067050"/>
            <a:ext cx="14097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kern="0" spc="135" dirty="0">
                <a:solidFill>
                  <a:srgbClr val="CFE3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</a:t>
            </a:r>
            <a:endParaRPr lang="en-US" sz="750" dirty="0"/>
          </a:p>
        </p:txBody>
      </p:sp>
      <p:sp>
        <p:nvSpPr>
          <p:cNvPr id="114" name="Shape 110"/>
          <p:cNvSpPr/>
          <p:nvPr/>
        </p:nvSpPr>
        <p:spPr>
          <a:xfrm>
            <a:off x="2419350" y="2914650"/>
            <a:ext cx="455295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5" name="Text 111"/>
          <p:cNvSpPr txBox="1"/>
          <p:nvPr/>
        </p:nvSpPr>
        <p:spPr>
          <a:xfrm>
            <a:off x="2419350" y="2914650"/>
            <a:ext cx="455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</a:t>
            </a:r>
            <a:endParaRPr lang="en-US" sz="900" dirty="0"/>
          </a:p>
        </p:txBody>
      </p:sp>
      <p:sp>
        <p:nvSpPr>
          <p:cNvPr id="116" name="Shape 112"/>
          <p:cNvSpPr/>
          <p:nvPr/>
        </p:nvSpPr>
        <p:spPr>
          <a:xfrm>
            <a:off x="2950845" y="2914650"/>
            <a:ext cx="1083945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7" name="Text 113"/>
          <p:cNvSpPr txBox="1"/>
          <p:nvPr/>
        </p:nvSpPr>
        <p:spPr>
          <a:xfrm>
            <a:off x="2950845" y="2914650"/>
            <a:ext cx="10839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Microservices</a:t>
            </a:r>
            <a:endParaRPr lang="en-US" sz="900" dirty="0"/>
          </a:p>
        </p:txBody>
      </p:sp>
      <p:sp>
        <p:nvSpPr>
          <p:cNvPr id="118" name="Shape 114"/>
          <p:cNvSpPr/>
          <p:nvPr/>
        </p:nvSpPr>
        <p:spPr>
          <a:xfrm>
            <a:off x="4110990" y="2914650"/>
            <a:ext cx="958215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9" name="Text 115"/>
          <p:cNvSpPr txBox="1"/>
          <p:nvPr/>
        </p:nvSpPr>
        <p:spPr>
          <a:xfrm>
            <a:off x="4110990" y="2914650"/>
            <a:ext cx="958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120" name="Shape 116"/>
          <p:cNvSpPr/>
          <p:nvPr/>
        </p:nvSpPr>
        <p:spPr>
          <a:xfrm>
            <a:off x="5145405" y="2914650"/>
            <a:ext cx="769620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1" name="Text 117"/>
          <p:cNvSpPr txBox="1"/>
          <p:nvPr/>
        </p:nvSpPr>
        <p:spPr>
          <a:xfrm>
            <a:off x="5145405" y="2914650"/>
            <a:ext cx="769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</a:t>
            </a:r>
            <a:endParaRPr lang="en-US" sz="900" dirty="0"/>
          </a:p>
        </p:txBody>
      </p:sp>
      <p:sp>
        <p:nvSpPr>
          <p:cNvPr id="122" name="Shape 118"/>
          <p:cNvSpPr/>
          <p:nvPr/>
        </p:nvSpPr>
        <p:spPr>
          <a:xfrm>
            <a:off x="9182100" y="1428750"/>
            <a:ext cx="2400300" cy="1800225"/>
          </a:xfrm>
          <a:prstGeom prst="roundRect">
            <a:avLst>
              <a:gd name="adj" fmla="val 8466"/>
            </a:avLst>
          </a:prstGeom>
          <a:solidFill>
            <a:srgbClr val="EAF7F5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3" name="Text 119"/>
          <p:cNvSpPr txBox="1"/>
          <p:nvPr/>
        </p:nvSpPr>
        <p:spPr>
          <a:xfrm>
            <a:off x="9182100" y="1790700"/>
            <a:ext cx="24003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650" b="1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16</a:t>
            </a:r>
            <a:endParaRPr lang="en-US" sz="4650" dirty="0"/>
          </a:p>
        </p:txBody>
      </p:sp>
      <p:sp>
        <p:nvSpPr>
          <p:cNvPr id="124" name="Text 120"/>
          <p:cNvSpPr txBox="1"/>
          <p:nvPr/>
        </p:nvSpPr>
        <p:spPr>
          <a:xfrm>
            <a:off x="9182100" y="2495550"/>
            <a:ext cx="2400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3" b="1" kern="0" spc="52" dirty="0" smtClean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Capabilities </a:t>
            </a:r>
            <a:r>
              <a:rPr lang="en-US" sz="863" b="1" kern="0" spc="52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PRODUCTION</a:t>
            </a:r>
            <a:endParaRPr lang="en-US" sz="863" dirty="0"/>
          </a:p>
        </p:txBody>
      </p:sp>
      <p:sp>
        <p:nvSpPr>
          <p:cNvPr id="125" name="Text 121"/>
          <p:cNvSpPr txBox="1"/>
          <p:nvPr/>
        </p:nvSpPr>
        <p:spPr>
          <a:xfrm>
            <a:off x="9182100" y="2686050"/>
            <a:ext cx="2400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88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four platform layers</a:t>
            </a:r>
            <a:endParaRPr lang="en-US" sz="788" dirty="0"/>
          </a:p>
        </p:txBody>
      </p:sp>
      <p:sp>
        <p:nvSpPr>
          <p:cNvPr id="126" name="Shape 122"/>
          <p:cNvSpPr/>
          <p:nvPr/>
        </p:nvSpPr>
        <p:spPr>
          <a:xfrm>
            <a:off x="609600" y="3362325"/>
            <a:ext cx="3556000" cy="226695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619125" y="3598284"/>
            <a:ext cx="3536950" cy="219075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128" name="Shape 124"/>
          <p:cNvSpPr/>
          <p:nvPr/>
        </p:nvSpPr>
        <p:spPr>
          <a:xfrm>
            <a:off x="704850" y="3674484"/>
            <a:ext cx="66675" cy="66675"/>
          </a:xfrm>
          <a:prstGeom prst="ellipse">
            <a:avLst/>
          </a:prstGeom>
          <a:solidFill>
            <a:srgbClr val="F6C48A"/>
          </a:solidFill>
          <a:ln/>
        </p:spPr>
      </p:sp>
      <p:sp>
        <p:nvSpPr>
          <p:cNvPr id="129" name="Shape 125"/>
          <p:cNvSpPr/>
          <p:nvPr/>
        </p:nvSpPr>
        <p:spPr>
          <a:xfrm>
            <a:off x="828675" y="3674484"/>
            <a:ext cx="66675" cy="66675"/>
          </a:xfrm>
          <a:prstGeom prst="ellipse">
            <a:avLst/>
          </a:prstGeom>
          <a:solidFill>
            <a:srgbClr val="DCE2E8"/>
          </a:solidFill>
          <a:ln/>
        </p:spPr>
      </p:sp>
      <p:sp>
        <p:nvSpPr>
          <p:cNvPr id="130" name="Shape 126"/>
          <p:cNvSpPr/>
          <p:nvPr/>
        </p:nvSpPr>
        <p:spPr>
          <a:xfrm>
            <a:off x="952500" y="3674484"/>
            <a:ext cx="66675" cy="66675"/>
          </a:xfrm>
          <a:prstGeom prst="ellipse">
            <a:avLst/>
          </a:prstGeom>
          <a:solidFill>
            <a:srgbClr val="DCE2E8"/>
          </a:solidFill>
          <a:ln/>
        </p:spPr>
      </p:sp>
      <p:sp>
        <p:nvSpPr>
          <p:cNvPr id="131" name="Text 127"/>
          <p:cNvSpPr txBox="1"/>
          <p:nvPr/>
        </p:nvSpPr>
        <p:spPr>
          <a:xfrm>
            <a:off x="1133475" y="3598284"/>
            <a:ext cx="2984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60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CONFIGURATOR</a:t>
            </a:r>
            <a:endParaRPr lang="en-US" sz="750" dirty="0"/>
          </a:p>
        </p:txBody>
      </p:sp>
      <p:pic>
        <p:nvPicPr>
          <p:cNvPr id="132" name="Image 2" descr="/tmp/pptx/img/img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9125" y="3817359"/>
            <a:ext cx="3536950" cy="2246257"/>
          </a:xfrm>
          <a:prstGeom prst="rect">
            <a:avLst/>
          </a:prstGeom>
        </p:spPr>
      </p:pic>
      <p:sp>
        <p:nvSpPr>
          <p:cNvPr id="133" name="Shape 128"/>
          <p:cNvSpPr/>
          <p:nvPr/>
        </p:nvSpPr>
        <p:spPr>
          <a:xfrm>
            <a:off x="4318000" y="3362325"/>
            <a:ext cx="3556000" cy="226695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34" name="Shape 129"/>
          <p:cNvSpPr/>
          <p:nvPr/>
        </p:nvSpPr>
        <p:spPr>
          <a:xfrm>
            <a:off x="4327525" y="3598284"/>
            <a:ext cx="3536950" cy="219075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135" name="Shape 130"/>
          <p:cNvSpPr/>
          <p:nvPr/>
        </p:nvSpPr>
        <p:spPr>
          <a:xfrm>
            <a:off x="4413250" y="3674484"/>
            <a:ext cx="66675" cy="66675"/>
          </a:xfrm>
          <a:prstGeom prst="ellipse">
            <a:avLst/>
          </a:prstGeom>
          <a:solidFill>
            <a:srgbClr val="F6C48A"/>
          </a:solidFill>
          <a:ln/>
        </p:spPr>
      </p:sp>
      <p:sp>
        <p:nvSpPr>
          <p:cNvPr id="136" name="Shape 131"/>
          <p:cNvSpPr/>
          <p:nvPr/>
        </p:nvSpPr>
        <p:spPr>
          <a:xfrm>
            <a:off x="4537075" y="3674484"/>
            <a:ext cx="66675" cy="66675"/>
          </a:xfrm>
          <a:prstGeom prst="ellipse">
            <a:avLst/>
          </a:prstGeom>
          <a:solidFill>
            <a:srgbClr val="DCE2E8"/>
          </a:solidFill>
          <a:ln/>
        </p:spPr>
      </p:sp>
      <p:sp>
        <p:nvSpPr>
          <p:cNvPr id="137" name="Shape 132"/>
          <p:cNvSpPr/>
          <p:nvPr/>
        </p:nvSpPr>
        <p:spPr>
          <a:xfrm>
            <a:off x="4660900" y="3674484"/>
            <a:ext cx="66675" cy="66675"/>
          </a:xfrm>
          <a:prstGeom prst="ellipse">
            <a:avLst/>
          </a:prstGeom>
          <a:solidFill>
            <a:srgbClr val="DCE2E8"/>
          </a:solidFill>
          <a:ln/>
        </p:spPr>
      </p:sp>
      <p:sp>
        <p:nvSpPr>
          <p:cNvPr id="138" name="Text 133"/>
          <p:cNvSpPr txBox="1"/>
          <p:nvPr/>
        </p:nvSpPr>
        <p:spPr>
          <a:xfrm>
            <a:off x="4841875" y="3598284"/>
            <a:ext cx="2984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60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PORTAL</a:t>
            </a:r>
            <a:endParaRPr lang="en-US" sz="750" dirty="0"/>
          </a:p>
        </p:txBody>
      </p:sp>
      <p:pic>
        <p:nvPicPr>
          <p:cNvPr id="139" name="Image 3" descr="/tmp/pptx/img/img2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27525" y="3817359"/>
            <a:ext cx="3536950" cy="2246257"/>
          </a:xfrm>
          <a:prstGeom prst="rect">
            <a:avLst/>
          </a:prstGeom>
        </p:spPr>
      </p:pic>
      <p:sp>
        <p:nvSpPr>
          <p:cNvPr id="140" name="Shape 134"/>
          <p:cNvSpPr/>
          <p:nvPr/>
        </p:nvSpPr>
        <p:spPr>
          <a:xfrm>
            <a:off x="8026400" y="3362325"/>
            <a:ext cx="3556000" cy="226695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41" name="Shape 135"/>
          <p:cNvSpPr/>
          <p:nvPr/>
        </p:nvSpPr>
        <p:spPr>
          <a:xfrm>
            <a:off x="8035925" y="3598284"/>
            <a:ext cx="3536950" cy="219075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142" name="Shape 136"/>
          <p:cNvSpPr/>
          <p:nvPr/>
        </p:nvSpPr>
        <p:spPr>
          <a:xfrm>
            <a:off x="8121650" y="3674484"/>
            <a:ext cx="66675" cy="66675"/>
          </a:xfrm>
          <a:prstGeom prst="ellipse">
            <a:avLst/>
          </a:prstGeom>
          <a:solidFill>
            <a:srgbClr val="F6C48A"/>
          </a:solidFill>
          <a:ln/>
        </p:spPr>
      </p:sp>
      <p:sp>
        <p:nvSpPr>
          <p:cNvPr id="143" name="Shape 137"/>
          <p:cNvSpPr/>
          <p:nvPr/>
        </p:nvSpPr>
        <p:spPr>
          <a:xfrm>
            <a:off x="8245475" y="3674484"/>
            <a:ext cx="66675" cy="66675"/>
          </a:xfrm>
          <a:prstGeom prst="ellipse">
            <a:avLst/>
          </a:prstGeom>
          <a:solidFill>
            <a:srgbClr val="DCE2E8"/>
          </a:solidFill>
          <a:ln/>
        </p:spPr>
      </p:sp>
      <p:sp>
        <p:nvSpPr>
          <p:cNvPr id="144" name="Shape 138"/>
          <p:cNvSpPr/>
          <p:nvPr/>
        </p:nvSpPr>
        <p:spPr>
          <a:xfrm>
            <a:off x="8369300" y="3674484"/>
            <a:ext cx="66675" cy="66675"/>
          </a:xfrm>
          <a:prstGeom prst="ellipse">
            <a:avLst/>
          </a:prstGeom>
          <a:solidFill>
            <a:srgbClr val="DCE2E8"/>
          </a:solidFill>
          <a:ln/>
        </p:spPr>
      </p:sp>
      <p:sp>
        <p:nvSpPr>
          <p:cNvPr id="145" name="Text 139"/>
          <p:cNvSpPr txBox="1"/>
          <p:nvPr/>
        </p:nvSpPr>
        <p:spPr>
          <a:xfrm>
            <a:off x="8550275" y="3598284"/>
            <a:ext cx="2984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60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DASHBOARD</a:t>
            </a:r>
            <a:endParaRPr lang="en-US" sz="750" dirty="0"/>
          </a:p>
        </p:txBody>
      </p:sp>
      <p:pic>
        <p:nvPicPr>
          <p:cNvPr id="146" name="Image 4" descr="/tmp/pptx/img/img3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35925" y="3817359"/>
            <a:ext cx="3536950" cy="2192916"/>
          </a:xfrm>
          <a:prstGeom prst="rect">
            <a:avLst/>
          </a:prstGeom>
        </p:spPr>
      </p:pic>
      <p:sp>
        <p:nvSpPr>
          <p:cNvPr id="147" name="Text 140"/>
          <p:cNvSpPr txBox="1"/>
          <p:nvPr/>
        </p:nvSpPr>
        <p:spPr>
          <a:xfrm>
            <a:off x="609600" y="632745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modules in production</a:t>
            </a:r>
            <a:r>
              <a:rPr lang="en-US" sz="105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core, digital, intelligence, and technology layers.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5334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WE ARE GOING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609600" y="781050"/>
            <a:ext cx="10972800" cy="41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85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STATIM Innovation Roadmap</a:t>
            </a:r>
            <a:endParaRPr lang="en-US" sz="2850" dirty="0"/>
          </a:p>
        </p:txBody>
      </p:sp>
      <p:sp>
        <p:nvSpPr>
          <p:cNvPr id="70" name="Shape 66"/>
          <p:cNvSpPr/>
          <p:nvPr/>
        </p:nvSpPr>
        <p:spPr>
          <a:xfrm>
            <a:off x="609600" y="3140540"/>
            <a:ext cx="3479800" cy="25908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3422650" y="3178640"/>
            <a:ext cx="533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300" b="1" dirty="0">
                <a:solidFill>
                  <a:srgbClr val="E5E8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300" dirty="0"/>
          </a:p>
        </p:txBody>
      </p:sp>
      <p:sp>
        <p:nvSpPr>
          <p:cNvPr id="72" name="Shape 68"/>
          <p:cNvSpPr/>
          <p:nvPr/>
        </p:nvSpPr>
        <p:spPr>
          <a:xfrm>
            <a:off x="819150" y="3331040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73" name="Image 2" descr="/tmp/pptx/icons/check_teal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638" y="3421528"/>
            <a:ext cx="180975" cy="180975"/>
          </a:xfrm>
          <a:prstGeom prst="rect">
            <a:avLst/>
          </a:prstGeom>
        </p:spPr>
      </p:pic>
      <p:sp>
        <p:nvSpPr>
          <p:cNvPr id="74" name="Text 69"/>
          <p:cNvSpPr txBox="1"/>
          <p:nvPr/>
        </p:nvSpPr>
        <p:spPr>
          <a:xfrm>
            <a:off x="1295400" y="3311990"/>
            <a:ext cx="2622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</a:t>
            </a:r>
            <a:endParaRPr lang="en-US" sz="1350" dirty="0"/>
          </a:p>
        </p:txBody>
      </p:sp>
      <p:sp>
        <p:nvSpPr>
          <p:cNvPr id="75" name="Shape 70"/>
          <p:cNvSpPr/>
          <p:nvPr/>
        </p:nvSpPr>
        <p:spPr>
          <a:xfrm>
            <a:off x="1295400" y="3531065"/>
            <a:ext cx="502920" cy="180975"/>
          </a:xfrm>
          <a:prstGeom prst="roundRect">
            <a:avLst>
              <a:gd name="adj" fmla="val 50000"/>
            </a:avLst>
          </a:prstGeom>
          <a:solidFill>
            <a:srgbClr val="EBF6F4"/>
          </a:solidFill>
          <a:ln w="12700">
            <a:solidFill>
              <a:srgbClr val="B7E0DB"/>
            </a:solidFill>
            <a:prstDash val="solid"/>
          </a:ln>
        </p:spPr>
      </p:sp>
      <p:sp>
        <p:nvSpPr>
          <p:cNvPr id="76" name="Text 71"/>
          <p:cNvSpPr txBox="1"/>
          <p:nvPr/>
        </p:nvSpPr>
        <p:spPr>
          <a:xfrm>
            <a:off x="1295400" y="3531065"/>
            <a:ext cx="502920" cy="180975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5" dirty="0">
                <a:solidFill>
                  <a:schemeClr val="bg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77" name="Text 72"/>
          <p:cNvSpPr txBox="1"/>
          <p:nvPr/>
        </p:nvSpPr>
        <p:spPr>
          <a:xfrm>
            <a:off x="819150" y="3940640"/>
            <a:ext cx="306070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Core Insurance Platform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Digital Portals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Product Configuration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Workflow Automation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API-first Architecture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Microservices</a:t>
            </a:r>
            <a:endParaRPr lang="en-US" sz="975" dirty="0"/>
          </a:p>
        </p:txBody>
      </p:sp>
      <p:sp>
        <p:nvSpPr>
          <p:cNvPr id="78" name="Shape 73"/>
          <p:cNvSpPr/>
          <p:nvPr/>
        </p:nvSpPr>
        <p:spPr>
          <a:xfrm>
            <a:off x="4446294" y="2438400"/>
            <a:ext cx="3319933" cy="262604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0E9488"/>
            </a:solidFill>
            <a:prstDash val="solid"/>
          </a:ln>
        </p:spPr>
      </p:sp>
      <p:sp>
        <p:nvSpPr>
          <p:cNvPr id="79" name="Text 74"/>
          <p:cNvSpPr txBox="1"/>
          <p:nvPr/>
        </p:nvSpPr>
        <p:spPr>
          <a:xfrm>
            <a:off x="7169150" y="2476500"/>
            <a:ext cx="533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300" b="1" dirty="0">
                <a:solidFill>
                  <a:srgbClr val="E5E8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300" dirty="0"/>
          </a:p>
        </p:txBody>
      </p:sp>
      <p:sp>
        <p:nvSpPr>
          <p:cNvPr id="80" name="Shape 75"/>
          <p:cNvSpPr/>
          <p:nvPr/>
        </p:nvSpPr>
        <p:spPr>
          <a:xfrm>
            <a:off x="4565650" y="2628900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FFFFFF"/>
          </a:solidFill>
          <a:ln w="19050">
            <a:solidFill>
              <a:srgbClr val="0E9488"/>
            </a:solidFill>
            <a:prstDash val="solid"/>
          </a:ln>
        </p:spPr>
      </p:sp>
      <p:pic>
        <p:nvPicPr>
          <p:cNvPr id="81" name="Image 3" descr="/tmp/pptx/icons/zap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6138" y="2719388"/>
            <a:ext cx="180975" cy="180975"/>
          </a:xfrm>
          <a:prstGeom prst="rect">
            <a:avLst/>
          </a:prstGeom>
        </p:spPr>
      </p:pic>
      <p:sp>
        <p:nvSpPr>
          <p:cNvPr id="82" name="Text 76"/>
          <p:cNvSpPr txBox="1"/>
          <p:nvPr/>
        </p:nvSpPr>
        <p:spPr>
          <a:xfrm>
            <a:off x="5041900" y="2609850"/>
            <a:ext cx="2622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</a:t>
            </a:r>
            <a:endParaRPr lang="en-US" sz="1350" dirty="0"/>
          </a:p>
        </p:txBody>
      </p:sp>
      <p:sp>
        <p:nvSpPr>
          <p:cNvPr id="83" name="Shape 77"/>
          <p:cNvSpPr/>
          <p:nvPr/>
        </p:nvSpPr>
        <p:spPr>
          <a:xfrm>
            <a:off x="5041900" y="2828925"/>
            <a:ext cx="1188720" cy="180975"/>
          </a:xfrm>
          <a:prstGeom prst="roundRect">
            <a:avLst>
              <a:gd name="adj" fmla="val 50000"/>
            </a:avLst>
          </a:prstGeom>
          <a:solidFill>
            <a:srgbClr val="FEF5EA"/>
          </a:solidFill>
          <a:ln w="12700">
            <a:solidFill>
              <a:srgbClr val="F8CFA2"/>
            </a:solidFill>
            <a:prstDash val="solid"/>
          </a:ln>
        </p:spPr>
      </p:sp>
      <p:sp>
        <p:nvSpPr>
          <p:cNvPr id="84" name="Text 78"/>
          <p:cNvSpPr txBox="1"/>
          <p:nvPr/>
        </p:nvSpPr>
        <p:spPr>
          <a:xfrm>
            <a:off x="5041900" y="2828925"/>
            <a:ext cx="11887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5" dirty="0">
                <a:solidFill>
                  <a:srgbClr val="F68D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DEVELOPMENT</a:t>
            </a:r>
            <a:endParaRPr lang="en-US" sz="750" dirty="0"/>
          </a:p>
        </p:txBody>
      </p:sp>
      <p:sp>
        <p:nvSpPr>
          <p:cNvPr id="85" name="Text 79"/>
          <p:cNvSpPr txBox="1"/>
          <p:nvPr/>
        </p:nvSpPr>
        <p:spPr>
          <a:xfrm>
            <a:off x="4644031" y="3238499"/>
            <a:ext cx="3060700" cy="1960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AI Underwriting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</a:t>
            </a:r>
            <a:r>
              <a:rPr lang="en-US" sz="975" dirty="0" smtClean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Intelligence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</a:t>
            </a:r>
            <a:r>
              <a:rPr lang="en-US" sz="975" dirty="0" smtClean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Models</a:t>
            </a:r>
          </a:p>
          <a:p>
            <a:pPr>
              <a:lnSpc>
                <a:spcPct val="145000"/>
              </a:lnSpc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</a:t>
            </a:r>
            <a:r>
              <a:rPr lang="en-US" sz="975" dirty="0" smtClean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Damage Assessment Via computer Vision</a:t>
            </a:r>
            <a:endParaRPr lang="en-US" sz="975" dirty="0">
              <a:solidFill>
                <a:srgbClr val="3D5568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>
              <a:lnSpc>
                <a:spcPct val="145000"/>
              </a:lnSpc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</a:t>
            </a:r>
            <a:r>
              <a:rPr lang="en-US" sz="975" dirty="0" smtClean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Detection</a:t>
            </a:r>
            <a:endParaRPr lang="en-US" sz="975" dirty="0">
              <a:solidFill>
                <a:srgbClr val="3D5568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>
              <a:lnSpc>
                <a:spcPct val="145000"/>
              </a:lnSpc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</a:t>
            </a:r>
            <a:r>
              <a:rPr lang="en-US" sz="975" dirty="0" smtClean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Chatbots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Customer 360 Intelligence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</a:t>
            </a:r>
            <a:r>
              <a:rPr lang="en-US" sz="975" dirty="0" smtClean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</a:t>
            </a: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</a:t>
            </a:r>
            <a:endParaRPr lang="en-US" sz="975" dirty="0"/>
          </a:p>
        </p:txBody>
      </p:sp>
      <p:sp>
        <p:nvSpPr>
          <p:cNvPr id="86" name="Shape 80"/>
          <p:cNvSpPr/>
          <p:nvPr/>
        </p:nvSpPr>
        <p:spPr>
          <a:xfrm>
            <a:off x="8102600" y="1919139"/>
            <a:ext cx="3479800" cy="23050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7" name="Text 81"/>
          <p:cNvSpPr txBox="1"/>
          <p:nvPr/>
        </p:nvSpPr>
        <p:spPr>
          <a:xfrm>
            <a:off x="10915650" y="1957239"/>
            <a:ext cx="533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300" b="1" dirty="0">
                <a:solidFill>
                  <a:srgbClr val="E5E8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300" dirty="0"/>
          </a:p>
        </p:txBody>
      </p:sp>
      <p:sp>
        <p:nvSpPr>
          <p:cNvPr id="88" name="Shape 82"/>
          <p:cNvSpPr/>
          <p:nvPr/>
        </p:nvSpPr>
        <p:spPr>
          <a:xfrm>
            <a:off x="8312150" y="2109639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FFFFFF"/>
          </a:solidFill>
          <a:ln w="19050">
            <a:solidFill>
              <a:srgbClr val="E5E8EB"/>
            </a:solidFill>
            <a:prstDash val="solid"/>
          </a:ln>
        </p:spPr>
      </p:sp>
      <p:pic>
        <p:nvPicPr>
          <p:cNvPr id="89" name="Image 4" descr="/tmp/pptx/icons/compass_mu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2638" y="2200127"/>
            <a:ext cx="180975" cy="180975"/>
          </a:xfrm>
          <a:prstGeom prst="rect">
            <a:avLst/>
          </a:prstGeom>
        </p:spPr>
      </p:pic>
      <p:sp>
        <p:nvSpPr>
          <p:cNvPr id="90" name="Text 83"/>
          <p:cNvSpPr txBox="1"/>
          <p:nvPr/>
        </p:nvSpPr>
        <p:spPr>
          <a:xfrm>
            <a:off x="8788400" y="2090589"/>
            <a:ext cx="2622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</a:t>
            </a:r>
            <a:endParaRPr lang="en-US" sz="1350" dirty="0"/>
          </a:p>
        </p:txBody>
      </p:sp>
      <p:sp>
        <p:nvSpPr>
          <p:cNvPr id="91" name="Shape 84"/>
          <p:cNvSpPr/>
          <p:nvPr/>
        </p:nvSpPr>
        <p:spPr>
          <a:xfrm>
            <a:off x="8788400" y="2309664"/>
            <a:ext cx="708660" cy="180975"/>
          </a:xfrm>
          <a:prstGeom prst="roundRect">
            <a:avLst>
              <a:gd name="adj" fmla="val 50000"/>
            </a:avLst>
          </a:prstGeom>
          <a:solidFill>
            <a:srgbClr val="EBF6F4"/>
          </a:solidFill>
          <a:ln w="12700">
            <a:solidFill>
              <a:srgbClr val="B7E0DB"/>
            </a:solidFill>
            <a:prstDash val="solid"/>
          </a:ln>
        </p:spPr>
      </p:sp>
      <p:sp>
        <p:nvSpPr>
          <p:cNvPr id="92" name="Text 85"/>
          <p:cNvSpPr txBox="1"/>
          <p:nvPr/>
        </p:nvSpPr>
        <p:spPr>
          <a:xfrm>
            <a:off x="8788400" y="2309664"/>
            <a:ext cx="708660" cy="180975"/>
          </a:xfrm>
          <a:prstGeom prst="rect">
            <a:avLst/>
          </a:prstGeom>
          <a:solidFill>
            <a:srgbClr val="00B0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5" dirty="0">
                <a:solidFill>
                  <a:schemeClr val="bg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HORIZON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93" name="Text 86"/>
          <p:cNvSpPr txBox="1"/>
          <p:nvPr/>
        </p:nvSpPr>
        <p:spPr>
          <a:xfrm>
            <a:off x="8312150" y="2719239"/>
            <a:ext cx="306070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Embedded Insurance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</a:t>
            </a:r>
            <a:r>
              <a:rPr lang="en-US" sz="975" dirty="0" smtClean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Open </a:t>
            </a: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Insurance APIs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Partner Marketplace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Autonomous Decision Support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Global Insurance </a:t>
            </a:r>
            <a:r>
              <a:rPr lang="en-US" sz="975" dirty="0" smtClean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Ecosystem</a:t>
            </a:r>
          </a:p>
          <a:p>
            <a:pPr>
              <a:lnSpc>
                <a:spcPct val="145000"/>
              </a:lnSpc>
            </a:pP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</a:t>
            </a:r>
            <a:r>
              <a:rPr lang="en-US" sz="975" dirty="0" smtClean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SaaS </a:t>
            </a:r>
            <a:r>
              <a:rPr lang="en-US" sz="975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endParaRPr lang="en-US" sz="975" dirty="0"/>
          </a:p>
        </p:txBody>
      </p:sp>
      <p:cxnSp>
        <p:nvCxnSpPr>
          <p:cNvPr id="95" name="Elbow Connector 94"/>
          <p:cNvCxnSpPr>
            <a:stCxn id="70" idx="3"/>
            <a:endCxn id="78" idx="1"/>
          </p:cNvCxnSpPr>
          <p:nvPr/>
        </p:nvCxnSpPr>
        <p:spPr>
          <a:xfrm flipV="1">
            <a:off x="4089400" y="3751421"/>
            <a:ext cx="356894" cy="6845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/>
          <p:cNvCxnSpPr>
            <a:stCxn id="78" idx="3"/>
            <a:endCxn id="86" idx="1"/>
          </p:cNvCxnSpPr>
          <p:nvPr/>
        </p:nvCxnSpPr>
        <p:spPr>
          <a:xfrm flipV="1">
            <a:off x="7766227" y="3071664"/>
            <a:ext cx="336373" cy="6797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5334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PROOF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609600" y="781050"/>
            <a:ext cx="10972800" cy="41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85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STATIM in Action</a:t>
            </a:r>
            <a:endParaRPr lang="en-US" sz="2850" dirty="0"/>
          </a:p>
        </p:txBody>
      </p:sp>
      <p:sp>
        <p:nvSpPr>
          <p:cNvPr id="70" name="Shape 66"/>
          <p:cNvSpPr/>
          <p:nvPr/>
        </p:nvSpPr>
        <p:spPr>
          <a:xfrm>
            <a:off x="609600" y="1390650"/>
            <a:ext cx="10972800" cy="13335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857250" y="1581150"/>
            <a:ext cx="14287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DF0F3"/>
            </a:solidFill>
            <a:prstDash val="solid"/>
          </a:ln>
        </p:spPr>
      </p:sp>
      <p:pic>
        <p:nvPicPr>
          <p:cNvPr id="72" name="Image 2" descr="/tmp/pptx/img/logo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96718" y="1581150"/>
            <a:ext cx="805355" cy="787202"/>
          </a:xfrm>
          <a:prstGeom prst="rect">
            <a:avLst/>
          </a:prstGeom>
        </p:spPr>
      </p:pic>
      <p:sp>
        <p:nvSpPr>
          <p:cNvPr id="73" name="Text 68"/>
          <p:cNvSpPr txBox="1"/>
          <p:nvPr/>
        </p:nvSpPr>
        <p:spPr>
          <a:xfrm>
            <a:off x="2457450" y="158115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8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YAS Takaful</a:t>
            </a:r>
            <a:endParaRPr lang="en-US" sz="1238" dirty="0"/>
          </a:p>
        </p:txBody>
      </p:sp>
      <p:sp>
        <p:nvSpPr>
          <p:cNvPr id="74" name="Shape 69"/>
          <p:cNvSpPr/>
          <p:nvPr/>
        </p:nvSpPr>
        <p:spPr>
          <a:xfrm>
            <a:off x="2457450" y="1819275"/>
            <a:ext cx="385953" cy="161925"/>
          </a:xfrm>
          <a:prstGeom prst="roundRect">
            <a:avLst>
              <a:gd name="adj" fmla="val 50000"/>
            </a:avLst>
          </a:prstGeom>
          <a:solidFill>
            <a:srgbClr val="EBF6F4"/>
          </a:solidFill>
          <a:ln w="12700">
            <a:solidFill>
              <a:srgbClr val="B7E0DB"/>
            </a:solidFill>
            <a:prstDash val="solid"/>
          </a:ln>
        </p:spPr>
      </p:sp>
      <p:sp>
        <p:nvSpPr>
          <p:cNvPr id="75" name="Text 70"/>
          <p:cNvSpPr txBox="1"/>
          <p:nvPr/>
        </p:nvSpPr>
        <p:spPr>
          <a:xfrm>
            <a:off x="2457450" y="1819275"/>
            <a:ext cx="3859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13" b="1" kern="0" spc="100" dirty="0">
                <a:solidFill>
                  <a:srgbClr val="0B7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UAE</a:t>
            </a:r>
            <a:endParaRPr lang="en-US" sz="713" dirty="0"/>
          </a:p>
        </p:txBody>
      </p:sp>
      <p:sp>
        <p:nvSpPr>
          <p:cNvPr id="76" name="Text 71"/>
          <p:cNvSpPr txBox="1"/>
          <p:nvPr/>
        </p:nvSpPr>
        <p:spPr>
          <a:xfrm>
            <a:off x="2457450" y="205740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First international implementation</a:t>
            </a:r>
            <a:endParaRPr lang="en-US" sz="825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Phased rollout across three lines of business</a:t>
            </a:r>
            <a:endParaRPr lang="en-US" sz="825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Built for UAE market requirements</a:t>
            </a:r>
            <a:endParaRPr lang="en-US" sz="825" dirty="0"/>
          </a:p>
        </p:txBody>
      </p:sp>
      <p:sp>
        <p:nvSpPr>
          <p:cNvPr id="77" name="Shape 72"/>
          <p:cNvSpPr/>
          <p:nvPr/>
        </p:nvSpPr>
        <p:spPr>
          <a:xfrm>
            <a:off x="5873115" y="2152650"/>
            <a:ext cx="5113020" cy="1905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78" name="Text 73"/>
          <p:cNvSpPr txBox="1"/>
          <p:nvPr/>
        </p:nvSpPr>
        <p:spPr>
          <a:xfrm>
            <a:off x="5524500" y="1866900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Motor</a:t>
            </a:r>
            <a:endParaRPr lang="en-US" sz="1050" dirty="0"/>
          </a:p>
        </p:txBody>
      </p:sp>
      <p:sp>
        <p:nvSpPr>
          <p:cNvPr id="79" name="Shape 74"/>
          <p:cNvSpPr/>
          <p:nvPr/>
        </p:nvSpPr>
        <p:spPr>
          <a:xfrm>
            <a:off x="6426200" y="2095500"/>
            <a:ext cx="133350" cy="13335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80" name="Text 75"/>
          <p:cNvSpPr txBox="1"/>
          <p:nvPr/>
        </p:nvSpPr>
        <p:spPr>
          <a:xfrm>
            <a:off x="5524500" y="2324100"/>
            <a:ext cx="193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 2026</a:t>
            </a:r>
            <a:endParaRPr lang="en-US" sz="900" dirty="0"/>
          </a:p>
        </p:txBody>
      </p:sp>
      <p:sp>
        <p:nvSpPr>
          <p:cNvPr id="81" name="Text 76"/>
          <p:cNvSpPr txBox="1"/>
          <p:nvPr/>
        </p:nvSpPr>
        <p:spPr>
          <a:xfrm>
            <a:off x="7461250" y="1866900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Non-Motor</a:t>
            </a:r>
            <a:endParaRPr lang="en-US" sz="1050" dirty="0"/>
          </a:p>
        </p:txBody>
      </p:sp>
      <p:sp>
        <p:nvSpPr>
          <p:cNvPr id="82" name="Shape 77"/>
          <p:cNvSpPr/>
          <p:nvPr/>
        </p:nvSpPr>
        <p:spPr>
          <a:xfrm>
            <a:off x="8362950" y="2095500"/>
            <a:ext cx="133350" cy="13335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83" name="Text 78"/>
          <p:cNvSpPr txBox="1"/>
          <p:nvPr/>
        </p:nvSpPr>
        <p:spPr>
          <a:xfrm>
            <a:off x="7461250" y="2324100"/>
            <a:ext cx="193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 2026</a:t>
            </a:r>
            <a:endParaRPr lang="en-US" sz="900" dirty="0"/>
          </a:p>
        </p:txBody>
      </p:sp>
      <p:sp>
        <p:nvSpPr>
          <p:cNvPr id="84" name="Text 79"/>
          <p:cNvSpPr txBox="1"/>
          <p:nvPr/>
        </p:nvSpPr>
        <p:spPr>
          <a:xfrm>
            <a:off x="9398000" y="1866900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Health</a:t>
            </a:r>
            <a:endParaRPr lang="en-US" sz="1050" dirty="0"/>
          </a:p>
        </p:txBody>
      </p:sp>
      <p:sp>
        <p:nvSpPr>
          <p:cNvPr id="85" name="Shape 80"/>
          <p:cNvSpPr/>
          <p:nvPr/>
        </p:nvSpPr>
        <p:spPr>
          <a:xfrm>
            <a:off x="10299700" y="2095500"/>
            <a:ext cx="133350" cy="13335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86" name="Text 81"/>
          <p:cNvSpPr txBox="1"/>
          <p:nvPr/>
        </p:nvSpPr>
        <p:spPr>
          <a:xfrm>
            <a:off x="9398000" y="2324100"/>
            <a:ext cx="193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 2026</a:t>
            </a:r>
            <a:endParaRPr lang="en-US" sz="900" dirty="0"/>
          </a:p>
        </p:txBody>
      </p:sp>
      <p:sp>
        <p:nvSpPr>
          <p:cNvPr id="87" name="Shape 82"/>
          <p:cNvSpPr/>
          <p:nvPr/>
        </p:nvSpPr>
        <p:spPr>
          <a:xfrm>
            <a:off x="609600" y="2876553"/>
            <a:ext cx="10972800" cy="13394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857250" y="3067053"/>
            <a:ext cx="14287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DF0F3"/>
            </a:solidFill>
            <a:prstDash val="solid"/>
          </a:ln>
        </p:spPr>
      </p:sp>
      <p:pic>
        <p:nvPicPr>
          <p:cNvPr id="89" name="Image 3" descr="/tmp/pptx/img/logo1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29241" y="2923911"/>
            <a:ext cx="1163332" cy="989087"/>
          </a:xfrm>
          <a:prstGeom prst="rect">
            <a:avLst/>
          </a:prstGeom>
        </p:spPr>
      </p:pic>
      <p:sp>
        <p:nvSpPr>
          <p:cNvPr id="90" name="Text 84"/>
          <p:cNvSpPr txBox="1"/>
          <p:nvPr/>
        </p:nvSpPr>
        <p:spPr>
          <a:xfrm>
            <a:off x="2457450" y="3067053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8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Shriram General </a:t>
            </a:r>
            <a:r>
              <a:rPr lang="en-US" sz="1238" b="1" dirty="0" smtClean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Insurance</a:t>
            </a:r>
            <a:endParaRPr lang="en-US" sz="1238" dirty="0"/>
          </a:p>
        </p:txBody>
      </p:sp>
      <p:sp>
        <p:nvSpPr>
          <p:cNvPr id="91" name="Shape 85"/>
          <p:cNvSpPr/>
          <p:nvPr/>
        </p:nvSpPr>
        <p:spPr>
          <a:xfrm>
            <a:off x="2457450" y="3305178"/>
            <a:ext cx="516255" cy="161925"/>
          </a:xfrm>
          <a:prstGeom prst="roundRect">
            <a:avLst>
              <a:gd name="adj" fmla="val 50000"/>
            </a:avLst>
          </a:prstGeom>
          <a:solidFill>
            <a:srgbClr val="EBF6F4"/>
          </a:solidFill>
          <a:ln w="12700">
            <a:solidFill>
              <a:srgbClr val="B7E0DB"/>
            </a:solidFill>
            <a:prstDash val="solid"/>
          </a:ln>
        </p:spPr>
      </p:sp>
      <p:sp>
        <p:nvSpPr>
          <p:cNvPr id="92" name="Text 86"/>
          <p:cNvSpPr txBox="1"/>
          <p:nvPr/>
        </p:nvSpPr>
        <p:spPr>
          <a:xfrm>
            <a:off x="2457450" y="3305178"/>
            <a:ext cx="5162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13" b="1" kern="0" spc="100" dirty="0">
                <a:solidFill>
                  <a:srgbClr val="0B7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INDIA</a:t>
            </a:r>
            <a:endParaRPr lang="en-US" sz="713" dirty="0"/>
          </a:p>
        </p:txBody>
      </p:sp>
      <p:sp>
        <p:nvSpPr>
          <p:cNvPr id="93" name="Text 87"/>
          <p:cNvSpPr txBox="1"/>
          <p:nvPr/>
        </p:nvSpPr>
        <p:spPr>
          <a:xfrm>
            <a:off x="2457450" y="3543303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Enterprise-wide modernization</a:t>
            </a:r>
            <a:endParaRPr lang="en-US" sz="825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Migration from NOVA platform to STATIM</a:t>
            </a:r>
            <a:endParaRPr lang="en-US" sz="825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Phased across all major lines of business</a:t>
            </a:r>
            <a:endParaRPr lang="en-US" sz="825" dirty="0"/>
          </a:p>
        </p:txBody>
      </p:sp>
      <p:sp>
        <p:nvSpPr>
          <p:cNvPr id="94" name="Shape 88"/>
          <p:cNvSpPr/>
          <p:nvPr/>
        </p:nvSpPr>
        <p:spPr>
          <a:xfrm>
            <a:off x="5873115" y="3638553"/>
            <a:ext cx="5113020" cy="1905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95" name="Text 89"/>
          <p:cNvSpPr txBox="1"/>
          <p:nvPr/>
        </p:nvSpPr>
        <p:spPr>
          <a:xfrm>
            <a:off x="5524500" y="3352803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Health</a:t>
            </a:r>
            <a:endParaRPr lang="en-US" sz="1050" dirty="0"/>
          </a:p>
        </p:txBody>
      </p:sp>
      <p:sp>
        <p:nvSpPr>
          <p:cNvPr id="96" name="Shape 90"/>
          <p:cNvSpPr/>
          <p:nvPr/>
        </p:nvSpPr>
        <p:spPr>
          <a:xfrm>
            <a:off x="6426200" y="3581403"/>
            <a:ext cx="133350" cy="13335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97" name="Text 91"/>
          <p:cNvSpPr txBox="1"/>
          <p:nvPr/>
        </p:nvSpPr>
        <p:spPr>
          <a:xfrm>
            <a:off x="5524500" y="3810003"/>
            <a:ext cx="193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 2026</a:t>
            </a:r>
            <a:endParaRPr lang="en-US" sz="900" dirty="0"/>
          </a:p>
        </p:txBody>
      </p:sp>
      <p:sp>
        <p:nvSpPr>
          <p:cNvPr id="98" name="Text 92"/>
          <p:cNvSpPr txBox="1"/>
          <p:nvPr/>
        </p:nvSpPr>
        <p:spPr>
          <a:xfrm>
            <a:off x="7461250" y="3352803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Motor</a:t>
            </a:r>
            <a:endParaRPr lang="en-US" sz="1050" dirty="0"/>
          </a:p>
        </p:txBody>
      </p:sp>
      <p:sp>
        <p:nvSpPr>
          <p:cNvPr id="99" name="Shape 93"/>
          <p:cNvSpPr/>
          <p:nvPr/>
        </p:nvSpPr>
        <p:spPr>
          <a:xfrm>
            <a:off x="8362950" y="3581403"/>
            <a:ext cx="133350" cy="13335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00" name="Text 94"/>
          <p:cNvSpPr txBox="1"/>
          <p:nvPr/>
        </p:nvSpPr>
        <p:spPr>
          <a:xfrm>
            <a:off x="7461250" y="3810003"/>
            <a:ext cx="193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 2027</a:t>
            </a:r>
            <a:endParaRPr lang="en-US" sz="900" dirty="0"/>
          </a:p>
        </p:txBody>
      </p:sp>
      <p:sp>
        <p:nvSpPr>
          <p:cNvPr id="101" name="Text 95"/>
          <p:cNvSpPr txBox="1"/>
          <p:nvPr/>
        </p:nvSpPr>
        <p:spPr>
          <a:xfrm>
            <a:off x="9398000" y="3352803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Non-Motor</a:t>
            </a:r>
            <a:endParaRPr lang="en-US" sz="1050" dirty="0"/>
          </a:p>
        </p:txBody>
      </p:sp>
      <p:sp>
        <p:nvSpPr>
          <p:cNvPr id="102" name="Shape 96"/>
          <p:cNvSpPr/>
          <p:nvPr/>
        </p:nvSpPr>
        <p:spPr>
          <a:xfrm>
            <a:off x="10299700" y="3581403"/>
            <a:ext cx="133350" cy="13335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03" name="Text 97"/>
          <p:cNvSpPr txBox="1"/>
          <p:nvPr/>
        </p:nvSpPr>
        <p:spPr>
          <a:xfrm>
            <a:off x="9398000" y="3810003"/>
            <a:ext cx="193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 2027</a:t>
            </a:r>
            <a:endParaRPr lang="en-US" sz="900" dirty="0"/>
          </a:p>
        </p:txBody>
      </p:sp>
      <p:sp>
        <p:nvSpPr>
          <p:cNvPr id="104" name="Text 98"/>
          <p:cNvSpPr txBox="1"/>
          <p:nvPr/>
        </p:nvSpPr>
        <p:spPr>
          <a:xfrm>
            <a:off x="668577" y="5963205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/>
              <a:t>STATIM is active across three strategic customer programs in India and UAE</a:t>
            </a:r>
          </a:p>
        </p:txBody>
      </p:sp>
      <p:sp>
        <p:nvSpPr>
          <p:cNvPr id="105" name="Shape 82"/>
          <p:cNvSpPr/>
          <p:nvPr/>
        </p:nvSpPr>
        <p:spPr>
          <a:xfrm>
            <a:off x="622656" y="4404917"/>
            <a:ext cx="10972800" cy="13394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06" name="Shape 83"/>
          <p:cNvSpPr/>
          <p:nvPr/>
        </p:nvSpPr>
        <p:spPr>
          <a:xfrm>
            <a:off x="913851" y="4595417"/>
            <a:ext cx="14287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DF0F3"/>
            </a:solidFill>
            <a:prstDash val="solid"/>
          </a:ln>
        </p:spPr>
      </p:sp>
      <p:pic>
        <p:nvPicPr>
          <p:cNvPr id="107" name="Image 3" descr="/tmp/pptx/img/logo1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5842" y="4452275"/>
            <a:ext cx="1163332" cy="989087"/>
          </a:xfrm>
          <a:prstGeom prst="rect">
            <a:avLst/>
          </a:prstGeom>
        </p:spPr>
      </p:pic>
      <p:sp>
        <p:nvSpPr>
          <p:cNvPr id="108" name="Text 84"/>
          <p:cNvSpPr txBox="1"/>
          <p:nvPr/>
        </p:nvSpPr>
        <p:spPr>
          <a:xfrm>
            <a:off x="2514051" y="4595417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8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Shriram </a:t>
            </a:r>
            <a:r>
              <a:rPr lang="en-US" sz="1238" b="1" dirty="0" smtClean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Life Insurance</a:t>
            </a:r>
            <a:endParaRPr lang="en-US" sz="1238" dirty="0"/>
          </a:p>
        </p:txBody>
      </p:sp>
      <p:sp>
        <p:nvSpPr>
          <p:cNvPr id="109" name="Shape 85"/>
          <p:cNvSpPr/>
          <p:nvPr/>
        </p:nvSpPr>
        <p:spPr>
          <a:xfrm>
            <a:off x="2514051" y="4833542"/>
            <a:ext cx="516255" cy="161925"/>
          </a:xfrm>
          <a:prstGeom prst="roundRect">
            <a:avLst>
              <a:gd name="adj" fmla="val 50000"/>
            </a:avLst>
          </a:prstGeom>
          <a:solidFill>
            <a:srgbClr val="EBF6F4"/>
          </a:solidFill>
          <a:ln w="12700">
            <a:solidFill>
              <a:srgbClr val="B7E0DB"/>
            </a:solidFill>
            <a:prstDash val="solid"/>
          </a:ln>
        </p:spPr>
      </p:sp>
      <p:sp>
        <p:nvSpPr>
          <p:cNvPr id="110" name="Text 86"/>
          <p:cNvSpPr txBox="1"/>
          <p:nvPr/>
        </p:nvSpPr>
        <p:spPr>
          <a:xfrm>
            <a:off x="2514051" y="4833542"/>
            <a:ext cx="5162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13" b="1" kern="0" spc="100" dirty="0">
                <a:solidFill>
                  <a:srgbClr val="0B7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INDIA</a:t>
            </a:r>
            <a:endParaRPr lang="en-US" sz="713" dirty="0"/>
          </a:p>
        </p:txBody>
      </p:sp>
      <p:sp>
        <p:nvSpPr>
          <p:cNvPr id="111" name="Text 87"/>
          <p:cNvSpPr txBox="1"/>
          <p:nvPr/>
        </p:nvSpPr>
        <p:spPr>
          <a:xfrm>
            <a:off x="2514051" y="504554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Enterprise-wide modernization</a:t>
            </a:r>
            <a:endParaRPr lang="en-US" sz="825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</a:t>
            </a:r>
            <a:r>
              <a:rPr lang="en-US" sz="825" dirty="0" smtClean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 Capabilities modernized on the </a:t>
            </a: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STATIM</a:t>
            </a:r>
            <a:endParaRPr lang="en-US" sz="825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 Phased </a:t>
            </a:r>
            <a:r>
              <a:rPr lang="en-US" sz="825" dirty="0" smtClean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all Modules</a:t>
            </a:r>
            <a:endParaRPr lang="en-US" sz="825" dirty="0"/>
          </a:p>
        </p:txBody>
      </p:sp>
      <p:sp>
        <p:nvSpPr>
          <p:cNvPr id="112" name="Shape 88"/>
          <p:cNvSpPr/>
          <p:nvPr/>
        </p:nvSpPr>
        <p:spPr>
          <a:xfrm>
            <a:off x="5929716" y="5166917"/>
            <a:ext cx="5113020" cy="1905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113" name="Text 89"/>
          <p:cNvSpPr txBox="1"/>
          <p:nvPr/>
        </p:nvSpPr>
        <p:spPr>
          <a:xfrm>
            <a:off x="5581101" y="4881167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 smtClean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</a:t>
            </a:r>
            <a:endParaRPr lang="en-US" sz="1050" dirty="0"/>
          </a:p>
        </p:txBody>
      </p:sp>
      <p:sp>
        <p:nvSpPr>
          <p:cNvPr id="114" name="Shape 90"/>
          <p:cNvSpPr/>
          <p:nvPr/>
        </p:nvSpPr>
        <p:spPr>
          <a:xfrm>
            <a:off x="6482801" y="5109767"/>
            <a:ext cx="133350" cy="13335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15" name="Text 91"/>
          <p:cNvSpPr txBox="1"/>
          <p:nvPr/>
        </p:nvSpPr>
        <p:spPr>
          <a:xfrm>
            <a:off x="5581101" y="5338367"/>
            <a:ext cx="193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 2025</a:t>
            </a:r>
            <a:endParaRPr lang="en-US" sz="900" dirty="0"/>
          </a:p>
        </p:txBody>
      </p:sp>
      <p:sp>
        <p:nvSpPr>
          <p:cNvPr id="116" name="Text 92"/>
          <p:cNvSpPr txBox="1"/>
          <p:nvPr/>
        </p:nvSpPr>
        <p:spPr>
          <a:xfrm>
            <a:off x="7517851" y="4881167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 smtClean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PMS</a:t>
            </a:r>
            <a:endParaRPr lang="en-US" sz="1050" dirty="0"/>
          </a:p>
        </p:txBody>
      </p:sp>
      <p:sp>
        <p:nvSpPr>
          <p:cNvPr id="117" name="Shape 93"/>
          <p:cNvSpPr/>
          <p:nvPr/>
        </p:nvSpPr>
        <p:spPr>
          <a:xfrm>
            <a:off x="8419551" y="5109767"/>
            <a:ext cx="133350" cy="13335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18" name="Text 94"/>
          <p:cNvSpPr txBox="1"/>
          <p:nvPr/>
        </p:nvSpPr>
        <p:spPr>
          <a:xfrm>
            <a:off x="7517851" y="5338367"/>
            <a:ext cx="193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 2026</a:t>
            </a:r>
            <a:endParaRPr lang="en-US" sz="900" dirty="0"/>
          </a:p>
        </p:txBody>
      </p:sp>
      <p:sp>
        <p:nvSpPr>
          <p:cNvPr id="119" name="Text 95"/>
          <p:cNvSpPr txBox="1"/>
          <p:nvPr/>
        </p:nvSpPr>
        <p:spPr>
          <a:xfrm>
            <a:off x="9454601" y="4881167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 smtClean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Claims</a:t>
            </a:r>
            <a:endParaRPr lang="en-US" sz="1050" dirty="0"/>
          </a:p>
        </p:txBody>
      </p:sp>
      <p:sp>
        <p:nvSpPr>
          <p:cNvPr id="120" name="Shape 96"/>
          <p:cNvSpPr/>
          <p:nvPr/>
        </p:nvSpPr>
        <p:spPr>
          <a:xfrm>
            <a:off x="10356301" y="5109767"/>
            <a:ext cx="133350" cy="13335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21" name="Text 97"/>
          <p:cNvSpPr txBox="1"/>
          <p:nvPr/>
        </p:nvSpPr>
        <p:spPr>
          <a:xfrm>
            <a:off x="9454601" y="5338367"/>
            <a:ext cx="193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 2027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5334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WE WIN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609600" y="781050"/>
            <a:ext cx="10972800" cy="41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85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Scaling STATIM — Building Capability for Global Growth</a:t>
            </a:r>
            <a:endParaRPr lang="en-US" sz="2850" dirty="0"/>
          </a:p>
        </p:txBody>
      </p:sp>
      <p:sp>
        <p:nvSpPr>
          <p:cNvPr id="70" name="Shape 66"/>
          <p:cNvSpPr/>
          <p:nvPr/>
        </p:nvSpPr>
        <p:spPr>
          <a:xfrm>
            <a:off x="609600" y="1390650"/>
            <a:ext cx="3543300" cy="1752600"/>
          </a:xfrm>
          <a:prstGeom prst="roundRect">
            <a:avLst>
              <a:gd name="adj" fmla="val 8696"/>
            </a:avLst>
          </a:prstGeom>
          <a:solidFill>
            <a:srgbClr val="EAF7F5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771525" y="15430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72" name="Image 2" descr="/tmp/pptx/icons/slider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88" y="1624013"/>
            <a:ext cx="161925" cy="161925"/>
          </a:xfrm>
          <a:prstGeom prst="rect">
            <a:avLst/>
          </a:prstGeom>
        </p:spPr>
      </p:pic>
      <p:sp>
        <p:nvSpPr>
          <p:cNvPr id="73" name="Text 68"/>
          <p:cNvSpPr txBox="1"/>
          <p:nvPr/>
        </p:nvSpPr>
        <p:spPr>
          <a:xfrm>
            <a:off x="771525" y="1981200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Capability</a:t>
            </a:r>
            <a:endParaRPr lang="en-US" sz="1200" dirty="0"/>
          </a:p>
        </p:txBody>
      </p:sp>
      <p:sp>
        <p:nvSpPr>
          <p:cNvPr id="74" name="Text 69"/>
          <p:cNvSpPr txBox="1"/>
          <p:nvPr/>
        </p:nvSpPr>
        <p:spPr>
          <a:xfrm>
            <a:off x="771525" y="2266950"/>
            <a:ext cx="3219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1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Capability Roadmap · Domain Expertise · Product Governance</a:t>
            </a:r>
            <a:endParaRPr lang="en-US" sz="915" dirty="0"/>
          </a:p>
        </p:txBody>
      </p:sp>
      <p:sp>
        <p:nvSpPr>
          <p:cNvPr id="75" name="Shape 70"/>
          <p:cNvSpPr/>
          <p:nvPr/>
        </p:nvSpPr>
        <p:spPr>
          <a:xfrm>
            <a:off x="4324350" y="1390650"/>
            <a:ext cx="3543300" cy="1752600"/>
          </a:xfrm>
          <a:prstGeom prst="roundRect">
            <a:avLst>
              <a:gd name="adj" fmla="val 8696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4486275" y="15430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77" name="Image 3" descr="/tmp/pptx/icons/cloud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238" y="1624013"/>
            <a:ext cx="161925" cy="161925"/>
          </a:xfrm>
          <a:prstGeom prst="rect">
            <a:avLst/>
          </a:prstGeom>
        </p:spPr>
      </p:pic>
      <p:sp>
        <p:nvSpPr>
          <p:cNvPr id="78" name="Text 72"/>
          <p:cNvSpPr txBox="1"/>
          <p:nvPr/>
        </p:nvSpPr>
        <p:spPr>
          <a:xfrm>
            <a:off x="4486275" y="1981200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Technology Capability</a:t>
            </a:r>
            <a:endParaRPr lang="en-US" sz="1200" dirty="0"/>
          </a:p>
        </p:txBody>
      </p:sp>
      <p:sp>
        <p:nvSpPr>
          <p:cNvPr id="79" name="Text 73"/>
          <p:cNvSpPr txBox="1"/>
          <p:nvPr/>
        </p:nvSpPr>
        <p:spPr>
          <a:xfrm>
            <a:off x="4486275" y="2266950"/>
            <a:ext cx="3219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1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· Cloud · Microservices · DevSecOps</a:t>
            </a:r>
            <a:endParaRPr lang="en-US" sz="915" dirty="0"/>
          </a:p>
        </p:txBody>
      </p:sp>
      <p:sp>
        <p:nvSpPr>
          <p:cNvPr id="80" name="Shape 74"/>
          <p:cNvSpPr/>
          <p:nvPr/>
        </p:nvSpPr>
        <p:spPr>
          <a:xfrm>
            <a:off x="8039100" y="1390650"/>
            <a:ext cx="3543300" cy="1752600"/>
          </a:xfrm>
          <a:prstGeom prst="roundRect">
            <a:avLst>
              <a:gd name="adj" fmla="val 8696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1" name="Shape 75"/>
          <p:cNvSpPr/>
          <p:nvPr/>
        </p:nvSpPr>
        <p:spPr>
          <a:xfrm>
            <a:off x="8201025" y="15430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82" name="Image 4" descr="/tmp/pptx/icons/zap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1987" y="1624013"/>
            <a:ext cx="161925" cy="161925"/>
          </a:xfrm>
          <a:prstGeom prst="rect">
            <a:avLst/>
          </a:prstGeom>
        </p:spPr>
      </p:pic>
      <p:sp>
        <p:nvSpPr>
          <p:cNvPr id="83" name="Text 76"/>
          <p:cNvSpPr txBox="1"/>
          <p:nvPr/>
        </p:nvSpPr>
        <p:spPr>
          <a:xfrm>
            <a:off x="8201025" y="1981200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Delivery Capability</a:t>
            </a:r>
            <a:endParaRPr lang="en-US" sz="1200" dirty="0"/>
          </a:p>
        </p:txBody>
      </p:sp>
      <p:sp>
        <p:nvSpPr>
          <p:cNvPr id="84" name="Text 77"/>
          <p:cNvSpPr txBox="1"/>
          <p:nvPr/>
        </p:nvSpPr>
        <p:spPr>
          <a:xfrm>
            <a:off x="8201025" y="2266950"/>
            <a:ext cx="3219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1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Implementation · Accelerators · Automation</a:t>
            </a:r>
            <a:endParaRPr lang="en-US" sz="915" dirty="0"/>
          </a:p>
        </p:txBody>
      </p:sp>
      <p:sp>
        <p:nvSpPr>
          <p:cNvPr id="85" name="Shape 78"/>
          <p:cNvSpPr/>
          <p:nvPr/>
        </p:nvSpPr>
        <p:spPr>
          <a:xfrm>
            <a:off x="609600" y="3314700"/>
            <a:ext cx="3543300" cy="1752600"/>
          </a:xfrm>
          <a:prstGeom prst="roundRect">
            <a:avLst>
              <a:gd name="adj" fmla="val 8696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771525" y="346710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87" name="Image 5" descr="/tmp/pptx/icons/head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488" y="3548063"/>
            <a:ext cx="161925" cy="161925"/>
          </a:xfrm>
          <a:prstGeom prst="rect">
            <a:avLst/>
          </a:prstGeom>
        </p:spPr>
      </p:pic>
      <p:sp>
        <p:nvSpPr>
          <p:cNvPr id="88" name="Text 80"/>
          <p:cNvSpPr txBox="1"/>
          <p:nvPr/>
        </p:nvSpPr>
        <p:spPr>
          <a:xfrm>
            <a:off x="771525" y="3905250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Support Capability</a:t>
            </a:r>
            <a:endParaRPr lang="en-US" sz="1200" dirty="0"/>
          </a:p>
        </p:txBody>
      </p:sp>
      <p:sp>
        <p:nvSpPr>
          <p:cNvPr id="89" name="Text 81"/>
          <p:cNvSpPr txBox="1"/>
          <p:nvPr/>
        </p:nvSpPr>
        <p:spPr>
          <a:xfrm>
            <a:off x="771525" y="4191000"/>
            <a:ext cx="3219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1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24×7 Support · Monitoring · Continuous Releases</a:t>
            </a:r>
            <a:endParaRPr lang="en-US" sz="915" dirty="0"/>
          </a:p>
        </p:txBody>
      </p:sp>
      <p:sp>
        <p:nvSpPr>
          <p:cNvPr id="90" name="Shape 82"/>
          <p:cNvSpPr/>
          <p:nvPr/>
        </p:nvSpPr>
        <p:spPr>
          <a:xfrm>
            <a:off x="4324350" y="3314700"/>
            <a:ext cx="3543300" cy="1752600"/>
          </a:xfrm>
          <a:prstGeom prst="roundRect">
            <a:avLst>
              <a:gd name="adj" fmla="val 8696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91" name="Shape 83"/>
          <p:cNvSpPr/>
          <p:nvPr/>
        </p:nvSpPr>
        <p:spPr>
          <a:xfrm>
            <a:off x="4486275" y="346710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92" name="Image 6" descr="/tmp/pptx/icons/users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7238" y="3548063"/>
            <a:ext cx="161925" cy="161925"/>
          </a:xfrm>
          <a:prstGeom prst="rect">
            <a:avLst/>
          </a:prstGeom>
        </p:spPr>
      </p:pic>
      <p:sp>
        <p:nvSpPr>
          <p:cNvPr id="93" name="Text 84"/>
          <p:cNvSpPr txBox="1"/>
          <p:nvPr/>
        </p:nvSpPr>
        <p:spPr>
          <a:xfrm>
            <a:off x="4486275" y="3905250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People Capability</a:t>
            </a:r>
            <a:endParaRPr lang="en-US" sz="1200" dirty="0"/>
          </a:p>
        </p:txBody>
      </p:sp>
      <p:sp>
        <p:nvSpPr>
          <p:cNvPr id="94" name="Text 85"/>
          <p:cNvSpPr txBox="1"/>
          <p:nvPr/>
        </p:nvSpPr>
        <p:spPr>
          <a:xfrm>
            <a:off x="4486275" y="4191000"/>
            <a:ext cx="3219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1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Upskilling · Domain Knowledge · Leadership Development</a:t>
            </a:r>
            <a:endParaRPr lang="en-US" sz="915" dirty="0"/>
          </a:p>
        </p:txBody>
      </p:sp>
      <p:sp>
        <p:nvSpPr>
          <p:cNvPr id="95" name="Shape 86"/>
          <p:cNvSpPr/>
          <p:nvPr/>
        </p:nvSpPr>
        <p:spPr>
          <a:xfrm>
            <a:off x="8039100" y="3314700"/>
            <a:ext cx="3543300" cy="1752600"/>
          </a:xfrm>
          <a:prstGeom prst="roundRect">
            <a:avLst>
              <a:gd name="adj" fmla="val 8696"/>
            </a:avLst>
          </a:prstGeom>
          <a:solidFill>
            <a:srgbClr val="EEF4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96" name="Shape 87"/>
          <p:cNvSpPr/>
          <p:nvPr/>
        </p:nvSpPr>
        <p:spPr>
          <a:xfrm>
            <a:off x="8201025" y="346710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97" name="Image 7" descr="/tmp/pptx/icons/award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1987" y="3548063"/>
            <a:ext cx="161925" cy="161925"/>
          </a:xfrm>
          <a:prstGeom prst="rect">
            <a:avLst/>
          </a:prstGeom>
        </p:spPr>
      </p:pic>
      <p:sp>
        <p:nvSpPr>
          <p:cNvPr id="98" name="Text 88"/>
          <p:cNvSpPr txBox="1"/>
          <p:nvPr/>
        </p:nvSpPr>
        <p:spPr>
          <a:xfrm>
            <a:off x="8201025" y="3905250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Innovation Capability</a:t>
            </a:r>
            <a:endParaRPr lang="en-US" sz="1200" dirty="0"/>
          </a:p>
        </p:txBody>
      </p:sp>
      <p:sp>
        <p:nvSpPr>
          <p:cNvPr id="99" name="Text 89"/>
          <p:cNvSpPr txBox="1"/>
          <p:nvPr/>
        </p:nvSpPr>
        <p:spPr>
          <a:xfrm>
            <a:off x="8201025" y="4191000"/>
            <a:ext cx="3219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1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Lab · Customer Feedback · Product Innovation</a:t>
            </a:r>
            <a:endParaRPr lang="en-US" sz="915" dirty="0"/>
          </a:p>
        </p:txBody>
      </p:sp>
      <p:sp>
        <p:nvSpPr>
          <p:cNvPr id="100" name="Text 90"/>
          <p:cNvSpPr txBox="1"/>
          <p:nvPr/>
        </p:nvSpPr>
        <p:spPr>
          <a:xfrm>
            <a:off x="609600" y="52197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success will not be measured by the number of implementations we complete, but by </a:t>
            </a:r>
            <a:r>
              <a:rPr lang="en-US" sz="1050" b="1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capability we build to continuously innovate, deliver, and support a world-class insurance platform.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5334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WE WIN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609600" y="781050"/>
            <a:ext cx="10972800" cy="41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850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Strategy to Build a Global Insurance Platform</a:t>
            </a:r>
            <a:endParaRPr lang="en-US" sz="2850" dirty="0"/>
          </a:p>
        </p:txBody>
      </p:sp>
      <p:sp>
        <p:nvSpPr>
          <p:cNvPr id="70" name="Shape 66"/>
          <p:cNvSpPr/>
          <p:nvPr/>
        </p:nvSpPr>
        <p:spPr>
          <a:xfrm>
            <a:off x="609600" y="1409700"/>
            <a:ext cx="10972800" cy="447675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609600" y="1409700"/>
            <a:ext cx="5486400" cy="2238375"/>
          </a:xfrm>
          <a:prstGeom prst="roundRect">
            <a:avLst>
              <a:gd name="adj" fmla="val 8511"/>
            </a:avLst>
          </a:prstGeom>
          <a:solidFill>
            <a:srgbClr val="EAF7F5"/>
          </a:solidFill>
          <a:ln/>
        </p:spPr>
      </p:sp>
      <p:sp>
        <p:nvSpPr>
          <p:cNvPr id="72" name="Shape 68"/>
          <p:cNvSpPr/>
          <p:nvPr/>
        </p:nvSpPr>
        <p:spPr>
          <a:xfrm>
            <a:off x="5905500" y="1409700"/>
            <a:ext cx="190500" cy="2238375"/>
          </a:xfrm>
          <a:prstGeom prst="rect">
            <a:avLst/>
          </a:prstGeom>
          <a:solidFill>
            <a:srgbClr val="EAF7F5"/>
          </a:solidFill>
          <a:ln/>
        </p:spPr>
      </p:sp>
      <p:sp>
        <p:nvSpPr>
          <p:cNvPr id="73" name="Shape 69"/>
          <p:cNvSpPr/>
          <p:nvPr/>
        </p:nvSpPr>
        <p:spPr>
          <a:xfrm>
            <a:off x="609600" y="3457575"/>
            <a:ext cx="5486400" cy="190500"/>
          </a:xfrm>
          <a:prstGeom prst="rect">
            <a:avLst/>
          </a:prstGeom>
          <a:solidFill>
            <a:srgbClr val="EAF7F5"/>
          </a:solidFill>
          <a:ln/>
        </p:spPr>
      </p:sp>
      <p:sp>
        <p:nvSpPr>
          <p:cNvPr id="74" name="Shape 70"/>
          <p:cNvSpPr/>
          <p:nvPr/>
        </p:nvSpPr>
        <p:spPr>
          <a:xfrm>
            <a:off x="6096000" y="3648075"/>
            <a:ext cx="5486400" cy="2238375"/>
          </a:xfrm>
          <a:prstGeom prst="roundRect">
            <a:avLst>
              <a:gd name="adj" fmla="val 8511"/>
            </a:avLst>
          </a:prstGeom>
          <a:solidFill>
            <a:srgbClr val="EEF4FA"/>
          </a:solidFill>
          <a:ln/>
        </p:spPr>
      </p:sp>
      <p:sp>
        <p:nvSpPr>
          <p:cNvPr id="75" name="Shape 71"/>
          <p:cNvSpPr/>
          <p:nvPr/>
        </p:nvSpPr>
        <p:spPr>
          <a:xfrm>
            <a:off x="6096000" y="3648075"/>
            <a:ext cx="190500" cy="2238375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76" name="Shape 72"/>
          <p:cNvSpPr/>
          <p:nvPr/>
        </p:nvSpPr>
        <p:spPr>
          <a:xfrm>
            <a:off x="6096000" y="3648075"/>
            <a:ext cx="5486400" cy="19050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77" name="Shape 73"/>
          <p:cNvSpPr/>
          <p:nvPr/>
        </p:nvSpPr>
        <p:spPr>
          <a:xfrm>
            <a:off x="609600" y="1409700"/>
            <a:ext cx="10972800" cy="4476750"/>
          </a:xfrm>
          <a:prstGeom prst="roundRect">
            <a:avLst>
              <a:gd name="adj" fmla="val 4255"/>
            </a:avLst>
          </a:prstGeom>
          <a:ln w="12700">
            <a:solidFill>
              <a:srgbClr val="E5E8EB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6096000" y="1678305"/>
            <a:ext cx="9525" cy="393954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79" name="Shape 75"/>
          <p:cNvSpPr/>
          <p:nvPr/>
        </p:nvSpPr>
        <p:spPr>
          <a:xfrm>
            <a:off x="1048512" y="3648075"/>
            <a:ext cx="10094976" cy="9525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80" name="Text 76"/>
          <p:cNvSpPr txBox="1"/>
          <p:nvPr/>
        </p:nvSpPr>
        <p:spPr>
          <a:xfrm>
            <a:off x="838200" y="3057525"/>
            <a:ext cx="57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5E8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000" dirty="0"/>
          </a:p>
        </p:txBody>
      </p:sp>
      <p:pic>
        <p:nvPicPr>
          <p:cNvPr id="81" name="Image 2" descr="/tmp/pptx/icons/award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695450"/>
            <a:ext cx="171450" cy="171450"/>
          </a:xfrm>
          <a:prstGeom prst="rect">
            <a:avLst/>
          </a:prstGeom>
        </p:spPr>
      </p:pic>
      <p:sp>
        <p:nvSpPr>
          <p:cNvPr id="82" name="Text 77"/>
          <p:cNvSpPr txBox="1"/>
          <p:nvPr/>
        </p:nvSpPr>
        <p:spPr>
          <a:xfrm>
            <a:off x="1162050" y="165735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13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Excellence</a:t>
            </a:r>
            <a:endParaRPr lang="en-US" sz="1313" dirty="0"/>
          </a:p>
        </p:txBody>
      </p:sp>
      <p:sp>
        <p:nvSpPr>
          <p:cNvPr id="83" name="Text 78"/>
          <p:cNvSpPr txBox="1"/>
          <p:nvPr/>
        </p:nvSpPr>
        <p:spPr>
          <a:xfrm>
            <a:off x="914400" y="1962150"/>
            <a:ext cx="4876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configurable, scalable, future-ready platform</a:t>
            </a:r>
            <a:endParaRPr lang="en-US" sz="975" dirty="0"/>
          </a:p>
        </p:txBody>
      </p:sp>
      <p:sp>
        <p:nvSpPr>
          <p:cNvPr id="84" name="Text 79"/>
          <p:cNvSpPr txBox="1"/>
          <p:nvPr/>
        </p:nvSpPr>
        <p:spPr>
          <a:xfrm>
            <a:off x="914400" y="2209800"/>
            <a:ext cx="4876800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88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innovation · Configuration-first · Reusable capabilities · Industry best practices</a:t>
            </a:r>
            <a:endParaRPr lang="en-US" sz="885" dirty="0"/>
          </a:p>
        </p:txBody>
      </p:sp>
      <p:sp>
        <p:nvSpPr>
          <p:cNvPr id="85" name="Text 80"/>
          <p:cNvSpPr txBox="1"/>
          <p:nvPr/>
        </p:nvSpPr>
        <p:spPr>
          <a:xfrm>
            <a:off x="10820400" y="1543050"/>
            <a:ext cx="57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5E8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000" dirty="0"/>
          </a:p>
        </p:txBody>
      </p:sp>
      <p:pic>
        <p:nvPicPr>
          <p:cNvPr id="86" name="Image 3" descr="/tmp/pptx/icons/zap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695450"/>
            <a:ext cx="171450" cy="171450"/>
          </a:xfrm>
          <a:prstGeom prst="rect">
            <a:avLst/>
          </a:prstGeom>
        </p:spPr>
      </p:pic>
      <p:sp>
        <p:nvSpPr>
          <p:cNvPr id="87" name="Text 81"/>
          <p:cNvSpPr txBox="1"/>
          <p:nvPr/>
        </p:nvSpPr>
        <p:spPr>
          <a:xfrm>
            <a:off x="6648450" y="165735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13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Innovation &amp; Ecosystem</a:t>
            </a:r>
            <a:endParaRPr lang="en-US" sz="1313" dirty="0"/>
          </a:p>
        </p:txBody>
      </p:sp>
      <p:sp>
        <p:nvSpPr>
          <p:cNvPr id="88" name="Text 82"/>
          <p:cNvSpPr txBox="1"/>
          <p:nvPr/>
        </p:nvSpPr>
        <p:spPr>
          <a:xfrm>
            <a:off x="6400800" y="1962150"/>
            <a:ext cx="4876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modern technologies to stay ahead</a:t>
            </a:r>
            <a:endParaRPr lang="en-US" sz="975" dirty="0"/>
          </a:p>
        </p:txBody>
      </p:sp>
      <p:sp>
        <p:nvSpPr>
          <p:cNvPr id="89" name="Text 83"/>
          <p:cNvSpPr txBox="1"/>
          <p:nvPr/>
        </p:nvSpPr>
        <p:spPr>
          <a:xfrm>
            <a:off x="6400800" y="2209800"/>
            <a:ext cx="4876800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88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Artificial intelligence · Composable architecture · Cloud-native · Open API ecosystem</a:t>
            </a:r>
            <a:endParaRPr lang="en-US" sz="885" dirty="0"/>
          </a:p>
        </p:txBody>
      </p:sp>
      <p:sp>
        <p:nvSpPr>
          <p:cNvPr id="90" name="Text 84"/>
          <p:cNvSpPr txBox="1"/>
          <p:nvPr/>
        </p:nvSpPr>
        <p:spPr>
          <a:xfrm>
            <a:off x="838200" y="5295900"/>
            <a:ext cx="57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5E8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000" dirty="0"/>
          </a:p>
        </p:txBody>
      </p:sp>
      <p:pic>
        <p:nvPicPr>
          <p:cNvPr id="91" name="Image 4" descr="/tmp/pptx/icons/users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933825"/>
            <a:ext cx="171450" cy="171450"/>
          </a:xfrm>
          <a:prstGeom prst="rect">
            <a:avLst/>
          </a:prstGeom>
        </p:spPr>
      </p:pic>
      <p:sp>
        <p:nvSpPr>
          <p:cNvPr id="92" name="Text 85"/>
          <p:cNvSpPr txBox="1"/>
          <p:nvPr/>
        </p:nvSpPr>
        <p:spPr>
          <a:xfrm>
            <a:off x="1162050" y="3895725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13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Success</a:t>
            </a:r>
            <a:endParaRPr lang="en-US" sz="1313" dirty="0"/>
          </a:p>
        </p:txBody>
      </p:sp>
      <p:sp>
        <p:nvSpPr>
          <p:cNvPr id="93" name="Text 86"/>
          <p:cNvSpPr txBox="1"/>
          <p:nvPr/>
        </p:nvSpPr>
        <p:spPr>
          <a:xfrm>
            <a:off x="914400" y="4200525"/>
            <a:ext cx="4876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implementation strengthens the product</a:t>
            </a:r>
            <a:endParaRPr lang="en-US" sz="975" dirty="0"/>
          </a:p>
        </p:txBody>
      </p:sp>
      <p:sp>
        <p:nvSpPr>
          <p:cNvPr id="94" name="Text 87"/>
          <p:cNvSpPr txBox="1"/>
          <p:nvPr/>
        </p:nvSpPr>
        <p:spPr>
          <a:xfrm>
            <a:off x="914400" y="4448175"/>
            <a:ext cx="4876800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88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Customer-driven enhancements · Standardization · Faster implementation · Real-world maturity</a:t>
            </a:r>
            <a:endParaRPr lang="en-US" sz="885" dirty="0"/>
          </a:p>
        </p:txBody>
      </p:sp>
      <p:sp>
        <p:nvSpPr>
          <p:cNvPr id="95" name="Text 88"/>
          <p:cNvSpPr txBox="1"/>
          <p:nvPr/>
        </p:nvSpPr>
        <p:spPr>
          <a:xfrm>
            <a:off x="10820400" y="3781425"/>
            <a:ext cx="57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5E8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000" dirty="0"/>
          </a:p>
        </p:txBody>
      </p:sp>
      <p:pic>
        <p:nvPicPr>
          <p:cNvPr id="96" name="Image 5" descr="/tmp/pptx/icons/globe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933825"/>
            <a:ext cx="171450" cy="171450"/>
          </a:xfrm>
          <a:prstGeom prst="rect">
            <a:avLst/>
          </a:prstGeom>
        </p:spPr>
      </p:pic>
      <p:sp>
        <p:nvSpPr>
          <p:cNvPr id="97" name="Text 89"/>
          <p:cNvSpPr txBox="1"/>
          <p:nvPr/>
        </p:nvSpPr>
        <p:spPr>
          <a:xfrm>
            <a:off x="6648450" y="3895725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13" b="1" dirty="0">
                <a:solidFill>
                  <a:srgbClr val="0B223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Expansion</a:t>
            </a:r>
            <a:endParaRPr lang="en-US" sz="1313" dirty="0"/>
          </a:p>
        </p:txBody>
      </p:sp>
      <p:sp>
        <p:nvSpPr>
          <p:cNvPr id="98" name="Text 90"/>
          <p:cNvSpPr txBox="1"/>
          <p:nvPr/>
        </p:nvSpPr>
        <p:spPr>
          <a:xfrm>
            <a:off x="6400800" y="4200525"/>
            <a:ext cx="4876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3D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once, deploy anywhere</a:t>
            </a:r>
            <a:endParaRPr lang="en-US" sz="975" dirty="0"/>
          </a:p>
        </p:txBody>
      </p:sp>
      <p:sp>
        <p:nvSpPr>
          <p:cNvPr id="99" name="Text 91"/>
          <p:cNvSpPr txBox="1"/>
          <p:nvPr/>
        </p:nvSpPr>
        <p:spPr>
          <a:xfrm>
            <a:off x="6400800" y="4448175"/>
            <a:ext cx="4876800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885" dirty="0">
                <a:solidFill>
                  <a:srgbClr val="7186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Multi-country · Multi-language · Multi-currency · Regulatory adaptability</a:t>
            </a:r>
            <a:endParaRPr lang="en-US" sz="885" dirty="0"/>
          </a:p>
        </p:txBody>
      </p:sp>
      <p:sp>
        <p:nvSpPr>
          <p:cNvPr id="100" name="Shape 92"/>
          <p:cNvSpPr/>
          <p:nvPr/>
        </p:nvSpPr>
        <p:spPr>
          <a:xfrm>
            <a:off x="5455644" y="2981592"/>
            <a:ext cx="1123950" cy="1123950"/>
          </a:xfrm>
          <a:prstGeom prst="ellipse">
            <a:avLst/>
          </a:prstGeom>
          <a:solidFill>
            <a:srgbClr val="0C526B"/>
          </a:solidFill>
          <a:ln/>
        </p:spPr>
      </p:sp>
      <p:sp>
        <p:nvSpPr>
          <p:cNvPr id="101" name="Text 93"/>
          <p:cNvSpPr txBox="1"/>
          <p:nvPr/>
        </p:nvSpPr>
        <p:spPr>
          <a:xfrm>
            <a:off x="5473062" y="3225434"/>
            <a:ext cx="1123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</a:t>
            </a:r>
            <a:endParaRPr lang="en-US" sz="975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</a:t>
            </a:r>
            <a:endParaRPr lang="en-US" sz="975" dirty="0"/>
          </a:p>
        </p:txBody>
      </p:sp>
      <p:sp>
        <p:nvSpPr>
          <p:cNvPr id="102" name="Text 94"/>
          <p:cNvSpPr txBox="1"/>
          <p:nvPr/>
        </p:nvSpPr>
        <p:spPr>
          <a:xfrm>
            <a:off x="5473062" y="3658688"/>
            <a:ext cx="1123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5" kern="0" spc="121" dirty="0">
                <a:solidFill>
                  <a:srgbClr val="8FE0D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OBJECTIVE</a:t>
            </a:r>
            <a:endParaRPr lang="en-US" sz="6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3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4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5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6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7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8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9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0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1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2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3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4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5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6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7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18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19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0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1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2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3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4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5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7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28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29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0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1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2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3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4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5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6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7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39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0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1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2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3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4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5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6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7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48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49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0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1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2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3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4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5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6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7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58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59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0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1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2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3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4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5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029080" y="1054693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CLOSING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0A2338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1047750" y="1562100"/>
            <a:ext cx="9525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Future We Are Building</a:t>
            </a:r>
            <a:endParaRPr lang="en-US" sz="2700" dirty="0"/>
          </a:p>
        </p:txBody>
      </p:sp>
      <p:sp>
        <p:nvSpPr>
          <p:cNvPr id="69" name="Text 67"/>
          <p:cNvSpPr txBox="1"/>
          <p:nvPr/>
        </p:nvSpPr>
        <p:spPr>
          <a:xfrm>
            <a:off x="1047750" y="2076450"/>
            <a:ext cx="1009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50" b="1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“Transforming Insurance Through AI and Composable Solutions.”</a:t>
            </a:r>
            <a:endParaRPr lang="en-US" sz="2250" dirty="0"/>
          </a:p>
        </p:txBody>
      </p:sp>
      <p:sp>
        <p:nvSpPr>
          <p:cNvPr id="70" name="Text 68"/>
          <p:cNvSpPr txBox="1"/>
          <p:nvPr/>
        </p:nvSpPr>
        <p:spPr>
          <a:xfrm>
            <a:off x="1047750" y="2857500"/>
            <a:ext cx="8953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16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 is live, and the pipeline is real:</a:t>
            </a:r>
            <a:r>
              <a:rPr lang="en-US" sz="1163" dirty="0">
                <a:solidFill>
                  <a:srgbClr val="C4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63" dirty="0" smtClean="0">
                <a:solidFill>
                  <a:srgbClr val="C4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</a:t>
            </a:r>
            <a:r>
              <a:rPr lang="en-US" sz="1163" dirty="0">
                <a:solidFill>
                  <a:srgbClr val="C4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implementations underway across the UAE and India, with go-lives from September 2026 through 2027.</a:t>
            </a:r>
            <a:endParaRPr lang="en-US" sz="1163" dirty="0"/>
          </a:p>
        </p:txBody>
      </p:sp>
      <p:sp>
        <p:nvSpPr>
          <p:cNvPr id="71" name="Text 69"/>
          <p:cNvSpPr txBox="1"/>
          <p:nvPr/>
        </p:nvSpPr>
        <p:spPr>
          <a:xfrm>
            <a:off x="1047750" y="3581400"/>
            <a:ext cx="8953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163" dirty="0">
                <a:solidFill>
                  <a:srgbClr val="C4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phase adds AI across underwriting, claims, and product configuration.</a:t>
            </a:r>
            <a:endParaRPr lang="en-US" sz="1163" dirty="0"/>
          </a:p>
        </p:txBody>
      </p:sp>
      <p:sp>
        <p:nvSpPr>
          <p:cNvPr id="72" name="Text 70"/>
          <p:cNvSpPr txBox="1"/>
          <p:nvPr/>
        </p:nvSpPr>
        <p:spPr>
          <a:xfrm>
            <a:off x="1047750" y="4019550"/>
            <a:ext cx="8953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16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objective is clear:</a:t>
            </a:r>
            <a:r>
              <a:rPr lang="en-US" sz="1163" dirty="0">
                <a:solidFill>
                  <a:srgbClr val="C4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make STATIM the platform of choice for insurers building for the next decade.</a:t>
            </a:r>
            <a:endParaRPr lang="en-US" sz="1163" dirty="0"/>
          </a:p>
        </p:txBody>
      </p:sp>
      <p:sp>
        <p:nvSpPr>
          <p:cNvPr id="73" name="Shape 71"/>
          <p:cNvSpPr/>
          <p:nvPr/>
        </p:nvSpPr>
        <p:spPr>
          <a:xfrm>
            <a:off x="1047750" y="4914900"/>
            <a:ext cx="1020699" cy="209550"/>
          </a:xfrm>
          <a:prstGeom prst="roundRect">
            <a:avLst>
              <a:gd name="adj" fmla="val 50000"/>
            </a:avLst>
          </a:prstGeom>
          <a:solidFill>
            <a:srgbClr val="12314A"/>
          </a:solidFill>
          <a:ln w="12700">
            <a:solidFill>
              <a:srgbClr val="2C6E72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047750" y="4914900"/>
            <a:ext cx="10206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8" b="1" kern="0" spc="110" dirty="0">
                <a:solidFill>
                  <a:srgbClr val="7EE8D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INTELLIGENT</a:t>
            </a:r>
            <a:endParaRPr lang="en-US" sz="788" dirty="0"/>
          </a:p>
        </p:txBody>
      </p:sp>
      <p:sp>
        <p:nvSpPr>
          <p:cNvPr id="75" name="Shape 73"/>
          <p:cNvSpPr/>
          <p:nvPr/>
        </p:nvSpPr>
        <p:spPr>
          <a:xfrm>
            <a:off x="2182749" y="4914900"/>
            <a:ext cx="876681" cy="209550"/>
          </a:xfrm>
          <a:prstGeom prst="roundRect">
            <a:avLst>
              <a:gd name="adj" fmla="val 50000"/>
            </a:avLst>
          </a:prstGeom>
          <a:solidFill>
            <a:srgbClr val="12314A"/>
          </a:solidFill>
          <a:ln w="12700">
            <a:solidFill>
              <a:srgbClr val="2C6E7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2182749" y="4914900"/>
            <a:ext cx="8766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8" b="1" kern="0" spc="110" dirty="0">
                <a:solidFill>
                  <a:srgbClr val="7EE8D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CONNECTED</a:t>
            </a:r>
            <a:endParaRPr lang="en-US" sz="788" dirty="0"/>
          </a:p>
        </p:txBody>
      </p:sp>
      <p:sp>
        <p:nvSpPr>
          <p:cNvPr id="77" name="Shape 75"/>
          <p:cNvSpPr/>
          <p:nvPr/>
        </p:nvSpPr>
        <p:spPr>
          <a:xfrm>
            <a:off x="3173730" y="4914900"/>
            <a:ext cx="948690" cy="209550"/>
          </a:xfrm>
          <a:prstGeom prst="roundRect">
            <a:avLst>
              <a:gd name="adj" fmla="val 50000"/>
            </a:avLst>
          </a:prstGeom>
          <a:solidFill>
            <a:srgbClr val="12314A"/>
          </a:solidFill>
          <a:ln w="12700">
            <a:solidFill>
              <a:srgbClr val="2C6E72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3173730" y="4914900"/>
            <a:ext cx="9486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8" b="1" kern="0" spc="110" dirty="0">
                <a:solidFill>
                  <a:srgbClr val="7EE8D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COMPOSABLE</a:t>
            </a:r>
            <a:endParaRPr lang="en-US" sz="788" dirty="0"/>
          </a:p>
        </p:txBody>
      </p:sp>
      <p:sp>
        <p:nvSpPr>
          <p:cNvPr id="79" name="Shape 77"/>
          <p:cNvSpPr/>
          <p:nvPr/>
        </p:nvSpPr>
        <p:spPr>
          <a:xfrm>
            <a:off x="4236720" y="4914900"/>
            <a:ext cx="660654" cy="209550"/>
          </a:xfrm>
          <a:prstGeom prst="roundRect">
            <a:avLst>
              <a:gd name="adj" fmla="val 50000"/>
            </a:avLst>
          </a:prstGeom>
          <a:solidFill>
            <a:srgbClr val="12314A"/>
          </a:solidFill>
          <a:ln w="12700">
            <a:solidFill>
              <a:srgbClr val="2C6E72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236720" y="4914900"/>
            <a:ext cx="6606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8" b="1" kern="0" spc="110" dirty="0">
                <a:solidFill>
                  <a:srgbClr val="7EE8D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</a:t>
            </a:r>
            <a:endParaRPr lang="en-US" sz="78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2552700"/>
            <a:ext cx="10972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0" b="1" dirty="0">
                <a:solidFill>
                  <a:srgbClr val="0E49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6300" dirty="0"/>
          </a:p>
        </p:txBody>
      </p:sp>
      <p:sp>
        <p:nvSpPr>
          <p:cNvPr id="69" name="Shape 65"/>
          <p:cNvSpPr/>
          <p:nvPr/>
        </p:nvSpPr>
        <p:spPr>
          <a:xfrm>
            <a:off x="5743575" y="3733800"/>
            <a:ext cx="47711" cy="28575"/>
          </a:xfrm>
          <a:prstGeom prst="rect">
            <a:avLst/>
          </a:prstGeom>
          <a:solidFill>
            <a:srgbClr val="0E9589"/>
          </a:solidFill>
          <a:ln/>
        </p:spPr>
      </p:sp>
      <p:sp>
        <p:nvSpPr>
          <p:cNvPr id="70" name="Shape 66"/>
          <p:cNvSpPr/>
          <p:nvPr/>
        </p:nvSpPr>
        <p:spPr>
          <a:xfrm>
            <a:off x="5787628" y="3733800"/>
            <a:ext cx="47711" cy="28575"/>
          </a:xfrm>
          <a:prstGeom prst="rect">
            <a:avLst/>
          </a:prstGeom>
          <a:solidFill>
            <a:srgbClr val="0F978B"/>
          </a:solidFill>
          <a:ln/>
        </p:spPr>
      </p:sp>
      <p:sp>
        <p:nvSpPr>
          <p:cNvPr id="71" name="Shape 67"/>
          <p:cNvSpPr/>
          <p:nvPr/>
        </p:nvSpPr>
        <p:spPr>
          <a:xfrm>
            <a:off x="5831681" y="3733800"/>
            <a:ext cx="47711" cy="28575"/>
          </a:xfrm>
          <a:prstGeom prst="rect">
            <a:avLst/>
          </a:prstGeom>
          <a:solidFill>
            <a:srgbClr val="0F9A8D"/>
          </a:solidFill>
          <a:ln/>
        </p:spPr>
      </p:sp>
      <p:sp>
        <p:nvSpPr>
          <p:cNvPr id="72" name="Shape 68"/>
          <p:cNvSpPr/>
          <p:nvPr/>
        </p:nvSpPr>
        <p:spPr>
          <a:xfrm>
            <a:off x="5875734" y="3733800"/>
            <a:ext cx="47711" cy="28575"/>
          </a:xfrm>
          <a:prstGeom prst="rect">
            <a:avLst/>
          </a:prstGeom>
          <a:solidFill>
            <a:srgbClr val="0F9C8F"/>
          </a:solidFill>
          <a:ln/>
        </p:spPr>
      </p:sp>
      <p:sp>
        <p:nvSpPr>
          <p:cNvPr id="73" name="Shape 69"/>
          <p:cNvSpPr/>
          <p:nvPr/>
        </p:nvSpPr>
        <p:spPr>
          <a:xfrm>
            <a:off x="5919788" y="3733800"/>
            <a:ext cx="47711" cy="28575"/>
          </a:xfrm>
          <a:prstGeom prst="rect">
            <a:avLst/>
          </a:prstGeom>
          <a:solidFill>
            <a:srgbClr val="109E90"/>
          </a:solidFill>
          <a:ln/>
        </p:spPr>
      </p:sp>
      <p:sp>
        <p:nvSpPr>
          <p:cNvPr id="74" name="Shape 70"/>
          <p:cNvSpPr/>
          <p:nvPr/>
        </p:nvSpPr>
        <p:spPr>
          <a:xfrm>
            <a:off x="5963841" y="3733800"/>
            <a:ext cx="47711" cy="28575"/>
          </a:xfrm>
          <a:prstGeom prst="rect">
            <a:avLst/>
          </a:prstGeom>
          <a:solidFill>
            <a:srgbClr val="10A092"/>
          </a:solidFill>
          <a:ln/>
        </p:spPr>
      </p:sp>
      <p:sp>
        <p:nvSpPr>
          <p:cNvPr id="75" name="Shape 71"/>
          <p:cNvSpPr/>
          <p:nvPr/>
        </p:nvSpPr>
        <p:spPr>
          <a:xfrm>
            <a:off x="6007894" y="3733800"/>
            <a:ext cx="47711" cy="28575"/>
          </a:xfrm>
          <a:prstGeom prst="rect">
            <a:avLst/>
          </a:prstGeom>
          <a:solidFill>
            <a:srgbClr val="10A394"/>
          </a:solidFill>
          <a:ln/>
        </p:spPr>
      </p:sp>
      <p:sp>
        <p:nvSpPr>
          <p:cNvPr id="76" name="Shape 72"/>
          <p:cNvSpPr/>
          <p:nvPr/>
        </p:nvSpPr>
        <p:spPr>
          <a:xfrm>
            <a:off x="6051947" y="3733800"/>
            <a:ext cx="47711" cy="28575"/>
          </a:xfrm>
          <a:prstGeom prst="rect">
            <a:avLst/>
          </a:prstGeom>
          <a:solidFill>
            <a:srgbClr val="11A596"/>
          </a:solidFill>
          <a:ln/>
        </p:spPr>
      </p:sp>
      <p:sp>
        <p:nvSpPr>
          <p:cNvPr id="77" name="Shape 73"/>
          <p:cNvSpPr/>
          <p:nvPr/>
        </p:nvSpPr>
        <p:spPr>
          <a:xfrm>
            <a:off x="6096000" y="3733800"/>
            <a:ext cx="47711" cy="28575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78" name="Shape 74"/>
          <p:cNvSpPr/>
          <p:nvPr/>
        </p:nvSpPr>
        <p:spPr>
          <a:xfrm>
            <a:off x="6140053" y="3733800"/>
            <a:ext cx="47711" cy="28575"/>
          </a:xfrm>
          <a:prstGeom prst="rect">
            <a:avLst/>
          </a:prstGeom>
          <a:solidFill>
            <a:srgbClr val="12A99A"/>
          </a:solidFill>
          <a:ln/>
        </p:spPr>
      </p:sp>
      <p:sp>
        <p:nvSpPr>
          <p:cNvPr id="79" name="Shape 75"/>
          <p:cNvSpPr/>
          <p:nvPr/>
        </p:nvSpPr>
        <p:spPr>
          <a:xfrm>
            <a:off x="6184106" y="3733800"/>
            <a:ext cx="47711" cy="28575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80" name="Shape 76"/>
          <p:cNvSpPr/>
          <p:nvPr/>
        </p:nvSpPr>
        <p:spPr>
          <a:xfrm>
            <a:off x="6228159" y="3733800"/>
            <a:ext cx="47711" cy="28575"/>
          </a:xfrm>
          <a:prstGeom prst="rect">
            <a:avLst/>
          </a:prstGeom>
          <a:solidFill>
            <a:srgbClr val="12AE9E"/>
          </a:solidFill>
          <a:ln/>
        </p:spPr>
      </p:sp>
      <p:sp>
        <p:nvSpPr>
          <p:cNvPr id="81" name="Shape 77"/>
          <p:cNvSpPr/>
          <p:nvPr/>
        </p:nvSpPr>
        <p:spPr>
          <a:xfrm>
            <a:off x="6272213" y="3733800"/>
            <a:ext cx="47711" cy="28575"/>
          </a:xfrm>
          <a:prstGeom prst="rect">
            <a:avLst/>
          </a:prstGeom>
          <a:solidFill>
            <a:srgbClr val="13B09F"/>
          </a:solidFill>
          <a:ln/>
        </p:spPr>
      </p:sp>
      <p:sp>
        <p:nvSpPr>
          <p:cNvPr id="82" name="Shape 78"/>
          <p:cNvSpPr/>
          <p:nvPr/>
        </p:nvSpPr>
        <p:spPr>
          <a:xfrm>
            <a:off x="6316266" y="3733800"/>
            <a:ext cx="47711" cy="28575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83" name="Shape 79"/>
          <p:cNvSpPr/>
          <p:nvPr/>
        </p:nvSpPr>
        <p:spPr>
          <a:xfrm>
            <a:off x="6360319" y="3733800"/>
            <a:ext cx="47711" cy="28575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84" name="Shape 80"/>
          <p:cNvSpPr/>
          <p:nvPr/>
        </p:nvSpPr>
        <p:spPr>
          <a:xfrm>
            <a:off x="6404372" y="3733800"/>
            <a:ext cx="47711" cy="28575"/>
          </a:xfrm>
          <a:prstGeom prst="rect">
            <a:avLst/>
          </a:prstGeom>
          <a:solidFill>
            <a:srgbClr val="14B7A5"/>
          </a:solidFill>
          <a:ln/>
        </p:spPr>
      </p:sp>
      <p:sp>
        <p:nvSpPr>
          <p:cNvPr id="85" name="Text 81"/>
          <p:cNvSpPr txBox="1"/>
          <p:nvPr/>
        </p:nvSpPr>
        <p:spPr>
          <a:xfrm>
            <a:off x="609600" y="39243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25" b="1" kern="0" spc="56" dirty="0">
                <a:solidFill>
                  <a:srgbClr val="3D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STATIM · Transforming Insurance Through AI and Composable Solutions</a:t>
            </a:r>
            <a:endParaRPr lang="en-US" sz="11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949</Words>
  <Application>Microsoft Office PowerPoint</Application>
  <PresentationFormat>Widescreen</PresentationFormat>
  <Paragraphs>284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Inter</vt:lpstr>
      <vt:lpstr>Arial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STATIM · Annual Conference 2026</dc:title>
  <dc:subject>PptxGenJS Presentation</dc:subject>
  <dc:creator>NOVAC Technology Solutions</dc:creator>
  <cp:lastModifiedBy>senthil v.</cp:lastModifiedBy>
  <cp:revision>25</cp:revision>
  <dcterms:created xsi:type="dcterms:W3CDTF">2026-08-07T13:57:04Z</dcterms:created>
  <dcterms:modified xsi:type="dcterms:W3CDTF">2026-08-10T05:16:35Z</dcterms:modified>
</cp:coreProperties>
</file>