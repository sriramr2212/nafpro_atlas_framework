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thesis: insurance platforms must become AI-native and composable. STATIM is our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all ten. Pick three: AI mainstream, embedded insurance, speed to market. The rest are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traits — this is the checklist we hold STATIM to. Every roadmap decision maps back to one of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Cards are numbered by lifecycle order. The message is coverage, not depth: AI is not one feature, it is leverage at all six steps from acquisition to renewal.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stat bar is the takeaway: capability delivery moves from months to weeks. Everything else is supporting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vision statement verbatim, then let the six capability cards sit. Do not walk through each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number: 16 modules in production. This slide establishes credibility before the roadmap asks for investment.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NEXT as the investment ask: AI across underwriting, claims, and product configuration. FUTURE is directional, not committed.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slide. Anchor on the dates — they are commitments, not aspirations. Replace monograms with client logos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 per pillar, then land the closing line. The detail rows are for the leave-behind, not the talk track.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dates and the ask. Then stop talking — let the room respond.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image" Target="../media/image-5-2.png"/><Relationship Id="rId7" Type="http://schemas.openxmlformats.org/officeDocument/2006/relationships/image" Target="../media/image-5-2.png"/><Relationship Id="rId8" Type="http://schemas.openxmlformats.org/officeDocument/2006/relationships/image" Target="../media/image-5-8.png"/><Relationship Id="rId9" Type="http://schemas.openxmlformats.org/officeDocument/2006/relationships/image" Target="../media/image-5-8.png"/><Relationship Id="rId10" Type="http://schemas.openxmlformats.org/officeDocument/2006/relationships/image" Target="../media/image-5-8.png"/><Relationship Id="rId11" Type="http://schemas.openxmlformats.org/officeDocument/2006/relationships/image" Target="../media/image-5-8.png"/><Relationship Id="rId12" Type="http://schemas.openxmlformats.org/officeDocument/2006/relationships/image" Target="../media/image-5-8.png"/><Relationship Id="rId13" Type="http://schemas.openxmlformats.org/officeDocument/2006/relationships/image" Target="../media/image-5-8.png"/><Relationship Id="rId14" Type="http://schemas.openxmlformats.org/officeDocument/2006/relationships/image" Target="../media/image-5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3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916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CONFERENCE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STATIM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Insurance Through AI and Composable Solutions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3794760"/>
            <a:ext cx="1508760" cy="402336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79476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14600" y="3794760"/>
            <a:ext cx="1508760" cy="402336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/>
        </p:spPr>
      </p:sp>
      <p:sp>
        <p:nvSpPr>
          <p:cNvPr id="8" name="Text 6"/>
          <p:cNvSpPr/>
          <p:nvPr/>
        </p:nvSpPr>
        <p:spPr>
          <a:xfrm>
            <a:off x="2514600" y="379476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06240" y="3794760"/>
            <a:ext cx="1508760" cy="402336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0" y="379476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Composable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97880" y="3794760"/>
            <a:ext cx="1508760" cy="402336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/>
        </p:spPr>
      </p:sp>
      <p:sp>
        <p:nvSpPr>
          <p:cNvPr id="12" name="Text 10"/>
          <p:cNvSpPr/>
          <p:nvPr/>
        </p:nvSpPr>
        <p:spPr>
          <a:xfrm>
            <a:off x="5897880" y="379476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Vice President  ·  Product &amp; Technology Briefing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CONTEXT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Insurance Industry Is Transforming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075688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6" name="Image 0" descr="icons/smart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66420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121408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Customers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13232" y="2596896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digital journeys are the baseline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825496" y="1371600"/>
            <a:ext cx="2075688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008376" y="1554480"/>
            <a:ext cx="457200" cy="457200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11" name="Image 1" descr="icons/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8104" y="166420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90088" y="2121408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Goes Mainstream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990088" y="2596896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decisions across the value chain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102352" y="1371600"/>
            <a:ext cx="2075688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285232" y="1554480"/>
            <a:ext cx="457200" cy="457200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16" name="Image 2" descr="icons/c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66420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66944" y="2121408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Insurance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266944" y="2596896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 sold inside everyday journeys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7379208" y="1371600"/>
            <a:ext cx="2075688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562088" y="1554480"/>
            <a:ext cx="457200" cy="457200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21" name="Image 3" descr="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1816" y="166420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43800" y="2121408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Evolution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543800" y="2596896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compliance, by design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9656064" y="1371600"/>
            <a:ext cx="2075688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838944" y="1554480"/>
            <a:ext cx="457200" cy="457200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26" name="Image 4" descr="icons/trend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8672" y="1664208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20656" y="2121408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9820656" y="2596896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InsurTechs reset expectations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548640" y="3538728"/>
            <a:ext cx="2075688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31520" y="3721608"/>
            <a:ext cx="457200" cy="457200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31" name="Image 5" descr="icons/sha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" y="3831336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3232" y="4288536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Ecosystems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713232" y="4764024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Partner-driven distribution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2825496" y="3538728"/>
            <a:ext cx="2075688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3008376" y="3721608"/>
            <a:ext cx="457200" cy="457200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36" name="Image 6" descr="icons/targe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18104" y="3831336"/>
            <a:ext cx="237744" cy="23774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2990088" y="4288536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Hyper-personalization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2990088" y="4764024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products and pricing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5102352" y="3538728"/>
            <a:ext cx="2075688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5285232" y="3721608"/>
            <a:ext cx="457200" cy="457200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41" name="Image 7" descr="icons/cod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4960" y="3831336"/>
            <a:ext cx="237744" cy="23774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266944" y="4288536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APIs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5266944" y="4764024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partner integration</a:t>
            </a:r>
            <a:endParaRPr lang="en-US" sz="950" dirty="0"/>
          </a:p>
        </p:txBody>
      </p:sp>
      <p:sp>
        <p:nvSpPr>
          <p:cNvPr id="44" name="Shape 34"/>
          <p:cNvSpPr/>
          <p:nvPr/>
        </p:nvSpPr>
        <p:spPr>
          <a:xfrm>
            <a:off x="7379208" y="3538728"/>
            <a:ext cx="2075688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7562088" y="3721608"/>
            <a:ext cx="457200" cy="457200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46" name="Image 8" descr="icons/clou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71816" y="3831336"/>
            <a:ext cx="237744" cy="237744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7543800" y="4288536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Adoption</a:t>
            </a:r>
            <a:endParaRPr lang="en-US" sz="1200" dirty="0"/>
          </a:p>
        </p:txBody>
      </p:sp>
      <p:sp>
        <p:nvSpPr>
          <p:cNvPr id="48" name="Text 37"/>
          <p:cNvSpPr/>
          <p:nvPr/>
        </p:nvSpPr>
        <p:spPr>
          <a:xfrm>
            <a:off x="7543800" y="4764024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 scale, lower run cost</a:t>
            </a:r>
            <a:endParaRPr lang="en-US" sz="950" dirty="0"/>
          </a:p>
        </p:txBody>
      </p:sp>
      <p:sp>
        <p:nvSpPr>
          <p:cNvPr id="49" name="Shape 38"/>
          <p:cNvSpPr/>
          <p:nvPr/>
        </p:nvSpPr>
        <p:spPr>
          <a:xfrm>
            <a:off x="9656064" y="3538728"/>
            <a:ext cx="2075688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50" name="Shape 39"/>
          <p:cNvSpPr/>
          <p:nvPr/>
        </p:nvSpPr>
        <p:spPr>
          <a:xfrm>
            <a:off x="9838944" y="3721608"/>
            <a:ext cx="457200" cy="457200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51" name="Image 9" descr="icons/zap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48672" y="3831336"/>
            <a:ext cx="237744" cy="237744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9820656" y="4288536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Launches</a:t>
            </a:r>
            <a:endParaRPr lang="en-US" sz="1200" dirty="0"/>
          </a:p>
        </p:txBody>
      </p:sp>
      <p:sp>
        <p:nvSpPr>
          <p:cNvPr id="53" name="Text 41"/>
          <p:cNvSpPr/>
          <p:nvPr/>
        </p:nvSpPr>
        <p:spPr>
          <a:xfrm>
            <a:off x="9820656" y="4764024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to market wins</a:t>
            </a:r>
            <a:endParaRPr lang="en-US" sz="950" dirty="0"/>
          </a:p>
        </p:txBody>
      </p:sp>
      <p:sp>
        <p:nvSpPr>
          <p:cNvPr id="54" name="Text 42"/>
          <p:cNvSpPr/>
          <p:nvPr/>
        </p:nvSpPr>
        <p:spPr>
          <a:xfrm>
            <a:off x="548640" y="56235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forces, one implication: </a:t>
            </a:r>
            <a:pPr indent="0" marL="0">
              <a:buNone/>
            </a:pPr>
            <a:r>
              <a:rPr lang="en-US" sz="12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underneath must change.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Next-Generation Insurance Platform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70048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64208"/>
            <a:ext cx="475488" cy="475488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6" name="Image 0" descr="icons/he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925" y="1778325"/>
            <a:ext cx="247254" cy="247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28600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Centric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" y="2633472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around policyholder journeys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38144" y="1463040"/>
            <a:ext cx="2670048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39312" y="1664208"/>
            <a:ext cx="475488" cy="475488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11" name="Image 1" descr="icons/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3429" y="1778325"/>
            <a:ext cx="247254" cy="2472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9312" y="228600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Native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639312" y="2633472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embedded, not bolted on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327648" y="1463040"/>
            <a:ext cx="2670048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28816" y="1664208"/>
            <a:ext cx="475488" cy="475488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16" name="Image 2" descr="icons/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2933" y="1778325"/>
            <a:ext cx="247254" cy="2472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28816" y="228600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First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528816" y="2633472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capability exposed as a service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217152" y="1463040"/>
            <a:ext cx="2670048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418320" y="1664208"/>
            <a:ext cx="475488" cy="475488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21" name="Image 3" descr="icons/gri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2437" y="1778325"/>
            <a:ext cx="247254" cy="24725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18320" y="228600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Composable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418320" y="2633472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 assembled like building blocks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694176"/>
            <a:ext cx="2670048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3895344"/>
            <a:ext cx="475488" cy="475488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26" name="Image 4" descr="icons/clou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925" y="4009461"/>
            <a:ext cx="247254" cy="24725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9808" y="4517136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Ready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749808" y="486460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cloud, any scale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438144" y="3694176"/>
            <a:ext cx="2670048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639312" y="3895344"/>
            <a:ext cx="475488" cy="475488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31" name="Image 5" descr="icons/slider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3429" y="4009461"/>
            <a:ext cx="247254" cy="24725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639312" y="4517136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First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3639312" y="486460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products without code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327648" y="3694176"/>
            <a:ext cx="2670048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528816" y="3895344"/>
            <a:ext cx="475488" cy="475488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36" name="Image 6" descr="icons/databas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2933" y="4009461"/>
            <a:ext cx="247254" cy="24725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528816" y="4517136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Driven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6528816" y="486460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grounded in platform data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9217152" y="3694176"/>
            <a:ext cx="2670048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418320" y="3895344"/>
            <a:ext cx="475488" cy="475488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41" name="Image 7" descr="icons/lin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32437" y="4009461"/>
            <a:ext cx="247254" cy="24725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418320" y="4517136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Ecosystem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9418320" y="486460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plug into partners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OPPORTUNITY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Across the Insurance Value Chain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47872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593592" y="1581912"/>
            <a:ext cx="329184" cy="329184"/>
          </a:xfrm>
          <a:prstGeom prst="ellipse">
            <a:avLst/>
          </a:prstGeom>
          <a:solidFill>
            <a:srgbClr val="F68D1E"/>
          </a:solidFill>
          <a:ln/>
        </p:spPr>
      </p:sp>
      <p:sp>
        <p:nvSpPr>
          <p:cNvPr id="6" name="Text 4"/>
          <p:cNvSpPr/>
          <p:nvPr/>
        </p:nvSpPr>
        <p:spPr>
          <a:xfrm>
            <a:off x="3593592" y="1581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581912"/>
            <a:ext cx="438912" cy="438912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8" name="Image 0" descr="icons/userpl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59" y="1687251"/>
            <a:ext cx="228234" cy="2282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61872" y="1618488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Acquisition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" y="2167128"/>
            <a:ext cx="31455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recommendations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segmentation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scoring &amp; next-best-offer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79976" y="1417320"/>
            <a:ext cx="3547872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24928" y="1581912"/>
            <a:ext cx="329184" cy="329184"/>
          </a:xfrm>
          <a:prstGeom prst="ellipse">
            <a:avLst/>
          </a:prstGeom>
          <a:solidFill>
            <a:srgbClr val="F68D1E"/>
          </a:solidFill>
          <a:ln/>
        </p:spPr>
      </p:sp>
      <p:sp>
        <p:nvSpPr>
          <p:cNvPr id="13" name="Text 10"/>
          <p:cNvSpPr/>
          <p:nvPr/>
        </p:nvSpPr>
        <p:spPr>
          <a:xfrm>
            <a:off x="7424928" y="1581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62856" y="1581912"/>
            <a:ext cx="438912" cy="438912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15" name="Image 1" descr="icons/filetex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195" y="1687251"/>
            <a:ext cx="228234" cy="22823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93208" y="1618488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581144" y="2167128"/>
            <a:ext cx="31455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intelligence (OCR/NLP)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risk scoring &amp; pricing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Telematics &amp; IoT-based risk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211312" y="1417320"/>
            <a:ext cx="3547872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11256264" y="1581912"/>
            <a:ext cx="329184" cy="329184"/>
          </a:xfrm>
          <a:prstGeom prst="ellipse">
            <a:avLst/>
          </a:prstGeom>
          <a:solidFill>
            <a:srgbClr val="F68D1E"/>
          </a:solidFill>
          <a:ln/>
        </p:spPr>
      </p:sp>
      <p:sp>
        <p:nvSpPr>
          <p:cNvPr id="20" name="Text 16"/>
          <p:cNvSpPr/>
          <p:nvPr/>
        </p:nvSpPr>
        <p:spPr>
          <a:xfrm>
            <a:off x="11256264" y="1581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394192" y="1581912"/>
            <a:ext cx="438912" cy="438912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22" name="Image 2" descr="icons/clip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531" y="1687251"/>
            <a:ext cx="228234" cy="22823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924544" y="1618488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Administration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412480" y="2167128"/>
            <a:ext cx="31455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validation &amp; extraction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issuance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document generation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48640" y="3886200"/>
            <a:ext cx="3547872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3593592" y="4050792"/>
            <a:ext cx="329184" cy="329184"/>
          </a:xfrm>
          <a:prstGeom prst="ellipse">
            <a:avLst/>
          </a:prstGeom>
          <a:solidFill>
            <a:srgbClr val="F68D1E"/>
          </a:solidFill>
          <a:ln/>
        </p:spPr>
      </p:sp>
      <p:sp>
        <p:nvSpPr>
          <p:cNvPr id="27" name="Text 22"/>
          <p:cNvSpPr/>
          <p:nvPr/>
        </p:nvSpPr>
        <p:spPr>
          <a:xfrm>
            <a:off x="3593592" y="4050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731520" y="4050792"/>
            <a:ext cx="438912" cy="438912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29" name="Image 3" descr="icons/ale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859" y="4156131"/>
            <a:ext cx="228234" cy="22823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261872" y="4087368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Management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749808" y="4636008"/>
            <a:ext cx="31455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24×7 FNOL chatbots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Computer-vision damage estimates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detection &amp; STP settlement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4379976" y="3886200"/>
            <a:ext cx="3547872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424928" y="4050792"/>
            <a:ext cx="329184" cy="329184"/>
          </a:xfrm>
          <a:prstGeom prst="ellipse">
            <a:avLst/>
          </a:prstGeom>
          <a:solidFill>
            <a:srgbClr val="F68D1E"/>
          </a:solidFill>
          <a:ln/>
        </p:spPr>
      </p:sp>
      <p:sp>
        <p:nvSpPr>
          <p:cNvPr id="34" name="Text 28"/>
          <p:cNvSpPr/>
          <p:nvPr/>
        </p:nvSpPr>
        <p:spPr>
          <a:xfrm>
            <a:off x="7424928" y="4050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4562856" y="4050792"/>
            <a:ext cx="438912" cy="438912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36" name="Image 4" descr="icons/headphone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8195" y="4156131"/>
            <a:ext cx="228234" cy="22823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093208" y="4087368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Service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4581144" y="4636008"/>
            <a:ext cx="31455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 &amp; voice assistants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knowledge search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response generation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8211312" y="3886200"/>
            <a:ext cx="3547872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11256264" y="4050792"/>
            <a:ext cx="329184" cy="329184"/>
          </a:xfrm>
          <a:prstGeom prst="ellipse">
            <a:avLst/>
          </a:prstGeom>
          <a:solidFill>
            <a:srgbClr val="F68D1E"/>
          </a:solidFill>
          <a:ln/>
        </p:spPr>
      </p:sp>
      <p:sp>
        <p:nvSpPr>
          <p:cNvPr id="41" name="Text 34"/>
          <p:cNvSpPr/>
          <p:nvPr/>
        </p:nvSpPr>
        <p:spPr>
          <a:xfrm>
            <a:off x="11256264" y="4050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Shape 35"/>
          <p:cNvSpPr/>
          <p:nvPr/>
        </p:nvSpPr>
        <p:spPr>
          <a:xfrm>
            <a:off x="8394192" y="4050792"/>
            <a:ext cx="438912" cy="438912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43" name="Image 5" descr="icons/refres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9531" y="4156131"/>
            <a:ext cx="228234" cy="228234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8924544" y="4087368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Renewals &amp; Retention</a:t>
            </a:r>
            <a:endParaRPr lang="en-US" sz="1300" dirty="0"/>
          </a:p>
        </p:txBody>
      </p:sp>
      <p:sp>
        <p:nvSpPr>
          <p:cNvPr id="45" name="Text 37"/>
          <p:cNvSpPr/>
          <p:nvPr/>
        </p:nvSpPr>
        <p:spPr>
          <a:xfrm>
            <a:off x="8412480" y="4636008"/>
            <a:ext cx="31455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Renewal propensity models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prediction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Cross-sell &amp; upsell targeting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Composable Architecture?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310896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45352" y="1417320"/>
            <a:ext cx="5394960" cy="3108960"/>
          </a:xfrm>
          <a:prstGeom prst="roundRect">
            <a:avLst>
              <a:gd name="adj" fmla="val 2059"/>
            </a:avLst>
          </a:prstGeom>
          <a:solidFill>
            <a:srgbClr val="FFFDF9"/>
          </a:solidFill>
          <a:ln w="12700">
            <a:solidFill>
              <a:srgbClr val="F3C98A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184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Platform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19672" y="16184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Composable Platform</a:t>
            </a:r>
            <a:endParaRPr lang="en-US" sz="1500" dirty="0"/>
          </a:p>
        </p:txBody>
      </p:sp>
      <p:pic>
        <p:nvPicPr>
          <p:cNvPr id="8" name="Image 0" descr="icons/x-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130552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33856" y="21031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monolithic application</a:t>
            </a:r>
            <a:endParaRPr lang="en-US" sz="1200" dirty="0"/>
          </a:p>
        </p:txBody>
      </p:sp>
      <p:pic>
        <p:nvPicPr>
          <p:cNvPr id="10" name="Image 1" descr="icons/x-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23744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3856" y="249631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 coupling between modules</a:t>
            </a:r>
            <a:endParaRPr lang="en-US" sz="1200" dirty="0"/>
          </a:p>
        </p:txBody>
      </p:sp>
      <p:pic>
        <p:nvPicPr>
          <p:cNvPr id="12" name="Image 2" descr="icons/x-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2916936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33856" y="28895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release cycles</a:t>
            </a:r>
            <a:endParaRPr lang="en-US" sz="1200" dirty="0"/>
          </a:p>
        </p:txBody>
      </p:sp>
      <p:pic>
        <p:nvPicPr>
          <p:cNvPr id="14" name="Image 3" descr="icons/x-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3310128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33856" y="32826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customization</a:t>
            </a:r>
            <a:endParaRPr lang="en-US" sz="1200" dirty="0"/>
          </a:p>
        </p:txBody>
      </p:sp>
      <p:pic>
        <p:nvPicPr>
          <p:cNvPr id="16" name="Image 4" descr="icons/x-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3703320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33856" y="36758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Expensive, disruptive upgrades</a:t>
            </a:r>
            <a:endParaRPr lang="en-US" sz="1200" dirty="0"/>
          </a:p>
        </p:txBody>
      </p:sp>
      <p:pic>
        <p:nvPicPr>
          <p:cNvPr id="18" name="Image 5" descr="icons/x-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" y="4096512"/>
            <a:ext cx="182880" cy="18288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133856" y="4069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integrations</a:t>
            </a:r>
            <a:endParaRPr lang="en-US" sz="1200" dirty="0"/>
          </a:p>
        </p:txBody>
      </p:sp>
      <p:pic>
        <p:nvPicPr>
          <p:cNvPr id="20" name="Image 6" descr="icons/check-o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2130552"/>
            <a:ext cx="182880" cy="18288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830568" y="21031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business capabilities</a:t>
            </a:r>
            <a:endParaRPr lang="en-US" sz="1200" dirty="0"/>
          </a:p>
        </p:txBody>
      </p:sp>
      <p:pic>
        <p:nvPicPr>
          <p:cNvPr id="22" name="Image 7" descr="icons/check-o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2523744"/>
            <a:ext cx="182880" cy="18288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830568" y="249631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API-first architecture</a:t>
            </a:r>
            <a:endParaRPr lang="en-US" sz="1200" dirty="0"/>
          </a:p>
        </p:txBody>
      </p:sp>
      <p:pic>
        <p:nvPicPr>
          <p:cNvPr id="24" name="Image 8" descr="icons/check-o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60" y="2916936"/>
            <a:ext cx="182880" cy="18288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6830568" y="28895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 deployment</a:t>
            </a:r>
            <a:endParaRPr lang="en-US" sz="1200" dirty="0"/>
          </a:p>
        </p:txBody>
      </p:sp>
      <p:pic>
        <p:nvPicPr>
          <p:cNvPr id="26" name="Image 9" descr="icons/check-o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7960" y="3310128"/>
            <a:ext cx="182880" cy="18288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6830568" y="32826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over customization</a:t>
            </a:r>
            <a:endParaRPr lang="en-US" sz="1200" dirty="0"/>
          </a:p>
        </p:txBody>
      </p:sp>
      <p:pic>
        <p:nvPicPr>
          <p:cNvPr id="28" name="Image 10" descr="icons/check-o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7960" y="3703320"/>
            <a:ext cx="182880" cy="182880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6830568" y="36758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upgrades</a:t>
            </a:r>
            <a:endParaRPr lang="en-US" sz="1200" dirty="0"/>
          </a:p>
        </p:txBody>
      </p:sp>
      <p:pic>
        <p:nvPicPr>
          <p:cNvPr id="30" name="Image 11" descr="icons/check-o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37960" y="4096512"/>
            <a:ext cx="182880" cy="182880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6830568" y="4069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Plug-and-play integrations</a:t>
            </a:r>
            <a:endParaRPr lang="en-US" sz="1200" dirty="0"/>
          </a:p>
        </p:txBody>
      </p:sp>
      <p:pic>
        <p:nvPicPr>
          <p:cNvPr id="32" name="Image 12" descr="icons/arrowright-o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97880" y="2825496"/>
            <a:ext cx="292608" cy="292608"/>
          </a:xfrm>
          <a:prstGeom prst="rect">
            <a:avLst/>
          </a:prstGeom>
        </p:spPr>
      </p:pic>
      <p:sp>
        <p:nvSpPr>
          <p:cNvPr id="33" name="Shape 18"/>
          <p:cNvSpPr/>
          <p:nvPr/>
        </p:nvSpPr>
        <p:spPr>
          <a:xfrm>
            <a:off x="548640" y="4892040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EAF1F8"/>
          </a:solidFill>
          <a:ln w="12700">
            <a:solidFill>
              <a:srgbClr val="D4E0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34" name="Text 19"/>
          <p:cNvSpPr/>
          <p:nvPr/>
        </p:nvSpPr>
        <p:spPr>
          <a:xfrm>
            <a:off x="868680" y="50292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→ Weeks</a:t>
            </a:r>
            <a:endParaRPr lang="en-US" sz="2400" dirty="0"/>
          </a:p>
        </p:txBody>
      </p:sp>
      <p:sp>
        <p:nvSpPr>
          <p:cNvPr id="35" name="Text 20"/>
          <p:cNvSpPr/>
          <p:nvPr/>
        </p:nvSpPr>
        <p:spPr>
          <a:xfrm>
            <a:off x="4206240" y="502920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introduce new capabilities. </a:t>
            </a:r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deployment, continuous upgrades, and rapid experimentation — without touching the whole system.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ANSWER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STATIM Vision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0E4980"/>
          </a:solidFill>
          <a:ln w="12700">
            <a:solidFill>
              <a:srgbClr val="0E4980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37160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AI-powered, composable, cloud-native platform that helps insurers launch faster, operate leaner, and compete in the global digital insurance ecosystem.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547872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743200"/>
            <a:ext cx="438912" cy="438912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8" name="Image 0" descr="icons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59" y="2848539"/>
            <a:ext cx="228234" cy="2282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2779776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Powered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" y="3310128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decision support across the lifecycle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79976" y="2560320"/>
            <a:ext cx="3547872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62856" y="2743200"/>
            <a:ext cx="438912" cy="438912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13" name="Image 1" descr="icons/gri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195" y="2848539"/>
            <a:ext cx="228234" cy="22823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11496" y="2779776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Composable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81144" y="3310128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business capabilities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211312" y="2560320"/>
            <a:ext cx="3547872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94192" y="2743200"/>
            <a:ext cx="438912" cy="438912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18" name="Image 2" descr="icons/sha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531" y="2848539"/>
            <a:ext cx="228234" cy="22823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42832" y="2779776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Ecosystem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412480" y="3310128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to partners and marketplaces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48640" y="4352544"/>
            <a:ext cx="3547872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31520" y="4535424"/>
            <a:ext cx="438912" cy="438912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23" name="Image 3" descr="icons/slid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859" y="4640763"/>
            <a:ext cx="228234" cy="22823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80160" y="457200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First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749808" y="5102352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agility without code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379976" y="4352544"/>
            <a:ext cx="3547872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62856" y="4535424"/>
            <a:ext cx="438912" cy="438912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28" name="Image 4" descr="icons/glob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8195" y="4640763"/>
            <a:ext cx="228234" cy="22823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11496" y="457200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Ready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4581144" y="5102352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Multi-country, multi-currency, multi-language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8211312" y="4352544"/>
            <a:ext cx="3547872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94192" y="4535424"/>
            <a:ext cx="438912" cy="438912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33" name="Image 5" descr="icons/clou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9531" y="4640763"/>
            <a:ext cx="228234" cy="22823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942832" y="457200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Native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8412480" y="5102352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Scalable, resilient, always on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STAND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STATIM Platform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70048" cy="379476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82496"/>
            <a:ext cx="493776" cy="493776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6" name="Image 0" descr="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314" y="1801002"/>
            <a:ext cx="256764" cy="2567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3312" y="173736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53312" y="2121408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modules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86384" y="2560320"/>
            <a:ext cx="22128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20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12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20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</a:t>
            </a:r>
            <a:endParaRPr lang="en-US" sz="12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20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</a:t>
            </a:r>
            <a:endParaRPr lang="en-US" sz="12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20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</a:t>
            </a:r>
            <a:endParaRPr lang="en-US" sz="12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20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Reinsurance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38144" y="1463040"/>
            <a:ext cx="2670048" cy="379476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1682496"/>
            <a:ext cx="493776" cy="493776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12" name="Image 1" descr="icons/moni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7818" y="1801002"/>
            <a:ext cx="256764" cy="2567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42816" y="173736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242816" y="2121408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modules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675888" y="2560320"/>
            <a:ext cx="22128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20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Portal</a:t>
            </a:r>
            <a:endParaRPr lang="en-US" sz="12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20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Portal</a:t>
            </a:r>
            <a:endParaRPr lang="en-US" sz="12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20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327648" y="1463040"/>
            <a:ext cx="2670048" cy="379476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28816" y="1682496"/>
            <a:ext cx="493776" cy="493776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18" name="Image 2" descr="icons/z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322" y="1801002"/>
            <a:ext cx="256764" cy="2567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32320" y="173736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7132320" y="2121408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modules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6565392" y="2560320"/>
            <a:ext cx="22128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20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2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20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</a:t>
            </a:r>
            <a:endParaRPr lang="en-US" sz="12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20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2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20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Dunning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217152" y="1463040"/>
            <a:ext cx="2670048" cy="379476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418320" y="1682496"/>
            <a:ext cx="493776" cy="493776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24" name="Image 3" descr="icons/ser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6826" y="1801002"/>
            <a:ext cx="256764" cy="2567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021824" y="173736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10021824" y="2121408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modules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9454896" y="2560320"/>
            <a:ext cx="22128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20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2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20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</a:t>
            </a:r>
            <a:endParaRPr lang="en-US" sz="12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20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2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20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48640" y="54864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modules in production </a:t>
            </a:r>
            <a:pPr indent="0" marL="0">
              <a:buNone/>
            </a:pPr>
            <a:r>
              <a:rPr lang="en-US" sz="12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core, digital, intelligence, and technology layers.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GOING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STATIM Innovation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39776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82496"/>
            <a:ext cx="457200" cy="457200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6" name="Image 0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792224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16736" y="170078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587752" y="1755648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/>
        </p:spPr>
      </p:sp>
      <p:sp>
        <p:nvSpPr>
          <p:cNvPr id="9" name="Text 6"/>
          <p:cNvSpPr/>
          <p:nvPr/>
        </p:nvSpPr>
        <p:spPr>
          <a:xfrm>
            <a:off x="2587752" y="175564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86384" y="237744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5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650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Insurance Platform</a:t>
            </a:r>
            <a:endParaRPr lang="en-US" sz="115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15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650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Portals</a:t>
            </a:r>
            <a:endParaRPr lang="en-US" sz="115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15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650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Configuration</a:t>
            </a:r>
            <a:endParaRPr lang="en-US" sz="115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15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650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Automation</a:t>
            </a:r>
            <a:endParaRPr lang="en-US" sz="115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15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650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API-first Architecture</a:t>
            </a:r>
            <a:endParaRPr lang="en-US" sz="115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15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650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</a:t>
            </a:r>
            <a:endParaRPr lang="en-US" sz="1150" dirty="0"/>
          </a:p>
        </p:txBody>
      </p:sp>
      <p:pic>
        <p:nvPicPr>
          <p:cNvPr id="11" name="Image 1" descr="icons/arrowright-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31470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434840" y="1463040"/>
            <a:ext cx="3520440" cy="39776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36008" y="1682496"/>
            <a:ext cx="457200" cy="457200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14" name="Image 2" descr="icons/z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1792224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02936" y="170078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6473952" y="1755648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DEFDC"/>
          </a:solidFill>
          <a:ln/>
        </p:spPr>
      </p:sp>
      <p:sp>
        <p:nvSpPr>
          <p:cNvPr id="17" name="Text 12"/>
          <p:cNvSpPr/>
          <p:nvPr/>
        </p:nvSpPr>
        <p:spPr>
          <a:xfrm>
            <a:off x="6473952" y="175564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DEVELOPMENT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4672584" y="237744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5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650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Underwriting</a:t>
            </a:r>
            <a:endParaRPr lang="en-US" sz="115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15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650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Claims Assistant</a:t>
            </a:r>
            <a:endParaRPr lang="en-US" sz="115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15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650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Product Builder</a:t>
            </a:r>
            <a:endParaRPr lang="en-US" sz="115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15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650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360 Intelligence</a:t>
            </a:r>
            <a:endParaRPr lang="en-US" sz="115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15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650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Analytics</a:t>
            </a:r>
            <a:endParaRPr lang="en-US" sz="115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15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650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Search</a:t>
            </a:r>
            <a:endParaRPr lang="en-US" sz="1150" dirty="0"/>
          </a:p>
        </p:txBody>
      </p:sp>
      <p:pic>
        <p:nvPicPr>
          <p:cNvPr id="19" name="Image 3" descr="icons/arrowright-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3314700"/>
            <a:ext cx="274320" cy="27432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321040" y="1463040"/>
            <a:ext cx="3520440" cy="39776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522208" y="1682496"/>
            <a:ext cx="457200" cy="457200"/>
          </a:xfrm>
          <a:prstGeom prst="ellipse">
            <a:avLst/>
          </a:prstGeom>
          <a:solidFill>
            <a:srgbClr val="F1F3F6"/>
          </a:solidFill>
          <a:ln/>
        </p:spPr>
      </p:sp>
      <p:pic>
        <p:nvPicPr>
          <p:cNvPr id="22" name="Image 4" descr="icons/compas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1936" y="1792224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089136" y="170078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</a:t>
            </a:r>
            <a:endParaRPr lang="en-US" sz="1700" dirty="0"/>
          </a:p>
        </p:txBody>
      </p:sp>
      <p:sp>
        <p:nvSpPr>
          <p:cNvPr id="24" name="Shape 17"/>
          <p:cNvSpPr/>
          <p:nvPr/>
        </p:nvSpPr>
        <p:spPr>
          <a:xfrm>
            <a:off x="10360152" y="1755648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/>
        </p:spPr>
      </p:sp>
      <p:sp>
        <p:nvSpPr>
          <p:cNvPr id="25" name="Text 18"/>
          <p:cNvSpPr/>
          <p:nvPr/>
        </p:nvSpPr>
        <p:spPr>
          <a:xfrm>
            <a:off x="10360152" y="175564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</a:t>
            </a: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8558784" y="237744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50" b="1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650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Insurance</a:t>
            </a:r>
            <a:endParaRPr lang="en-US" sz="115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150" b="1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650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Platform</a:t>
            </a:r>
            <a:endParaRPr lang="en-US" sz="115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150" b="1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650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Insurance APIs</a:t>
            </a:r>
            <a:endParaRPr lang="en-US" sz="115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150" b="1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650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Marketplace</a:t>
            </a:r>
            <a:endParaRPr lang="en-US" sz="115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150" b="1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650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Decision Support</a:t>
            </a:r>
            <a:endParaRPr lang="en-US" sz="115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150" b="1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65000"/>
              </a:lnSpc>
              <a:buNone/>
            </a:pPr>
            <a:r>
              <a:rPr lang="en-US" sz="115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Insurance Ecosystem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STATIM in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91672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581912"/>
            <a:ext cx="566928" cy="566928"/>
          </a:xfrm>
          <a:prstGeom prst="ellipse">
            <a:avLst/>
          </a:prstGeom>
          <a:solidFill>
            <a:srgbClr val="0E498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581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6002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 Takaful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1508760" y="1984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DEFDC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19842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C46F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41248" y="237744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international implementation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rollout across three lines of business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UAE market requirements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55080" y="2313432"/>
            <a:ext cx="4297680" cy="0"/>
          </a:xfrm>
          <a:prstGeom prst="line">
            <a:avLst/>
          </a:prstGeom>
          <a:noFill/>
          <a:ln w="31750">
            <a:solidFill>
              <a:srgbClr val="D9DF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54496" y="2212848"/>
            <a:ext cx="201168" cy="201168"/>
          </a:xfrm>
          <a:prstGeom prst="ellipse">
            <a:avLst/>
          </a:prstGeom>
          <a:solidFill>
            <a:srgbClr val="F68D1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68696" y="174650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568696" y="24963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2026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403336" y="2212848"/>
            <a:ext cx="201168" cy="201168"/>
          </a:xfrm>
          <a:prstGeom prst="ellipse">
            <a:avLst/>
          </a:prstGeom>
          <a:solidFill>
            <a:srgbClr val="F68D1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17536" y="174650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Non-Motor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17536" y="24963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2026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552176" y="2212848"/>
            <a:ext cx="201168" cy="201168"/>
          </a:xfrm>
          <a:prstGeom prst="ellipse">
            <a:avLst/>
          </a:prstGeom>
          <a:solidFill>
            <a:srgbClr val="F68D1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66376" y="174650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866376" y="24963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2026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55080" y="310896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 ROADMAP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8640" y="3611880"/>
            <a:ext cx="11091672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3867912"/>
            <a:ext cx="566928" cy="566928"/>
          </a:xfrm>
          <a:prstGeom prst="ellipse">
            <a:avLst/>
          </a:prstGeom>
          <a:solidFill>
            <a:srgbClr val="0E4980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3867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508760" y="38862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Shriram General Insurance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1508760" y="42702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DEFDC"/>
          </a:solidFill>
          <a:ln/>
        </p:spPr>
      </p:sp>
      <p:sp>
        <p:nvSpPr>
          <p:cNvPr id="27" name="Text 25"/>
          <p:cNvSpPr/>
          <p:nvPr/>
        </p:nvSpPr>
        <p:spPr>
          <a:xfrm>
            <a:off x="1508760" y="42702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C46F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41248" y="466344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Enterprise-wide modernization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from NOVA platform to STATIM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across all major lines of business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55080" y="4599432"/>
            <a:ext cx="4297680" cy="0"/>
          </a:xfrm>
          <a:prstGeom prst="line">
            <a:avLst/>
          </a:prstGeom>
          <a:noFill/>
          <a:ln w="31750">
            <a:solidFill>
              <a:srgbClr val="D9DF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54496" y="4498848"/>
            <a:ext cx="201168" cy="201168"/>
          </a:xfrm>
          <a:prstGeom prst="ellipse">
            <a:avLst/>
          </a:prstGeom>
          <a:solidFill>
            <a:srgbClr val="F68D1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68696" y="403250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568696" y="47823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2026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403336" y="4498848"/>
            <a:ext cx="201168" cy="201168"/>
          </a:xfrm>
          <a:prstGeom prst="ellipse">
            <a:avLst/>
          </a:prstGeom>
          <a:solidFill>
            <a:srgbClr val="F68D1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17536" y="403250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717536" y="47823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2027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552176" y="4498848"/>
            <a:ext cx="201168" cy="201168"/>
          </a:xfrm>
          <a:prstGeom prst="ellipse">
            <a:avLst/>
          </a:prstGeom>
          <a:solidFill>
            <a:srgbClr val="F68D1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66376" y="403250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Non-Motor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866376" y="47823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2027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355080" y="539496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 ROADMAP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48640" y="58338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enterprise implementations underway </a:t>
            </a:r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six go-lives scheduled between Sep 2026 and Sep 2027.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WIN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Strategy to Build a Global Insurance Platform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0" y="152704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49808" y="1618488"/>
            <a:ext cx="457200" cy="457200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7" name="Image 0" descr="icons/aw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728216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16736" y="1636776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Excellence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68096" y="2258568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configurable, scalable, future-ready platform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68096" y="2606040"/>
            <a:ext cx="5001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innovation  ·  Configuration-first  ·  Reusable capabilities  ·  Industry best practices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99632" y="1417320"/>
            <a:ext cx="54406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0680192" y="152704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6400800" y="1618488"/>
            <a:ext cx="457200" cy="457200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14" name="Image 1" descr="icons/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172821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67728" y="1636776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&amp; Ecosystem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6419088" y="2258568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modern technologies to stay ahead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419088" y="2606040"/>
            <a:ext cx="5001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  ·  Composable architecture  ·  Cloud-native  ·  Open API ecosystem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48640" y="3657600"/>
            <a:ext cx="54406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029200" y="37673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Shape 16"/>
          <p:cNvSpPr/>
          <p:nvPr/>
        </p:nvSpPr>
        <p:spPr>
          <a:xfrm>
            <a:off x="749808" y="3858768"/>
            <a:ext cx="457200" cy="457200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21" name="Image 2" descr="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968496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16736" y="3877056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Success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768096" y="4498848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implementation strengthens the product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768096" y="4846320"/>
            <a:ext cx="5001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Customer-driven enhancements  ·  Standardization  ·  Faster implementation  ·  Real-world maturity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199632" y="3657600"/>
            <a:ext cx="54406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10680192" y="37673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Shape 22"/>
          <p:cNvSpPr/>
          <p:nvPr/>
        </p:nvSpPr>
        <p:spPr>
          <a:xfrm>
            <a:off x="6400800" y="3858768"/>
            <a:ext cx="457200" cy="457200"/>
          </a:xfrm>
          <a:prstGeom prst="ellipse">
            <a:avLst/>
          </a:prstGeom>
          <a:solidFill>
            <a:srgbClr val="FDEFDC"/>
          </a:solidFill>
          <a:ln/>
        </p:spPr>
      </p:sp>
      <p:pic>
        <p:nvPicPr>
          <p:cNvPr id="28" name="Image 3" descr="icons/glob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3968496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967728" y="3877056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Expansion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6419088" y="4498848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once, deploy anywhere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419088" y="4846320"/>
            <a:ext cx="5001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Multi-country  ·  Multi-language  ·  Multi-currency  ·  Regulatory adaptability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548640" y="57150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pillars, one objective: </a:t>
            </a:r>
            <a:pPr indent="0" marL="0">
              <a:buNone/>
            </a:pPr>
            <a:r>
              <a:rPr lang="en-US" sz="12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STATIM as a globally recognized insurance platform.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 We Are Building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4023360"/>
          </a:xfrm>
          <a:prstGeom prst="roundRect">
            <a:avLst>
              <a:gd name="adj" fmla="val 1591"/>
            </a:avLst>
          </a:prstGeom>
          <a:solidFill>
            <a:srgbClr val="0E4980"/>
          </a:solidFill>
          <a:ln w="12700">
            <a:solidFill>
              <a:srgbClr val="0E4980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8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82880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“Transforming Insurance Through AI and Composable Solutions.”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97280" y="269748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is live, and the pipeline is real: two enterprise implementations underway across the UAE and India, with go-lives from September 2026 through 2027. The next phase adds AI across underwriting, claims, and product configuration. The objective is clear: make STATIM the platform of choice for insurers building for the next decade.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4434840"/>
            <a:ext cx="1508760" cy="402336"/>
          </a:xfrm>
          <a:prstGeom prst="roundRect">
            <a:avLst>
              <a:gd name="adj" fmla="val 50000"/>
            </a:avLst>
          </a:prstGeom>
          <a:solidFill>
            <a:srgbClr val="1E5A94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43484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88920" y="4434840"/>
            <a:ext cx="1508760" cy="402336"/>
          </a:xfrm>
          <a:prstGeom prst="roundRect">
            <a:avLst>
              <a:gd name="adj" fmla="val 50000"/>
            </a:avLst>
          </a:prstGeom>
          <a:solidFill>
            <a:srgbClr val="1E5A94"/>
          </a:solidFill>
          <a:ln/>
        </p:spPr>
      </p:sp>
      <p:sp>
        <p:nvSpPr>
          <p:cNvPr id="10" name="Text 8"/>
          <p:cNvSpPr/>
          <p:nvPr/>
        </p:nvSpPr>
        <p:spPr>
          <a:xfrm>
            <a:off x="2788920" y="443484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4434840"/>
            <a:ext cx="1508760" cy="402336"/>
          </a:xfrm>
          <a:prstGeom prst="roundRect">
            <a:avLst>
              <a:gd name="adj" fmla="val 50000"/>
            </a:avLst>
          </a:prstGeom>
          <a:solidFill>
            <a:srgbClr val="1E5A94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443484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4434840"/>
            <a:ext cx="1508760" cy="402336"/>
          </a:xfrm>
          <a:prstGeom prst="roundRect">
            <a:avLst>
              <a:gd name="adj" fmla="val 50000"/>
            </a:avLst>
          </a:prstGeom>
          <a:solidFill>
            <a:srgbClr val="1E5A94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443484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46888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E4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0" y="34747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8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STATIM  ·  Transforming Insurance Through AI and Composable Solutions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39319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2026-08-07T05:30:11Z</dcterms:created>
  <dcterms:modified xsi:type="dcterms:W3CDTF">2026-08-07T05:30:11Z</dcterms:modified>
</cp:coreProperties>
</file>